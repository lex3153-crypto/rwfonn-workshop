
<file path=[Content_Types].xml><?xml version="1.0" encoding="utf-8"?>
<Types xmlns="http://schemas.openxmlformats.org/package/2006/content-types">
  <Default Extension="emf" ContentType="image/x-emf"/>
  <Default Extension="jpeg" ContentType="image/jpeg"/>
  <Default Extension="mp4" ContentType="video/mp4"/>
  <Default Extension="mpg" ContentType="video/m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0"/>
  </p:notesMasterIdLst>
  <p:sldIdLst>
    <p:sldId id="316" r:id="rId2"/>
    <p:sldId id="324" r:id="rId3"/>
    <p:sldId id="325" r:id="rId4"/>
    <p:sldId id="275" r:id="rId5"/>
    <p:sldId id="335" r:id="rId6"/>
    <p:sldId id="295" r:id="rId7"/>
    <p:sldId id="327" r:id="rId8"/>
    <p:sldId id="328" r:id="rId9"/>
    <p:sldId id="329" r:id="rId10"/>
    <p:sldId id="330" r:id="rId11"/>
    <p:sldId id="332" r:id="rId12"/>
    <p:sldId id="333" r:id="rId13"/>
    <p:sldId id="334" r:id="rId14"/>
    <p:sldId id="296" r:id="rId15"/>
    <p:sldId id="331" r:id="rId16"/>
    <p:sldId id="297" r:id="rId17"/>
    <p:sldId id="294" r:id="rId18"/>
    <p:sldId id="300" r:id="rId19"/>
    <p:sldId id="336" r:id="rId20"/>
    <p:sldId id="301" r:id="rId21"/>
    <p:sldId id="274" r:id="rId22"/>
    <p:sldId id="321" r:id="rId23"/>
    <p:sldId id="271" r:id="rId24"/>
    <p:sldId id="270" r:id="rId25"/>
    <p:sldId id="272" r:id="rId26"/>
    <p:sldId id="273" r:id="rId27"/>
    <p:sldId id="322" r:id="rId28"/>
    <p:sldId id="267" r:id="rId29"/>
    <p:sldId id="276" r:id="rId30"/>
    <p:sldId id="303" r:id="rId31"/>
    <p:sldId id="302" r:id="rId32"/>
    <p:sldId id="304" r:id="rId33"/>
    <p:sldId id="317" r:id="rId34"/>
    <p:sldId id="305" r:id="rId35"/>
    <p:sldId id="307" r:id="rId36"/>
    <p:sldId id="266" r:id="rId37"/>
    <p:sldId id="280" r:id="rId38"/>
    <p:sldId id="281" r:id="rId39"/>
    <p:sldId id="283" r:id="rId40"/>
    <p:sldId id="312" r:id="rId41"/>
    <p:sldId id="293" r:id="rId42"/>
    <p:sldId id="285" r:id="rId43"/>
    <p:sldId id="263" r:id="rId44"/>
    <p:sldId id="262" r:id="rId45"/>
    <p:sldId id="323" r:id="rId46"/>
    <p:sldId id="309" r:id="rId47"/>
    <p:sldId id="310" r:id="rId48"/>
    <p:sldId id="308" r:id="rId49"/>
    <p:sldId id="311" r:id="rId50"/>
    <p:sldId id="313" r:id="rId51"/>
    <p:sldId id="314" r:id="rId52"/>
    <p:sldId id="306" r:id="rId53"/>
    <p:sldId id="287" r:id="rId54"/>
    <p:sldId id="319" r:id="rId55"/>
    <p:sldId id="337" r:id="rId56"/>
    <p:sldId id="318" r:id="rId57"/>
    <p:sldId id="315" r:id="rId58"/>
    <p:sldId id="265" r:id="rId59"/>
  </p:sldIdLst>
  <p:sldSz cx="12192000" cy="6858000"/>
  <p:notesSz cx="6858000" cy="9144000"/>
  <p:defaultText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107" autoAdjust="0"/>
    <p:restoredTop sz="88973" autoAdjust="0"/>
  </p:normalViewPr>
  <p:slideViewPr>
    <p:cSldViewPr snapToGrid="0">
      <p:cViewPr varScale="1">
        <p:scale>
          <a:sx n="98" d="100"/>
          <a:sy n="98" d="100"/>
        </p:scale>
        <p:origin x="112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MX"/>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8173B-E1BC-444D-ACA6-33F9E036D59C}" type="datetimeFigureOut">
              <a:rPr lang="es-MX" smtClean="0"/>
              <a:t>03/06/2026</a:t>
            </a:fld>
            <a:endParaRPr lang="es-MX"/>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MX"/>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MX"/>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FC5A229-814D-4A21-86BB-735C64ABFB75}" type="slidenum">
              <a:rPr lang="es-MX" smtClean="0"/>
              <a:t>‹Nº›</a:t>
            </a:fld>
            <a:endParaRPr lang="es-MX"/>
          </a:p>
        </p:txBody>
      </p:sp>
    </p:spTree>
    <p:extLst>
      <p:ext uri="{BB962C8B-B14F-4D97-AF65-F5344CB8AC3E}">
        <p14:creationId xmlns:p14="http://schemas.microsoft.com/office/powerpoint/2010/main" val="31854907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
        <p:nvSpPr>
          <p:cNvPr id="4" name="Slide Number Placeholder 3"/>
          <p:cNvSpPr>
            <a:spLocks noGrp="1"/>
          </p:cNvSpPr>
          <p:nvPr>
            <p:ph type="sldNum" sz="quarter" idx="5"/>
          </p:nvPr>
        </p:nvSpPr>
        <p:spPr/>
        <p:txBody>
          <a:bodyPr/>
          <a:lstStyle/>
          <a:p>
            <a:fld id="{CFC5A229-814D-4A21-86BB-735C64ABFB75}" type="slidenum">
              <a:rPr lang="es-MX" smtClean="0"/>
              <a:t>1</a:t>
            </a:fld>
            <a:endParaRPr lang="es-MX"/>
          </a:p>
        </p:txBody>
      </p:sp>
    </p:spTree>
    <p:extLst>
      <p:ext uri="{BB962C8B-B14F-4D97-AF65-F5344CB8AC3E}">
        <p14:creationId xmlns:p14="http://schemas.microsoft.com/office/powerpoint/2010/main" val="26098078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8</a:t>
            </a:fld>
            <a:endParaRPr lang="es-MX"/>
          </a:p>
        </p:txBody>
      </p:sp>
    </p:spTree>
    <p:extLst>
      <p:ext uri="{BB962C8B-B14F-4D97-AF65-F5344CB8AC3E}">
        <p14:creationId xmlns:p14="http://schemas.microsoft.com/office/powerpoint/2010/main" val="66825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11</a:t>
            </a:fld>
            <a:endParaRPr lang="es-MX"/>
          </a:p>
        </p:txBody>
      </p:sp>
    </p:spTree>
    <p:extLst>
      <p:ext uri="{BB962C8B-B14F-4D97-AF65-F5344CB8AC3E}">
        <p14:creationId xmlns:p14="http://schemas.microsoft.com/office/powerpoint/2010/main" val="30445210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a:p>
        </p:txBody>
      </p:sp>
      <p:sp>
        <p:nvSpPr>
          <p:cNvPr id="4" name="Marcador de número de diapositiva 3"/>
          <p:cNvSpPr>
            <a:spLocks noGrp="1"/>
          </p:cNvSpPr>
          <p:nvPr>
            <p:ph type="sldNum" sz="quarter" idx="10"/>
          </p:nvPr>
        </p:nvSpPr>
        <p:spPr/>
        <p:txBody>
          <a:bodyPr/>
          <a:lstStyle/>
          <a:p>
            <a:fld id="{5F4814CA-3307-4AAB-9588-0D9C93327F92}" type="slidenum">
              <a:rPr lang="es-MX" smtClean="0"/>
              <a:t>12</a:t>
            </a:fld>
            <a:endParaRPr lang="es-MX"/>
          </a:p>
        </p:txBody>
      </p:sp>
    </p:spTree>
    <p:extLst>
      <p:ext uri="{BB962C8B-B14F-4D97-AF65-F5344CB8AC3E}">
        <p14:creationId xmlns:p14="http://schemas.microsoft.com/office/powerpoint/2010/main" val="27737687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2) The following diagram describes the purpose of this work; the identification of a chaotic system will be implemented via an artificial neural network. Once the neural identification of the systems has been carried out, the time series can be reproduced, as well as the projection of the states of each system through the neural network.</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36</a:t>
            </a:fld>
            <a:endParaRPr lang="es-MX"/>
          </a:p>
        </p:txBody>
      </p:sp>
    </p:spTree>
    <p:extLst>
      <p:ext uri="{BB962C8B-B14F-4D97-AF65-F5344CB8AC3E}">
        <p14:creationId xmlns:p14="http://schemas.microsoft.com/office/powerpoint/2010/main" val="333475469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4)  The proposed neural network structure will be given by system (3) to obtain the identification of the chaotic systems. Presenting three states for each one of the chaotic system states. In addition, equation (4) is the activation function of the neural network, for this case we are using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Morlet</a:t>
            </a:r>
            <a:r>
              <a:rPr lang="en-US" sz="1800" dirty="0">
                <a:effectLst/>
                <a:latin typeface="Calibri" panose="020F0502020204030204" pitchFamily="34" charset="0"/>
                <a:ea typeface="Calibri" panose="020F0502020204030204" pitchFamily="34" charset="0"/>
                <a:cs typeface="Times New Roman" panose="02020603050405020304" pitchFamily="18" charset="0"/>
              </a:rPr>
              <a:t> wavelet function. Finally, to train the neural network, the filtered error algorithm is used to adjust the synaptic weights in line, this is at each iteration step of the numerical integration method.</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40</a:t>
            </a:fld>
            <a:endParaRPr lang="es-MX"/>
          </a:p>
        </p:txBody>
      </p:sp>
    </p:spTree>
    <p:extLst>
      <p:ext uri="{BB962C8B-B14F-4D97-AF65-F5344CB8AC3E}">
        <p14:creationId xmlns:p14="http://schemas.microsoft.com/office/powerpoint/2010/main" val="373134785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B88F67-5393-955B-ECE5-333B8965235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80D2D64-4868-22C8-FF02-8EF8362B4C0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E3871AFB-BF9D-27DB-9C52-1D16E659E71A}"/>
              </a:ext>
            </a:extLst>
          </p:cNvPr>
          <p:cNvSpPr>
            <a:spLocks noGrp="1"/>
          </p:cNvSpPr>
          <p:nvPr>
            <p:ph type="body" idx="1"/>
          </p:nvPr>
        </p:nvSpPr>
        <p:spPr/>
        <p:txBody>
          <a:bodyPr/>
          <a:lstStyle/>
          <a:p>
            <a:r>
              <a:rPr lang="en-US" sz="1800" dirty="0">
                <a:effectLst/>
                <a:latin typeface="Calibri" panose="020F0502020204030204" pitchFamily="34" charset="0"/>
                <a:ea typeface="Calibri" panose="020F0502020204030204" pitchFamily="34" charset="0"/>
                <a:cs typeface="Times New Roman" panose="02020603050405020304" pitchFamily="18" charset="0"/>
              </a:rPr>
              <a:t>4)  The proposed neural network structure will be given by system (3) to obtain the identification of the chaotic systems. Presenting three states for each one of the chaotic system states. In addition, equation (4) is the activation function of the neural network, for this case we are using a </a:t>
            </a:r>
            <a:r>
              <a:rPr lang="en-US" sz="1800" dirty="0" err="1">
                <a:effectLst/>
                <a:latin typeface="Calibri" panose="020F0502020204030204" pitchFamily="34" charset="0"/>
                <a:ea typeface="Calibri" panose="020F0502020204030204" pitchFamily="34" charset="0"/>
                <a:cs typeface="Times New Roman" panose="02020603050405020304" pitchFamily="18" charset="0"/>
              </a:rPr>
              <a:t>Morlet</a:t>
            </a:r>
            <a:r>
              <a:rPr lang="en-US" sz="1800" dirty="0">
                <a:effectLst/>
                <a:latin typeface="Calibri" panose="020F0502020204030204" pitchFamily="34" charset="0"/>
                <a:ea typeface="Calibri" panose="020F0502020204030204" pitchFamily="34" charset="0"/>
                <a:cs typeface="Times New Roman" panose="02020603050405020304" pitchFamily="18" charset="0"/>
              </a:rPr>
              <a:t> wavelet function. Finally, to train the neural network, the filtered error algorithm is used to adjust the synaptic weights in line, this is at each iteration step of the numerical integration method.</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Marcador de número de diapositiva 3">
            <a:extLst>
              <a:ext uri="{FF2B5EF4-FFF2-40B4-BE49-F238E27FC236}">
                <a16:creationId xmlns:a16="http://schemas.microsoft.com/office/drawing/2014/main" id="{60A88F95-2D53-78CC-962E-3EDA62DE13F6}"/>
              </a:ext>
            </a:extLst>
          </p:cNvPr>
          <p:cNvSpPr>
            <a:spLocks noGrp="1"/>
          </p:cNvSpPr>
          <p:nvPr>
            <p:ph type="sldNum" sz="quarter" idx="10"/>
          </p:nvPr>
        </p:nvSpPr>
        <p:spPr/>
        <p:txBody>
          <a:bodyPr/>
          <a:lstStyle/>
          <a:p>
            <a:fld id="{CFC5A229-814D-4A21-86BB-735C64ABFB75}" type="slidenum">
              <a:rPr lang="es-MX" smtClean="0"/>
              <a:t>41</a:t>
            </a:fld>
            <a:endParaRPr lang="es-MX"/>
          </a:p>
        </p:txBody>
      </p:sp>
    </p:spTree>
    <p:extLst>
      <p:ext uri="{BB962C8B-B14F-4D97-AF65-F5344CB8AC3E}">
        <p14:creationId xmlns:p14="http://schemas.microsoft.com/office/powerpoint/2010/main" val="1427902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MX" dirty="0"/>
              <a:t>9) </a:t>
            </a:r>
            <a:r>
              <a:rPr lang="es-ES" dirty="0" err="1"/>
              <a:t>Here</a:t>
            </a:r>
            <a:r>
              <a:rPr lang="es-ES" dirty="0"/>
              <a:t>, t</a:t>
            </a:r>
            <a:r>
              <a:rPr lang="en-US" dirty="0"/>
              <a:t>he left side shows the projection of the state variables of the original system, and the figure on the right side shows the projection of the state variables of the proposed artificial neural network. Depicting similarity in the neural identification.</a:t>
            </a:r>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43</a:t>
            </a:fld>
            <a:endParaRPr lang="es-MX"/>
          </a:p>
        </p:txBody>
      </p:sp>
    </p:spTree>
    <p:extLst>
      <p:ext uri="{BB962C8B-B14F-4D97-AF65-F5344CB8AC3E}">
        <p14:creationId xmlns:p14="http://schemas.microsoft.com/office/powerpoint/2010/main" val="33804553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n-US" dirty="0"/>
              <a:t>8) A similar case is presented here for the state variables of the</a:t>
            </a:r>
            <a:r>
              <a:rPr lang="en-US" baseline="0" dirty="0"/>
              <a:t> UDSI</a:t>
            </a:r>
            <a:r>
              <a:rPr lang="en-US" dirty="0"/>
              <a:t>, the details show the the brief instant of the convergence of the neural network (blue continuous line) to the original system to be identified (red dashed line).</a:t>
            </a: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44</a:t>
            </a:fld>
            <a:endParaRPr lang="es-MX"/>
          </a:p>
        </p:txBody>
      </p:sp>
    </p:spTree>
    <p:extLst>
      <p:ext uri="{BB962C8B-B14F-4D97-AF65-F5344CB8AC3E}">
        <p14:creationId xmlns:p14="http://schemas.microsoft.com/office/powerpoint/2010/main" val="19733415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4CC771-43D4-C435-A4A0-8342DEED9DF5}"/>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0F049278-7543-9FBE-0C5C-D19BE4B34D9E}"/>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67FDAD1-B45C-5599-440D-3F151D61EA74}"/>
              </a:ext>
            </a:extLst>
          </p:cNvPr>
          <p:cNvSpPr>
            <a:spLocks noGrp="1"/>
          </p:cNvSpPr>
          <p:nvPr>
            <p:ph type="body" idx="1"/>
          </p:nvPr>
        </p:nvSpPr>
        <p:spPr/>
        <p:txBody>
          <a:bodyPr/>
          <a:lstStyle/>
          <a:p>
            <a:r>
              <a:rPr lang="en-US" dirty="0"/>
              <a:t>8) A similar case is presented here for the state variables of the</a:t>
            </a:r>
            <a:r>
              <a:rPr lang="en-US" baseline="0" dirty="0"/>
              <a:t> UDSI</a:t>
            </a:r>
            <a:r>
              <a:rPr lang="en-US" dirty="0"/>
              <a:t>, the details show the the brief instant of the convergence of the neural network (blue continuous line) to the original system to be identified (red dashed line).</a:t>
            </a:r>
          </a:p>
          <a:p>
            <a:endParaRPr lang="es-MX" dirty="0"/>
          </a:p>
        </p:txBody>
      </p:sp>
      <p:sp>
        <p:nvSpPr>
          <p:cNvPr id="4" name="Marcador de número de diapositiva 3">
            <a:extLst>
              <a:ext uri="{FF2B5EF4-FFF2-40B4-BE49-F238E27FC236}">
                <a16:creationId xmlns:a16="http://schemas.microsoft.com/office/drawing/2014/main" id="{C1F01BCE-CCB0-E20D-86E1-525C280617BA}"/>
              </a:ext>
            </a:extLst>
          </p:cNvPr>
          <p:cNvSpPr>
            <a:spLocks noGrp="1"/>
          </p:cNvSpPr>
          <p:nvPr>
            <p:ph type="sldNum" sz="quarter" idx="10"/>
          </p:nvPr>
        </p:nvSpPr>
        <p:spPr/>
        <p:txBody>
          <a:bodyPr/>
          <a:lstStyle/>
          <a:p>
            <a:fld id="{CFC5A229-814D-4A21-86BB-735C64ABFB75}" type="slidenum">
              <a:rPr lang="es-MX" smtClean="0"/>
              <a:t>45</a:t>
            </a:fld>
            <a:endParaRPr lang="es-MX"/>
          </a:p>
        </p:txBody>
      </p:sp>
    </p:spTree>
    <p:extLst>
      <p:ext uri="{BB962C8B-B14F-4D97-AF65-F5344CB8AC3E}">
        <p14:creationId xmlns:p14="http://schemas.microsoft.com/office/powerpoint/2010/main" val="17626319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57</a:t>
            </a:fld>
            <a:endParaRPr lang="es-MX"/>
          </a:p>
        </p:txBody>
      </p:sp>
    </p:spTree>
    <p:extLst>
      <p:ext uri="{BB962C8B-B14F-4D97-AF65-F5344CB8AC3E}">
        <p14:creationId xmlns:p14="http://schemas.microsoft.com/office/powerpoint/2010/main" val="37211761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Calibri" panose="020F0502020204030204" pitchFamily="34" charset="0"/>
                <a:ea typeface="Calibri" panose="020F0502020204030204" pitchFamily="34" charset="0"/>
                <a:cs typeface="Times New Roman" panose="02020603050405020304" pitchFamily="18" charset="0"/>
              </a:rPr>
              <a:t>Thanks for your attention</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r>
              <a:rPr lang="en-US" sz="1800" dirty="0">
                <a:effectLst/>
                <a:latin typeface="Calibri" panose="020F0502020204030204" pitchFamily="34" charset="0"/>
                <a:ea typeface="Calibri" panose="020F0502020204030204" pitchFamily="34" charset="0"/>
                <a:cs typeface="Times New Roman" panose="02020603050405020304" pitchFamily="18" charset="0"/>
              </a:rPr>
              <a:t>And please feel free to contact us for further comments</a:t>
            </a:r>
            <a:endParaRPr lang="en-MX"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s-MX" dirty="0"/>
          </a:p>
        </p:txBody>
      </p:sp>
      <p:sp>
        <p:nvSpPr>
          <p:cNvPr id="4" name="Marcador de número de diapositiva 3"/>
          <p:cNvSpPr>
            <a:spLocks noGrp="1"/>
          </p:cNvSpPr>
          <p:nvPr>
            <p:ph type="sldNum" sz="quarter" idx="10"/>
          </p:nvPr>
        </p:nvSpPr>
        <p:spPr/>
        <p:txBody>
          <a:bodyPr/>
          <a:lstStyle/>
          <a:p>
            <a:fld id="{CFC5A229-814D-4A21-86BB-735C64ABFB75}" type="slidenum">
              <a:rPr lang="es-MX" smtClean="0"/>
              <a:t>58</a:t>
            </a:fld>
            <a:endParaRPr lang="es-MX"/>
          </a:p>
        </p:txBody>
      </p:sp>
    </p:spTree>
    <p:extLst>
      <p:ext uri="{BB962C8B-B14F-4D97-AF65-F5344CB8AC3E}">
        <p14:creationId xmlns:p14="http://schemas.microsoft.com/office/powerpoint/2010/main" val="41364125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117A40-0CF4-4F94-B635-F031E239DDD1}"/>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MX"/>
          </a:p>
        </p:txBody>
      </p:sp>
      <p:sp>
        <p:nvSpPr>
          <p:cNvPr id="3" name="Subtítulo 2">
            <a:extLst>
              <a:ext uri="{FF2B5EF4-FFF2-40B4-BE49-F238E27FC236}">
                <a16:creationId xmlns:a16="http://schemas.microsoft.com/office/drawing/2014/main" id="{B5BA6BEA-E7A5-41AA-B951-739CBD9CEAA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MX"/>
          </a:p>
        </p:txBody>
      </p:sp>
      <p:sp>
        <p:nvSpPr>
          <p:cNvPr id="4" name="Marcador de fecha 3">
            <a:extLst>
              <a:ext uri="{FF2B5EF4-FFF2-40B4-BE49-F238E27FC236}">
                <a16:creationId xmlns:a16="http://schemas.microsoft.com/office/drawing/2014/main" id="{2DBA70A0-EF4F-4440-B937-7D371239B381}"/>
              </a:ext>
            </a:extLst>
          </p:cNvPr>
          <p:cNvSpPr>
            <a:spLocks noGrp="1"/>
          </p:cNvSpPr>
          <p:nvPr>
            <p:ph type="dt" sz="half" idx="10"/>
          </p:nvPr>
        </p:nvSpPr>
        <p:spPr/>
        <p:txBody>
          <a:bodyPr/>
          <a:lstStyle/>
          <a:p>
            <a:fld id="{784514B7-3D1B-4ACA-8EAE-886DB2AC6A91}" type="datetime1">
              <a:rPr lang="es-MX" smtClean="0"/>
              <a:t>03/06/2026</a:t>
            </a:fld>
            <a:endParaRPr lang="es-MX"/>
          </a:p>
        </p:txBody>
      </p:sp>
      <p:sp>
        <p:nvSpPr>
          <p:cNvPr id="5" name="Marcador de pie de página 4">
            <a:extLst>
              <a:ext uri="{FF2B5EF4-FFF2-40B4-BE49-F238E27FC236}">
                <a16:creationId xmlns:a16="http://schemas.microsoft.com/office/drawing/2014/main" id="{B43D7DE5-D8EC-417A-8399-3D3C0A07E237}"/>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4D411FB6-EEAA-4F99-9036-F0822C163DE1}"/>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39980745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24A43-AF74-451C-A4AA-A9E15C63403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44B1B06-4D1A-4921-B2E4-7D531921CE93}"/>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734CFF81-27CD-4606-8B1B-6341BEF8C985}"/>
              </a:ext>
            </a:extLst>
          </p:cNvPr>
          <p:cNvSpPr>
            <a:spLocks noGrp="1"/>
          </p:cNvSpPr>
          <p:nvPr>
            <p:ph type="dt" sz="half" idx="10"/>
          </p:nvPr>
        </p:nvSpPr>
        <p:spPr/>
        <p:txBody>
          <a:bodyPr/>
          <a:lstStyle/>
          <a:p>
            <a:fld id="{46AD9A35-35D1-4A5F-9DAE-579A9539BA2F}" type="datetime1">
              <a:rPr lang="es-MX" smtClean="0"/>
              <a:t>03/06/2026</a:t>
            </a:fld>
            <a:endParaRPr lang="es-MX"/>
          </a:p>
        </p:txBody>
      </p:sp>
      <p:sp>
        <p:nvSpPr>
          <p:cNvPr id="5" name="Marcador de pie de página 4">
            <a:extLst>
              <a:ext uri="{FF2B5EF4-FFF2-40B4-BE49-F238E27FC236}">
                <a16:creationId xmlns:a16="http://schemas.microsoft.com/office/drawing/2014/main" id="{202DFBA8-1247-4C5C-AB6B-3DFB9F9F8F10}"/>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0B73CAEB-D1CE-43F0-A8E7-3FFA812F7F89}"/>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659372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012C16-C1D9-4AA7-9DBE-A3947DBC8DA1}"/>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B878E721-9EFF-47CE-BB60-EAAE961B7C0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7341622-DB98-48A5-8FAB-85AE55D468DF}"/>
              </a:ext>
            </a:extLst>
          </p:cNvPr>
          <p:cNvSpPr>
            <a:spLocks noGrp="1"/>
          </p:cNvSpPr>
          <p:nvPr>
            <p:ph type="dt" sz="half" idx="10"/>
          </p:nvPr>
        </p:nvSpPr>
        <p:spPr/>
        <p:txBody>
          <a:bodyPr/>
          <a:lstStyle/>
          <a:p>
            <a:fld id="{FB84FB44-9CF3-4388-9F2F-64DCDA920790}" type="datetime1">
              <a:rPr lang="es-MX" smtClean="0"/>
              <a:t>03/06/2026</a:t>
            </a:fld>
            <a:endParaRPr lang="es-MX"/>
          </a:p>
        </p:txBody>
      </p:sp>
      <p:sp>
        <p:nvSpPr>
          <p:cNvPr id="5" name="Marcador de pie de página 4">
            <a:extLst>
              <a:ext uri="{FF2B5EF4-FFF2-40B4-BE49-F238E27FC236}">
                <a16:creationId xmlns:a16="http://schemas.microsoft.com/office/drawing/2014/main" id="{A9EE3EDB-E343-4E9F-9357-7937DC29848C}"/>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89C16932-04A0-4F43-BD57-31B65B6CEB8F}"/>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5011673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B5A9530-8B42-4905-82D3-B4DD1AE4F836}"/>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3256B02A-1986-4CBB-825B-6B47078FD8E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contenido 3">
            <a:extLst>
              <a:ext uri="{FF2B5EF4-FFF2-40B4-BE49-F238E27FC236}">
                <a16:creationId xmlns:a16="http://schemas.microsoft.com/office/drawing/2014/main" id="{C12415F7-7CB4-4EFE-8EDF-AC344E458F8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fecha 4">
            <a:extLst>
              <a:ext uri="{FF2B5EF4-FFF2-40B4-BE49-F238E27FC236}">
                <a16:creationId xmlns:a16="http://schemas.microsoft.com/office/drawing/2014/main" id="{DE7C80C5-BC8E-4636-A703-48C2CCCB83D4}"/>
              </a:ext>
            </a:extLst>
          </p:cNvPr>
          <p:cNvSpPr>
            <a:spLocks noGrp="1"/>
          </p:cNvSpPr>
          <p:nvPr>
            <p:ph type="dt" sz="half" idx="10"/>
          </p:nvPr>
        </p:nvSpPr>
        <p:spPr/>
        <p:txBody>
          <a:bodyPr/>
          <a:lstStyle/>
          <a:p>
            <a:fld id="{364B7CAC-A96C-4F09-BF15-EACF4A896501}" type="datetime1">
              <a:rPr lang="es-MX" smtClean="0"/>
              <a:t>03/06/2026</a:t>
            </a:fld>
            <a:endParaRPr lang="es-MX"/>
          </a:p>
        </p:txBody>
      </p:sp>
      <p:sp>
        <p:nvSpPr>
          <p:cNvPr id="6" name="Marcador de pie de página 5">
            <a:extLst>
              <a:ext uri="{FF2B5EF4-FFF2-40B4-BE49-F238E27FC236}">
                <a16:creationId xmlns:a16="http://schemas.microsoft.com/office/drawing/2014/main" id="{0B3A9F70-E1CA-4293-923F-4687A6778D92}"/>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A64D489E-80D5-48CA-B65F-5F237DF12003}"/>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6091583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0817DC-C358-4F61-8DE0-DDCEEB1474A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39BBB889-A19C-4700-8D6C-9209623476F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7FBE5B89-0A61-48E5-B953-65CEF2522632}"/>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5" name="Marcador de texto 4">
            <a:extLst>
              <a:ext uri="{FF2B5EF4-FFF2-40B4-BE49-F238E27FC236}">
                <a16:creationId xmlns:a16="http://schemas.microsoft.com/office/drawing/2014/main" id="{B771A86D-082F-412F-BCFD-DAAAD0D75CE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7184E38-71ED-45AC-A96D-2F4718079AC1}"/>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7" name="Marcador de fecha 6">
            <a:extLst>
              <a:ext uri="{FF2B5EF4-FFF2-40B4-BE49-F238E27FC236}">
                <a16:creationId xmlns:a16="http://schemas.microsoft.com/office/drawing/2014/main" id="{6C922135-C48F-4A65-888E-20D20FFE85BD}"/>
              </a:ext>
            </a:extLst>
          </p:cNvPr>
          <p:cNvSpPr>
            <a:spLocks noGrp="1"/>
          </p:cNvSpPr>
          <p:nvPr>
            <p:ph type="dt" sz="half" idx="10"/>
          </p:nvPr>
        </p:nvSpPr>
        <p:spPr/>
        <p:txBody>
          <a:bodyPr/>
          <a:lstStyle/>
          <a:p>
            <a:fld id="{73A5EC90-3341-4E23-9D6D-75FC61892800}" type="datetime1">
              <a:rPr lang="es-MX" smtClean="0"/>
              <a:t>03/06/2026</a:t>
            </a:fld>
            <a:endParaRPr lang="es-MX"/>
          </a:p>
        </p:txBody>
      </p:sp>
      <p:sp>
        <p:nvSpPr>
          <p:cNvPr id="8" name="Marcador de pie de página 7">
            <a:extLst>
              <a:ext uri="{FF2B5EF4-FFF2-40B4-BE49-F238E27FC236}">
                <a16:creationId xmlns:a16="http://schemas.microsoft.com/office/drawing/2014/main" id="{D9D86B0A-446C-4288-80D3-B55288DBBCB4}"/>
              </a:ext>
            </a:extLst>
          </p:cNvPr>
          <p:cNvSpPr>
            <a:spLocks noGrp="1"/>
          </p:cNvSpPr>
          <p:nvPr>
            <p:ph type="ftr" sz="quarter" idx="11"/>
          </p:nvPr>
        </p:nvSpPr>
        <p:spPr/>
        <p:txBody>
          <a:bodyPr/>
          <a:lstStyle/>
          <a:p>
            <a:endParaRPr lang="es-MX"/>
          </a:p>
        </p:txBody>
      </p:sp>
      <p:sp>
        <p:nvSpPr>
          <p:cNvPr id="9" name="Marcador de número de diapositiva 8">
            <a:extLst>
              <a:ext uri="{FF2B5EF4-FFF2-40B4-BE49-F238E27FC236}">
                <a16:creationId xmlns:a16="http://schemas.microsoft.com/office/drawing/2014/main" id="{1D2A9A5F-5903-40E9-B44F-C296ACBBFCDB}"/>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8782189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546469-527A-4F28-B2E5-CED17236A855}"/>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fecha 2">
            <a:extLst>
              <a:ext uri="{FF2B5EF4-FFF2-40B4-BE49-F238E27FC236}">
                <a16:creationId xmlns:a16="http://schemas.microsoft.com/office/drawing/2014/main" id="{B565DC48-51C9-4FED-9459-CA537CB3B8E9}"/>
              </a:ext>
            </a:extLst>
          </p:cNvPr>
          <p:cNvSpPr>
            <a:spLocks noGrp="1"/>
          </p:cNvSpPr>
          <p:nvPr>
            <p:ph type="dt" sz="half" idx="10"/>
          </p:nvPr>
        </p:nvSpPr>
        <p:spPr/>
        <p:txBody>
          <a:bodyPr/>
          <a:lstStyle/>
          <a:p>
            <a:fld id="{CBED039B-04D3-4CDB-B955-2CBD6B72ED7D}" type="datetime1">
              <a:rPr lang="es-MX" smtClean="0"/>
              <a:t>03/06/2026</a:t>
            </a:fld>
            <a:endParaRPr lang="es-MX"/>
          </a:p>
        </p:txBody>
      </p:sp>
      <p:sp>
        <p:nvSpPr>
          <p:cNvPr id="4" name="Marcador de pie de página 3">
            <a:extLst>
              <a:ext uri="{FF2B5EF4-FFF2-40B4-BE49-F238E27FC236}">
                <a16:creationId xmlns:a16="http://schemas.microsoft.com/office/drawing/2014/main" id="{E8B44526-4382-4231-AA52-5DB04D804508}"/>
              </a:ext>
            </a:extLst>
          </p:cNvPr>
          <p:cNvSpPr>
            <a:spLocks noGrp="1"/>
          </p:cNvSpPr>
          <p:nvPr>
            <p:ph type="ftr" sz="quarter" idx="11"/>
          </p:nvPr>
        </p:nvSpPr>
        <p:spPr/>
        <p:txBody>
          <a:bodyPr/>
          <a:lstStyle/>
          <a:p>
            <a:endParaRPr lang="es-MX"/>
          </a:p>
        </p:txBody>
      </p:sp>
      <p:sp>
        <p:nvSpPr>
          <p:cNvPr id="5" name="Marcador de número de diapositiva 4">
            <a:extLst>
              <a:ext uri="{FF2B5EF4-FFF2-40B4-BE49-F238E27FC236}">
                <a16:creationId xmlns:a16="http://schemas.microsoft.com/office/drawing/2014/main" id="{599DE3D4-11BB-4403-95CE-24E55AC262C8}"/>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717984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047826F8-996E-4753-A8E3-CDE350C546AF}"/>
              </a:ext>
            </a:extLst>
          </p:cNvPr>
          <p:cNvSpPr>
            <a:spLocks noGrp="1"/>
          </p:cNvSpPr>
          <p:nvPr>
            <p:ph type="dt" sz="half" idx="10"/>
          </p:nvPr>
        </p:nvSpPr>
        <p:spPr/>
        <p:txBody>
          <a:bodyPr/>
          <a:lstStyle/>
          <a:p>
            <a:fld id="{819DA333-BDE5-4FD8-A1B2-ABD5F2F610DF}" type="datetime1">
              <a:rPr lang="es-MX" smtClean="0"/>
              <a:t>03/06/2026</a:t>
            </a:fld>
            <a:endParaRPr lang="es-MX"/>
          </a:p>
        </p:txBody>
      </p:sp>
      <p:sp>
        <p:nvSpPr>
          <p:cNvPr id="3" name="Marcador de pie de página 2">
            <a:extLst>
              <a:ext uri="{FF2B5EF4-FFF2-40B4-BE49-F238E27FC236}">
                <a16:creationId xmlns:a16="http://schemas.microsoft.com/office/drawing/2014/main" id="{E8B60339-E4DF-4FCE-93F8-3DB36497D18A}"/>
              </a:ext>
            </a:extLst>
          </p:cNvPr>
          <p:cNvSpPr>
            <a:spLocks noGrp="1"/>
          </p:cNvSpPr>
          <p:nvPr>
            <p:ph type="ftr" sz="quarter" idx="11"/>
          </p:nvPr>
        </p:nvSpPr>
        <p:spPr/>
        <p:txBody>
          <a:bodyPr/>
          <a:lstStyle/>
          <a:p>
            <a:endParaRPr lang="es-MX"/>
          </a:p>
        </p:txBody>
      </p:sp>
      <p:sp>
        <p:nvSpPr>
          <p:cNvPr id="4" name="Marcador de número de diapositiva 3">
            <a:extLst>
              <a:ext uri="{FF2B5EF4-FFF2-40B4-BE49-F238E27FC236}">
                <a16:creationId xmlns:a16="http://schemas.microsoft.com/office/drawing/2014/main" id="{FCD65AD9-9CA1-441A-BEA7-8E32E9ADB271}"/>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3320003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8E552EB-364E-491F-A080-05B191C920E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contenido 2">
            <a:extLst>
              <a:ext uri="{FF2B5EF4-FFF2-40B4-BE49-F238E27FC236}">
                <a16:creationId xmlns:a16="http://schemas.microsoft.com/office/drawing/2014/main" id="{9F84D688-C1CD-4480-A6CD-713EA12706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texto 3">
            <a:extLst>
              <a:ext uri="{FF2B5EF4-FFF2-40B4-BE49-F238E27FC236}">
                <a16:creationId xmlns:a16="http://schemas.microsoft.com/office/drawing/2014/main" id="{8C7729D0-7A40-4A0C-9285-7EB20FB0A65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8844F26-B209-42B9-9A22-32620DD22AE6}"/>
              </a:ext>
            </a:extLst>
          </p:cNvPr>
          <p:cNvSpPr>
            <a:spLocks noGrp="1"/>
          </p:cNvSpPr>
          <p:nvPr>
            <p:ph type="dt" sz="half" idx="10"/>
          </p:nvPr>
        </p:nvSpPr>
        <p:spPr/>
        <p:txBody>
          <a:bodyPr/>
          <a:lstStyle/>
          <a:p>
            <a:fld id="{8BE38518-1475-4692-BD94-D39C366981D2}" type="datetime1">
              <a:rPr lang="es-MX" smtClean="0"/>
              <a:t>03/06/2026</a:t>
            </a:fld>
            <a:endParaRPr lang="es-MX"/>
          </a:p>
        </p:txBody>
      </p:sp>
      <p:sp>
        <p:nvSpPr>
          <p:cNvPr id="6" name="Marcador de pie de página 5">
            <a:extLst>
              <a:ext uri="{FF2B5EF4-FFF2-40B4-BE49-F238E27FC236}">
                <a16:creationId xmlns:a16="http://schemas.microsoft.com/office/drawing/2014/main" id="{E2CDA525-7A15-4BFB-8851-6A889D4A24C0}"/>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B4BB2BA7-080B-440A-A70F-6ACF648C25EE}"/>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3451692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DB5F7A-7E5A-42F4-A8E3-5598EAB6AF6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MX"/>
          </a:p>
        </p:txBody>
      </p:sp>
      <p:sp>
        <p:nvSpPr>
          <p:cNvPr id="3" name="Marcador de posición de imagen 2">
            <a:extLst>
              <a:ext uri="{FF2B5EF4-FFF2-40B4-BE49-F238E27FC236}">
                <a16:creationId xmlns:a16="http://schemas.microsoft.com/office/drawing/2014/main" id="{268CF5A3-8BF0-41CE-8270-D6765CFA16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MX"/>
          </a:p>
        </p:txBody>
      </p:sp>
      <p:sp>
        <p:nvSpPr>
          <p:cNvPr id="4" name="Marcador de texto 3">
            <a:extLst>
              <a:ext uri="{FF2B5EF4-FFF2-40B4-BE49-F238E27FC236}">
                <a16:creationId xmlns:a16="http://schemas.microsoft.com/office/drawing/2014/main" id="{04BDF0E6-7B87-43EB-B1E9-BF9C5533B9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D4FC5D9-22D4-4C17-8179-F654F2F648D8}"/>
              </a:ext>
            </a:extLst>
          </p:cNvPr>
          <p:cNvSpPr>
            <a:spLocks noGrp="1"/>
          </p:cNvSpPr>
          <p:nvPr>
            <p:ph type="dt" sz="half" idx="10"/>
          </p:nvPr>
        </p:nvSpPr>
        <p:spPr/>
        <p:txBody>
          <a:bodyPr/>
          <a:lstStyle/>
          <a:p>
            <a:fld id="{D04EAE15-491D-4601-83B1-39CD2B6556E0}" type="datetime1">
              <a:rPr lang="es-MX" smtClean="0"/>
              <a:t>03/06/2026</a:t>
            </a:fld>
            <a:endParaRPr lang="es-MX"/>
          </a:p>
        </p:txBody>
      </p:sp>
      <p:sp>
        <p:nvSpPr>
          <p:cNvPr id="6" name="Marcador de pie de página 5">
            <a:extLst>
              <a:ext uri="{FF2B5EF4-FFF2-40B4-BE49-F238E27FC236}">
                <a16:creationId xmlns:a16="http://schemas.microsoft.com/office/drawing/2014/main" id="{20B4CFE8-9712-49E3-BABF-41895C3A13D8}"/>
              </a:ext>
            </a:extLst>
          </p:cNvPr>
          <p:cNvSpPr>
            <a:spLocks noGrp="1"/>
          </p:cNvSpPr>
          <p:nvPr>
            <p:ph type="ftr" sz="quarter" idx="11"/>
          </p:nvPr>
        </p:nvSpPr>
        <p:spPr/>
        <p:txBody>
          <a:bodyPr/>
          <a:lstStyle/>
          <a:p>
            <a:endParaRPr lang="es-MX"/>
          </a:p>
        </p:txBody>
      </p:sp>
      <p:sp>
        <p:nvSpPr>
          <p:cNvPr id="7" name="Marcador de número de diapositiva 6">
            <a:extLst>
              <a:ext uri="{FF2B5EF4-FFF2-40B4-BE49-F238E27FC236}">
                <a16:creationId xmlns:a16="http://schemas.microsoft.com/office/drawing/2014/main" id="{D7C0D50B-0450-48E6-9BCB-8504906FA826}"/>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15043538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AAFCEA7-C174-4E4B-8D8C-58A756D558DB}"/>
              </a:ext>
            </a:extLst>
          </p:cNvPr>
          <p:cNvSpPr>
            <a:spLocks noGrp="1"/>
          </p:cNvSpPr>
          <p:nvPr>
            <p:ph type="title"/>
          </p:nvPr>
        </p:nvSpPr>
        <p:spPr/>
        <p:txBody>
          <a:bodyPr/>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D9F0D909-0C35-4A55-A5BC-4121C411ABF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4CA2C686-ED46-46E5-BC86-374C28F080B2}"/>
              </a:ext>
            </a:extLst>
          </p:cNvPr>
          <p:cNvSpPr>
            <a:spLocks noGrp="1"/>
          </p:cNvSpPr>
          <p:nvPr>
            <p:ph type="dt" sz="half" idx="10"/>
          </p:nvPr>
        </p:nvSpPr>
        <p:spPr/>
        <p:txBody>
          <a:bodyPr/>
          <a:lstStyle/>
          <a:p>
            <a:fld id="{8286539A-7EE3-477E-858A-30B62F40C341}" type="datetime1">
              <a:rPr lang="es-MX" smtClean="0"/>
              <a:t>03/06/2026</a:t>
            </a:fld>
            <a:endParaRPr lang="es-MX"/>
          </a:p>
        </p:txBody>
      </p:sp>
      <p:sp>
        <p:nvSpPr>
          <p:cNvPr id="5" name="Marcador de pie de página 4">
            <a:extLst>
              <a:ext uri="{FF2B5EF4-FFF2-40B4-BE49-F238E27FC236}">
                <a16:creationId xmlns:a16="http://schemas.microsoft.com/office/drawing/2014/main" id="{06DE0C29-EDB2-49CF-8572-8E7D0E940162}"/>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275C24B0-C93A-4A18-A928-9C6F1F4C4E23}"/>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41279922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8ACAFC8D-7F0E-4EB4-954E-AFC3202D35E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MX"/>
          </a:p>
        </p:txBody>
      </p:sp>
      <p:sp>
        <p:nvSpPr>
          <p:cNvPr id="3" name="Marcador de texto vertical 2">
            <a:extLst>
              <a:ext uri="{FF2B5EF4-FFF2-40B4-BE49-F238E27FC236}">
                <a16:creationId xmlns:a16="http://schemas.microsoft.com/office/drawing/2014/main" id="{ECA8FE74-A179-4A78-B489-1BF6CC1477A8}"/>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5812DA5E-43B1-4CE6-A373-AE3EED346B8D}"/>
              </a:ext>
            </a:extLst>
          </p:cNvPr>
          <p:cNvSpPr>
            <a:spLocks noGrp="1"/>
          </p:cNvSpPr>
          <p:nvPr>
            <p:ph type="dt" sz="half" idx="10"/>
          </p:nvPr>
        </p:nvSpPr>
        <p:spPr/>
        <p:txBody>
          <a:bodyPr/>
          <a:lstStyle/>
          <a:p>
            <a:fld id="{64AA3D87-D8D9-49B3-BDB1-FB7473D3AC6F}" type="datetime1">
              <a:rPr lang="es-MX" smtClean="0"/>
              <a:t>03/06/2026</a:t>
            </a:fld>
            <a:endParaRPr lang="es-MX"/>
          </a:p>
        </p:txBody>
      </p:sp>
      <p:sp>
        <p:nvSpPr>
          <p:cNvPr id="5" name="Marcador de pie de página 4">
            <a:extLst>
              <a:ext uri="{FF2B5EF4-FFF2-40B4-BE49-F238E27FC236}">
                <a16:creationId xmlns:a16="http://schemas.microsoft.com/office/drawing/2014/main" id="{8C7C6640-6323-442F-8495-93BE4E1C3838}"/>
              </a:ext>
            </a:extLst>
          </p:cNvPr>
          <p:cNvSpPr>
            <a:spLocks noGrp="1"/>
          </p:cNvSpPr>
          <p:nvPr>
            <p:ph type="ftr" sz="quarter" idx="11"/>
          </p:nvPr>
        </p:nvSpPr>
        <p:spPr/>
        <p:txBody>
          <a:bodyPr/>
          <a:lstStyle/>
          <a:p>
            <a:endParaRPr lang="es-MX"/>
          </a:p>
        </p:txBody>
      </p:sp>
      <p:sp>
        <p:nvSpPr>
          <p:cNvPr id="6" name="Marcador de número de diapositiva 5">
            <a:extLst>
              <a:ext uri="{FF2B5EF4-FFF2-40B4-BE49-F238E27FC236}">
                <a16:creationId xmlns:a16="http://schemas.microsoft.com/office/drawing/2014/main" id="{93262B21-4C7B-4D0A-8A39-4EC4BA5DBBE8}"/>
              </a:ext>
            </a:extLst>
          </p:cNvPr>
          <p:cNvSpPr>
            <a:spLocks noGrp="1"/>
          </p:cNvSpPr>
          <p:nvPr>
            <p:ph type="sldNum" sz="quarter" idx="12"/>
          </p:nvPr>
        </p:nvSpPr>
        <p:spPr/>
        <p:txBody>
          <a:bodyPr/>
          <a:lstStyle/>
          <a:p>
            <a:fld id="{B4BE085C-131E-4871-906D-CE6CA8D2EB1A}" type="slidenum">
              <a:rPr lang="es-MX" smtClean="0"/>
              <a:t>‹Nº›</a:t>
            </a:fld>
            <a:endParaRPr lang="es-MX"/>
          </a:p>
        </p:txBody>
      </p:sp>
    </p:spTree>
    <p:extLst>
      <p:ext uri="{BB962C8B-B14F-4D97-AF65-F5344CB8AC3E}">
        <p14:creationId xmlns:p14="http://schemas.microsoft.com/office/powerpoint/2010/main" val="2873547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F159C67-920A-48CE-A78E-81C1B475BA0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MX"/>
          </a:p>
        </p:txBody>
      </p:sp>
      <p:sp>
        <p:nvSpPr>
          <p:cNvPr id="3" name="Marcador de texto 2">
            <a:extLst>
              <a:ext uri="{FF2B5EF4-FFF2-40B4-BE49-F238E27FC236}">
                <a16:creationId xmlns:a16="http://schemas.microsoft.com/office/drawing/2014/main" id="{8A1F536F-1245-4BCE-84D8-50DE9A5A44A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MX"/>
          </a:p>
        </p:txBody>
      </p:sp>
      <p:sp>
        <p:nvSpPr>
          <p:cNvPr id="4" name="Marcador de fecha 3">
            <a:extLst>
              <a:ext uri="{FF2B5EF4-FFF2-40B4-BE49-F238E27FC236}">
                <a16:creationId xmlns:a16="http://schemas.microsoft.com/office/drawing/2014/main" id="{CED0DEEC-1D7B-4E26-A6A7-D144F6F553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4CB372-0678-4CC9-9E25-D8EA44A262D4}" type="datetime1">
              <a:rPr lang="es-MX" smtClean="0"/>
              <a:t>03/06/2026</a:t>
            </a:fld>
            <a:endParaRPr lang="es-MX"/>
          </a:p>
        </p:txBody>
      </p:sp>
      <p:sp>
        <p:nvSpPr>
          <p:cNvPr id="5" name="Marcador de pie de página 4">
            <a:extLst>
              <a:ext uri="{FF2B5EF4-FFF2-40B4-BE49-F238E27FC236}">
                <a16:creationId xmlns:a16="http://schemas.microsoft.com/office/drawing/2014/main" id="{9639B86A-4388-4A02-9E66-F6C8D64BF9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MX"/>
          </a:p>
        </p:txBody>
      </p:sp>
      <p:sp>
        <p:nvSpPr>
          <p:cNvPr id="6" name="Marcador de número de diapositiva 5">
            <a:extLst>
              <a:ext uri="{FF2B5EF4-FFF2-40B4-BE49-F238E27FC236}">
                <a16:creationId xmlns:a16="http://schemas.microsoft.com/office/drawing/2014/main" id="{F612EDD0-09CF-4F92-BCBB-F9A8C716D9E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4BE085C-131E-4871-906D-CE6CA8D2EB1A}" type="slidenum">
              <a:rPr lang="es-MX" smtClean="0"/>
              <a:t>‹Nº›</a:t>
            </a:fld>
            <a:endParaRPr lang="es-MX"/>
          </a:p>
        </p:txBody>
      </p:sp>
    </p:spTree>
    <p:extLst>
      <p:ext uri="{BB962C8B-B14F-4D97-AF65-F5344CB8AC3E}">
        <p14:creationId xmlns:p14="http://schemas.microsoft.com/office/powerpoint/2010/main" val="1296175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MX"/>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g"/><Relationship Id="rId1" Type="http://schemas.microsoft.com/office/2007/relationships/media" Target="../media/media1.m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w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hyperlink" Target="https://en.wikipedia.org/w/index.php?title=R%C3%B6ssler_attractor&amp;oldid=1298913303" TargetMode="Externa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90.png"/><Relationship Id="rId4" Type="http://schemas.openxmlformats.org/officeDocument/2006/relationships/image" Target="../media/image34.png"/></Relationships>
</file>

<file path=ppt/slides/_rels/slide4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42.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3.png"/></Relationships>
</file>

<file path=ppt/slides/_rels/slide4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51.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Neuron system in 3D rendering">
            <a:extLst>
              <a:ext uri="{FF2B5EF4-FFF2-40B4-BE49-F238E27FC236}">
                <a16:creationId xmlns:a16="http://schemas.microsoft.com/office/drawing/2014/main" id="{5A934C13-F8B8-32C0-36CC-B5FD7AFEF5FC}"/>
              </a:ext>
            </a:extLst>
          </p:cNvPr>
          <p:cNvPicPr>
            <a:picLocks noChangeAspect="1"/>
          </p:cNvPicPr>
          <p:nvPr/>
        </p:nvPicPr>
        <p:blipFill>
          <a:blip r:embed="rId3"/>
          <a:srcRect l="2409" t="28905" r="11954" b="-1"/>
          <a:stretch>
            <a:fillRect/>
          </a:stretch>
        </p:blipFill>
        <p:spPr>
          <a:xfrm>
            <a:off x="-83130" y="0"/>
            <a:ext cx="12477393" cy="7018020"/>
          </a:xfrm>
          <a:prstGeom prst="rect">
            <a:avLst/>
          </a:prstGeom>
        </p:spPr>
      </p:pic>
      <p:sp>
        <p:nvSpPr>
          <p:cNvPr id="4" name="Rectangle 3">
            <a:extLst>
              <a:ext uri="{FF2B5EF4-FFF2-40B4-BE49-F238E27FC236}">
                <a16:creationId xmlns:a16="http://schemas.microsoft.com/office/drawing/2014/main" id="{FD2D3C6D-E6EF-699C-B7F3-EDFE4506E374}"/>
              </a:ext>
            </a:extLst>
          </p:cNvPr>
          <p:cNvSpPr/>
          <p:nvPr/>
        </p:nvSpPr>
        <p:spPr>
          <a:xfrm>
            <a:off x="-83130" y="1573968"/>
            <a:ext cx="12477392" cy="5444052"/>
          </a:xfrm>
          <a:prstGeom prst="rect">
            <a:avLst/>
          </a:prstGeom>
          <a:gradFill flip="none" rotWithShape="1">
            <a:gsLst>
              <a:gs pos="47000">
                <a:srgbClr val="4B4B4B">
                  <a:alpha val="60455"/>
                  <a:lumMod val="80000"/>
                </a:srgbClr>
              </a:gs>
              <a:gs pos="58000">
                <a:srgbClr val="323232"/>
              </a:gs>
              <a:gs pos="81000">
                <a:schemeClr val="tx1"/>
              </a:gs>
              <a:gs pos="47000">
                <a:schemeClr val="accent3">
                  <a:lumMod val="60000"/>
                  <a:alpha val="70000"/>
                </a:schemeClr>
              </a:gs>
            </a:gsLst>
            <a:lin ang="10800000" scaled="1"/>
            <a:tileRect/>
          </a:gra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MX" dirty="0"/>
          </a:p>
        </p:txBody>
      </p:sp>
      <p:sp>
        <p:nvSpPr>
          <p:cNvPr id="2" name="Título 1">
            <a:extLst>
              <a:ext uri="{FF2B5EF4-FFF2-40B4-BE49-F238E27FC236}">
                <a16:creationId xmlns:a16="http://schemas.microsoft.com/office/drawing/2014/main" id="{979BF484-F41F-4E28-BE7A-0E96843549B9}"/>
              </a:ext>
            </a:extLst>
          </p:cNvPr>
          <p:cNvSpPr>
            <a:spLocks noGrp="1"/>
          </p:cNvSpPr>
          <p:nvPr>
            <p:ph type="ctrTitle"/>
          </p:nvPr>
        </p:nvSpPr>
        <p:spPr>
          <a:xfrm>
            <a:off x="179905" y="1473184"/>
            <a:ext cx="4534891" cy="3014848"/>
          </a:xfrm>
        </p:spPr>
        <p:txBody>
          <a:bodyPr anchor="b">
            <a:noAutofit/>
          </a:bodyPr>
          <a:lstStyle/>
          <a:p>
            <a:r>
              <a:rPr lang="en-US" sz="3200" dirty="0">
                <a:solidFill>
                  <a:schemeClr val="bg1"/>
                </a:solidFill>
              </a:rPr>
              <a:t>REDES NEURONALES RECURRENTES DE PRIMER ORDEN APLICADOS A SISTEMAS DINÁMICOS.</a:t>
            </a:r>
          </a:p>
        </p:txBody>
      </p:sp>
      <p:sp>
        <p:nvSpPr>
          <p:cNvPr id="10" name="Rectangle 9">
            <a:extLst>
              <a:ext uri="{FF2B5EF4-FFF2-40B4-BE49-F238E27FC236}">
                <a16:creationId xmlns:a16="http://schemas.microsoft.com/office/drawing/2014/main" id="{7AABC7F7-26C2-0880-FA73-2D35EF2E142A}"/>
              </a:ext>
            </a:extLst>
          </p:cNvPr>
          <p:cNvSpPr/>
          <p:nvPr/>
        </p:nvSpPr>
        <p:spPr>
          <a:xfrm>
            <a:off x="-83130" y="0"/>
            <a:ext cx="12477393" cy="1573968"/>
          </a:xfrm>
          <a:prstGeom prst="rect">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MX"/>
          </a:p>
        </p:txBody>
      </p:sp>
      <p:pic>
        <p:nvPicPr>
          <p:cNvPr id="19" name="Picture 18" descr="A logo with a blue and gold design&#10;&#10;AI-generated content may be incorrect.">
            <a:extLst>
              <a:ext uri="{FF2B5EF4-FFF2-40B4-BE49-F238E27FC236}">
                <a16:creationId xmlns:a16="http://schemas.microsoft.com/office/drawing/2014/main" id="{9E39FB2A-918D-C0F4-8756-8E0C533B45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20196" y="184755"/>
            <a:ext cx="6270740" cy="1211219"/>
          </a:xfrm>
          <a:prstGeom prst="rect">
            <a:avLst/>
          </a:prstGeom>
        </p:spPr>
      </p:pic>
      <p:sp>
        <p:nvSpPr>
          <p:cNvPr id="8" name="Subtítulo 2">
            <a:extLst>
              <a:ext uri="{FF2B5EF4-FFF2-40B4-BE49-F238E27FC236}">
                <a16:creationId xmlns:a16="http://schemas.microsoft.com/office/drawing/2014/main" id="{305D9D0D-EC0C-B4B1-4B4E-6C464F728BCE}"/>
              </a:ext>
            </a:extLst>
          </p:cNvPr>
          <p:cNvSpPr txBox="1">
            <a:spLocks/>
          </p:cNvSpPr>
          <p:nvPr/>
        </p:nvSpPr>
        <p:spPr>
          <a:xfrm>
            <a:off x="477979" y="4872923"/>
            <a:ext cx="3938745" cy="176020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s-MX" sz="1800" b="1" dirty="0">
                <a:solidFill>
                  <a:schemeClr val="bg1"/>
                </a:solidFill>
                <a:latin typeface="URWPalladioL-Bold"/>
              </a:rPr>
              <a:t>L. J. </a:t>
            </a:r>
            <a:r>
              <a:rPr lang="es-MX" sz="1800" b="1" dirty="0" err="1">
                <a:solidFill>
                  <a:schemeClr val="bg1"/>
                </a:solidFill>
                <a:latin typeface="URWPalladioL-Bold"/>
              </a:rPr>
              <a:t>Ontanon-Garcia</a:t>
            </a:r>
            <a:r>
              <a:rPr lang="es-MX" sz="1800" b="1" dirty="0">
                <a:solidFill>
                  <a:schemeClr val="bg1"/>
                </a:solidFill>
                <a:latin typeface="URWPalladioL-Bold"/>
              </a:rPr>
              <a:t> </a:t>
            </a:r>
            <a:r>
              <a:rPr lang="es-MX" sz="1800" b="1" baseline="30000" dirty="0">
                <a:solidFill>
                  <a:schemeClr val="bg1"/>
                </a:solidFill>
                <a:latin typeface="URWPalladioL-Bold"/>
              </a:rPr>
              <a:t>1</a:t>
            </a:r>
            <a:br>
              <a:rPr lang="es-MX" sz="1800" b="1" baseline="30000" dirty="0">
                <a:solidFill>
                  <a:schemeClr val="bg1"/>
                </a:solidFill>
                <a:latin typeface="URWPalladioL-Bold"/>
              </a:rPr>
            </a:br>
            <a:r>
              <a:rPr lang="es-MX" sz="1800" b="1" dirty="0">
                <a:solidFill>
                  <a:schemeClr val="bg1"/>
                </a:solidFill>
                <a:latin typeface="URWPalladioL-Bold"/>
              </a:rPr>
              <a:t>D. A. Magallón-García </a:t>
            </a:r>
            <a:r>
              <a:rPr lang="es-MX" sz="1800" b="1" baseline="30000" dirty="0">
                <a:solidFill>
                  <a:schemeClr val="bg1"/>
                </a:solidFill>
                <a:latin typeface="URWPalladioL-Bold"/>
              </a:rPr>
              <a:t>1</a:t>
            </a:r>
            <a:r>
              <a:rPr lang="es-MX" sz="1800" b="1" dirty="0">
                <a:solidFill>
                  <a:schemeClr val="bg1"/>
                </a:solidFill>
              </a:rPr>
              <a:t> </a:t>
            </a:r>
          </a:p>
          <a:p>
            <a:pPr algn="l"/>
            <a:br>
              <a:rPr lang="es-MX" sz="1800" dirty="0">
                <a:solidFill>
                  <a:schemeClr val="bg1"/>
                </a:solidFill>
                <a:latin typeface="URWPalladioL-Roma"/>
              </a:rPr>
            </a:br>
            <a:r>
              <a:rPr lang="es-MX" sz="1800" baseline="30000" dirty="0">
                <a:solidFill>
                  <a:schemeClr val="bg1"/>
                </a:solidFill>
                <a:latin typeface="URWPalladioL-Roma"/>
              </a:rPr>
              <a:t>1</a:t>
            </a:r>
            <a:r>
              <a:rPr lang="es-MX" sz="1800" dirty="0">
                <a:solidFill>
                  <a:schemeClr val="bg1"/>
                </a:solidFill>
                <a:latin typeface="URWPalladioL-Roma"/>
              </a:rPr>
              <a:t> CARAO, UASLP.</a:t>
            </a:r>
            <a:br>
              <a:rPr lang="es-MX" sz="1800" dirty="0">
                <a:solidFill>
                  <a:schemeClr val="bg1"/>
                </a:solidFill>
                <a:latin typeface="URWPalladioL-Roma"/>
              </a:rPr>
            </a:br>
            <a:br>
              <a:rPr lang="es-MX" sz="1800" dirty="0">
                <a:solidFill>
                  <a:schemeClr val="bg1"/>
                </a:solidFill>
              </a:rPr>
            </a:br>
            <a:endParaRPr lang="es-MX" sz="1800" dirty="0">
              <a:solidFill>
                <a:schemeClr val="bg1"/>
              </a:solidFill>
            </a:endParaRPr>
          </a:p>
        </p:txBody>
      </p:sp>
    </p:spTree>
    <p:extLst>
      <p:ext uri="{BB962C8B-B14F-4D97-AF65-F5344CB8AC3E}">
        <p14:creationId xmlns:p14="http://schemas.microsoft.com/office/powerpoint/2010/main" val="85717564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85992-7AC3-0863-14BA-3CA8B7362CED}"/>
              </a:ext>
            </a:extLst>
          </p:cNvPr>
          <p:cNvSpPr>
            <a:spLocks noGrp="1"/>
          </p:cNvSpPr>
          <p:nvPr>
            <p:ph type="title"/>
          </p:nvPr>
        </p:nvSpPr>
        <p:spPr>
          <a:xfrm>
            <a:off x="838200" y="2002631"/>
            <a:ext cx="10515600" cy="2852737"/>
          </a:xfrm>
        </p:spPr>
        <p:txBody>
          <a:bodyPr>
            <a:normAutofit fontScale="90000"/>
          </a:bodyPr>
          <a:lstStyle/>
          <a:p>
            <a:r>
              <a:rPr lang="en-US" dirty="0"/>
              <a:t>Muchos de </a:t>
            </a:r>
            <a:r>
              <a:rPr lang="en-US" dirty="0" err="1"/>
              <a:t>los</a:t>
            </a:r>
            <a:r>
              <a:rPr lang="en-US" dirty="0"/>
              <a:t> </a:t>
            </a:r>
            <a:r>
              <a:rPr lang="en-US" dirty="0" err="1"/>
              <a:t>sistemas</a:t>
            </a:r>
            <a:r>
              <a:rPr lang="en-US" dirty="0"/>
              <a:t> </a:t>
            </a:r>
            <a:r>
              <a:rPr lang="en-US" dirty="0" err="1"/>
              <a:t>que</a:t>
            </a:r>
            <a:r>
              <a:rPr lang="en-US" dirty="0"/>
              <a:t> </a:t>
            </a:r>
            <a:r>
              <a:rPr lang="en-US" dirty="0" err="1"/>
              <a:t>intentamos</a:t>
            </a:r>
            <a:r>
              <a:rPr lang="en-US" dirty="0"/>
              <a:t> </a:t>
            </a:r>
            <a:r>
              <a:rPr lang="en-US" dirty="0" err="1"/>
              <a:t>comprender</a:t>
            </a:r>
            <a:r>
              <a:rPr lang="en-US" dirty="0"/>
              <a:t>, se </a:t>
            </a:r>
            <a:r>
              <a:rPr lang="en-US" dirty="0" err="1"/>
              <a:t>rigen</a:t>
            </a:r>
            <a:r>
              <a:rPr lang="en-US" dirty="0"/>
              <a:t> </a:t>
            </a:r>
            <a:r>
              <a:rPr lang="en-US" dirty="0" err="1"/>
              <a:t>por</a:t>
            </a:r>
            <a:r>
              <a:rPr lang="en-US" dirty="0"/>
              <a:t> </a:t>
            </a:r>
            <a:r>
              <a:rPr lang="en-US" dirty="0" err="1"/>
              <a:t>dinámicas</a:t>
            </a:r>
            <a:r>
              <a:rPr lang="en-US" dirty="0"/>
              <a:t> </a:t>
            </a:r>
            <a:r>
              <a:rPr lang="en-US" dirty="0" err="1"/>
              <a:t>que</a:t>
            </a:r>
            <a:r>
              <a:rPr lang="en-US" dirty="0"/>
              <a:t> no </a:t>
            </a:r>
            <a:r>
              <a:rPr lang="en-US" dirty="0" err="1"/>
              <a:t>podemos</a:t>
            </a:r>
            <a:r>
              <a:rPr lang="en-US" dirty="0"/>
              <a:t> </a:t>
            </a:r>
            <a:r>
              <a:rPr lang="en-US" dirty="0" err="1"/>
              <a:t>modelar</a:t>
            </a:r>
            <a:r>
              <a:rPr lang="en-US" dirty="0"/>
              <a:t> </a:t>
            </a:r>
            <a:r>
              <a:rPr lang="en-US" dirty="0" err="1"/>
              <a:t>por</a:t>
            </a:r>
            <a:r>
              <a:rPr lang="en-US" dirty="0"/>
              <a:t> </a:t>
            </a:r>
            <a:r>
              <a:rPr lang="en-US" dirty="0" err="1"/>
              <a:t>completo</a:t>
            </a:r>
            <a:r>
              <a:rPr lang="en-US" dirty="0"/>
              <a:t>.</a:t>
            </a:r>
            <a:endParaRPr lang="en-MX" dirty="0"/>
          </a:p>
        </p:txBody>
      </p:sp>
      <p:sp>
        <p:nvSpPr>
          <p:cNvPr id="4" name="Slide Number Placeholder 3">
            <a:extLst>
              <a:ext uri="{FF2B5EF4-FFF2-40B4-BE49-F238E27FC236}">
                <a16:creationId xmlns:a16="http://schemas.microsoft.com/office/drawing/2014/main" id="{1AA035B1-9DA7-EB15-C42A-6BA22211E3F1}"/>
              </a:ext>
            </a:extLst>
          </p:cNvPr>
          <p:cNvSpPr>
            <a:spLocks noGrp="1"/>
          </p:cNvSpPr>
          <p:nvPr>
            <p:ph type="sldNum" sz="quarter" idx="12"/>
          </p:nvPr>
        </p:nvSpPr>
        <p:spPr/>
        <p:txBody>
          <a:bodyPr/>
          <a:lstStyle/>
          <a:p>
            <a:fld id="{B4BE085C-131E-4871-906D-CE6CA8D2EB1A}" type="slidenum">
              <a:rPr lang="es-MX" smtClean="0"/>
              <a:t>2</a:t>
            </a:fld>
            <a:endParaRPr lang="es-MX"/>
          </a:p>
        </p:txBody>
      </p:sp>
    </p:spTree>
    <p:extLst>
      <p:ext uri="{BB962C8B-B14F-4D97-AF65-F5344CB8AC3E}">
        <p14:creationId xmlns:p14="http://schemas.microsoft.com/office/powerpoint/2010/main" val="28189263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D273D5-ECA6-3B99-33B3-58EAC9C551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D85B66-8DE2-8F5D-FBE4-C857512980E9}"/>
              </a:ext>
            </a:extLst>
          </p:cNvPr>
          <p:cNvSpPr>
            <a:spLocks noGrp="1"/>
          </p:cNvSpPr>
          <p:nvPr>
            <p:ph type="title"/>
          </p:nvPr>
        </p:nvSpPr>
        <p:spPr/>
        <p:txBody>
          <a:bodyPr>
            <a:normAutofit fontScale="90000"/>
          </a:bodyPr>
          <a:lstStyle/>
          <a:p>
            <a:r>
              <a:rPr lang="en-US" dirty="0"/>
              <a:t>¿Y </a:t>
            </a:r>
            <a:r>
              <a:rPr lang="en-US" dirty="0" err="1"/>
              <a:t>si</a:t>
            </a:r>
            <a:r>
              <a:rPr lang="en-US" dirty="0"/>
              <a:t> </a:t>
            </a:r>
            <a:r>
              <a:rPr lang="en-US" dirty="0" err="1"/>
              <a:t>pudiéramos</a:t>
            </a:r>
            <a:r>
              <a:rPr lang="en-US" dirty="0"/>
              <a:t> </a:t>
            </a:r>
            <a:r>
              <a:rPr lang="en-US" dirty="0" err="1"/>
              <a:t>identificar</a:t>
            </a:r>
            <a:r>
              <a:rPr lang="en-US" dirty="0"/>
              <a:t> un </a:t>
            </a:r>
            <a:r>
              <a:rPr lang="en-US" dirty="0" err="1"/>
              <a:t>sistema</a:t>
            </a:r>
            <a:r>
              <a:rPr lang="en-US" dirty="0"/>
              <a:t> </a:t>
            </a:r>
            <a:r>
              <a:rPr lang="en-US" dirty="0" err="1"/>
              <a:t>caótico</a:t>
            </a:r>
            <a:r>
              <a:rPr lang="en-US" dirty="0"/>
              <a:t>... sin </a:t>
            </a:r>
            <a:r>
              <a:rPr lang="en-US" dirty="0" err="1"/>
              <a:t>ecuaciones</a:t>
            </a:r>
            <a:r>
              <a:rPr lang="en-US" dirty="0"/>
              <a:t>, sin </a:t>
            </a:r>
            <a:r>
              <a:rPr lang="en-US" dirty="0" err="1"/>
              <a:t>modelos</a:t>
            </a:r>
            <a:r>
              <a:rPr lang="en-US" dirty="0"/>
              <a:t>, solo a </a:t>
            </a:r>
            <a:r>
              <a:rPr lang="en-US" dirty="0" err="1"/>
              <a:t>partir</a:t>
            </a:r>
            <a:r>
              <a:rPr lang="en-US" dirty="0"/>
              <a:t> de </a:t>
            </a:r>
            <a:r>
              <a:rPr lang="en-US" dirty="0" err="1"/>
              <a:t>su</a:t>
            </a:r>
            <a:r>
              <a:rPr lang="en-US" dirty="0"/>
              <a:t> </a:t>
            </a:r>
            <a:r>
              <a:rPr lang="en-US" dirty="0" err="1"/>
              <a:t>comportamiento</a:t>
            </a:r>
            <a:r>
              <a:rPr lang="en-US" dirty="0"/>
              <a:t>?</a:t>
            </a:r>
            <a:endParaRPr lang="en-MX" dirty="0"/>
          </a:p>
        </p:txBody>
      </p:sp>
      <p:sp>
        <p:nvSpPr>
          <p:cNvPr id="4" name="Slide Number Placeholder 3">
            <a:extLst>
              <a:ext uri="{FF2B5EF4-FFF2-40B4-BE49-F238E27FC236}">
                <a16:creationId xmlns:a16="http://schemas.microsoft.com/office/drawing/2014/main" id="{C73D0A32-73AF-FA58-2A75-B8D8FD1C0A1B}"/>
              </a:ext>
            </a:extLst>
          </p:cNvPr>
          <p:cNvSpPr>
            <a:spLocks noGrp="1"/>
          </p:cNvSpPr>
          <p:nvPr>
            <p:ph type="sldNum" sz="quarter" idx="12"/>
          </p:nvPr>
        </p:nvSpPr>
        <p:spPr/>
        <p:txBody>
          <a:bodyPr/>
          <a:lstStyle/>
          <a:p>
            <a:fld id="{B4BE085C-131E-4871-906D-CE6CA8D2EB1A}" type="slidenum">
              <a:rPr lang="es-MX" smtClean="0"/>
              <a:t>3</a:t>
            </a:fld>
            <a:endParaRPr lang="es-MX"/>
          </a:p>
        </p:txBody>
      </p:sp>
    </p:spTree>
    <p:extLst>
      <p:ext uri="{BB962C8B-B14F-4D97-AF65-F5344CB8AC3E}">
        <p14:creationId xmlns:p14="http://schemas.microsoft.com/office/powerpoint/2010/main" val="40238459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AF1966E-FD40-4A4A-B61B-C4DF7FA05F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1" name="Rectangle 10">
            <a:extLst>
              <a:ext uri="{FF2B5EF4-FFF2-40B4-BE49-F238E27FC236}">
                <a16:creationId xmlns:a16="http://schemas.microsoft.com/office/drawing/2014/main" id="{047BFA19-D45E-416B-A404-7AF2F3F270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8209" y="0"/>
            <a:ext cx="11167447" cy="2018806"/>
          </a:xfrm>
          <a:prstGeom prst="rect">
            <a:avLst/>
          </a:prstGeom>
          <a:ln w="9525">
            <a:solidFill>
              <a:srgbClr val="E1E1E1"/>
            </a:solidFill>
          </a:ln>
          <a:effectLst>
            <a:outerShdw blurRad="50800" dist="38100" dir="2700000" algn="t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3" name="Rectangle 12">
            <a:extLst>
              <a:ext uri="{FF2B5EF4-FFF2-40B4-BE49-F238E27FC236}">
                <a16:creationId xmlns:a16="http://schemas.microsoft.com/office/drawing/2014/main" id="{8E0105E7-23DB-4CF2-8258-FF47C762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6928" y="0"/>
            <a:ext cx="11155680" cy="2011680"/>
          </a:xfrm>
          <a:prstGeom prst="rect">
            <a:avLst/>
          </a:pr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56E82B-0CB4-3045-9E32-041EC5E91604}"/>
              </a:ext>
            </a:extLst>
          </p:cNvPr>
          <p:cNvSpPr>
            <a:spLocks noGrp="1"/>
          </p:cNvSpPr>
          <p:nvPr>
            <p:ph type="title"/>
          </p:nvPr>
        </p:nvSpPr>
        <p:spPr>
          <a:xfrm>
            <a:off x="1115568" y="548640"/>
            <a:ext cx="10168128" cy="1179576"/>
          </a:xfrm>
        </p:spPr>
        <p:txBody>
          <a:bodyPr>
            <a:normAutofit/>
          </a:bodyPr>
          <a:lstStyle/>
          <a:p>
            <a:r>
              <a:rPr lang="en-US" sz="4000" dirty="0" err="1"/>
              <a:t>Índice</a:t>
            </a:r>
            <a:endParaRPr lang="en-US" sz="4000" dirty="0"/>
          </a:p>
        </p:txBody>
      </p:sp>
      <p:sp>
        <p:nvSpPr>
          <p:cNvPr id="15" name="Rectangle 14">
            <a:extLst>
              <a:ext uri="{FF2B5EF4-FFF2-40B4-BE49-F238E27FC236}">
                <a16:creationId xmlns:a16="http://schemas.microsoft.com/office/drawing/2014/main" id="{074B4F7D-14B2-478B-8BF5-01E4E0C5D2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8834" y="758952"/>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A9F54F53-41B1-6146-81B7-220CDE4D1576}"/>
              </a:ext>
            </a:extLst>
          </p:cNvPr>
          <p:cNvSpPr>
            <a:spLocks noGrp="1"/>
          </p:cNvSpPr>
          <p:nvPr>
            <p:ph idx="1"/>
          </p:nvPr>
        </p:nvSpPr>
        <p:spPr>
          <a:xfrm>
            <a:off x="1115568" y="2481943"/>
            <a:ext cx="10168128" cy="3695020"/>
          </a:xfrm>
        </p:spPr>
        <p:txBody>
          <a:bodyPr>
            <a:normAutofit/>
          </a:bodyPr>
          <a:lstStyle/>
          <a:p>
            <a:pPr marL="457200" indent="-457200">
              <a:buFont typeface="+mj-lt"/>
              <a:buAutoNum type="arabicPeriod"/>
            </a:pPr>
            <a:r>
              <a:rPr lang="en-US" sz="2200" dirty="0" err="1"/>
              <a:t>Introducción</a:t>
            </a:r>
            <a:r>
              <a:rPr lang="en-US" sz="2200" dirty="0"/>
              <a:t> a las redes </a:t>
            </a:r>
            <a:r>
              <a:rPr lang="en-US" sz="2200" dirty="0" err="1"/>
              <a:t>neuronales</a:t>
            </a:r>
            <a:endParaRPr lang="en-US" sz="2200" dirty="0"/>
          </a:p>
          <a:p>
            <a:pPr marL="457200" indent="-457200">
              <a:buFont typeface="+mj-lt"/>
              <a:buAutoNum type="arabicPeriod"/>
            </a:pPr>
            <a:r>
              <a:rPr lang="en-US" sz="2200" dirty="0"/>
              <a:t>Redes </a:t>
            </a:r>
            <a:r>
              <a:rPr lang="en-US" sz="2200" dirty="0" err="1"/>
              <a:t>neuronales</a:t>
            </a:r>
            <a:r>
              <a:rPr lang="en-US" sz="2200" dirty="0"/>
              <a:t> </a:t>
            </a:r>
            <a:r>
              <a:rPr lang="en-US" sz="2200" dirty="0" err="1"/>
              <a:t>recurrentes</a:t>
            </a:r>
            <a:r>
              <a:rPr lang="en-US" sz="2200" dirty="0"/>
              <a:t> para la </a:t>
            </a:r>
            <a:r>
              <a:rPr lang="en-US" sz="2200" dirty="0" err="1"/>
              <a:t>identificación</a:t>
            </a:r>
            <a:r>
              <a:rPr lang="en-US" sz="2200" dirty="0"/>
              <a:t> de </a:t>
            </a:r>
            <a:r>
              <a:rPr lang="en-US" sz="2200" dirty="0" err="1"/>
              <a:t>sistemas</a:t>
            </a:r>
            <a:r>
              <a:rPr lang="en-US" sz="2200" dirty="0"/>
              <a:t> </a:t>
            </a:r>
            <a:r>
              <a:rPr lang="en-US" sz="2200" dirty="0" err="1"/>
              <a:t>dinámicos</a:t>
            </a:r>
            <a:endParaRPr lang="en-US" sz="2200" dirty="0"/>
          </a:p>
          <a:p>
            <a:pPr marL="457200" indent="-457200">
              <a:buFont typeface="+mj-lt"/>
              <a:buAutoNum type="arabicPeriod"/>
            </a:pPr>
            <a:r>
              <a:rPr lang="en-US" sz="2200" dirty="0" err="1"/>
              <a:t>Identificación</a:t>
            </a:r>
            <a:r>
              <a:rPr lang="en-US" sz="2200" dirty="0"/>
              <a:t> de </a:t>
            </a:r>
            <a:r>
              <a:rPr lang="en-US" sz="2200" dirty="0" err="1"/>
              <a:t>sistemas</a:t>
            </a:r>
            <a:r>
              <a:rPr lang="en-US" sz="2200" dirty="0"/>
              <a:t> </a:t>
            </a:r>
            <a:r>
              <a:rPr lang="en-US" sz="2200" dirty="0" err="1"/>
              <a:t>caóticos</a:t>
            </a:r>
            <a:r>
              <a:rPr lang="en-US" sz="2200" dirty="0"/>
              <a:t> con redes </a:t>
            </a:r>
            <a:r>
              <a:rPr lang="en-US" sz="2200" dirty="0" err="1"/>
              <a:t>neuronales</a:t>
            </a:r>
            <a:r>
              <a:rPr lang="en-US" sz="2200" dirty="0"/>
              <a:t> </a:t>
            </a:r>
            <a:r>
              <a:rPr lang="en-US" sz="2200" dirty="0" err="1"/>
              <a:t>recurrentes</a:t>
            </a:r>
            <a:endParaRPr lang="en-US" sz="2200" dirty="0"/>
          </a:p>
          <a:p>
            <a:pPr marL="457200" indent="-457200">
              <a:buFont typeface="+mj-lt"/>
              <a:buAutoNum type="arabicPeriod"/>
            </a:pPr>
            <a:r>
              <a:rPr lang="en-US" sz="2200" dirty="0" err="1"/>
              <a:t>Aplicación</a:t>
            </a:r>
            <a:r>
              <a:rPr lang="en-US" sz="2200" dirty="0"/>
              <a:t> a robots </a:t>
            </a:r>
            <a:r>
              <a:rPr lang="en-US" sz="2200" dirty="0" err="1"/>
              <a:t>diferenciales</a:t>
            </a:r>
            <a:endParaRPr lang="en-US" sz="2200" dirty="0"/>
          </a:p>
          <a:p>
            <a:pPr marL="457200" indent="-457200">
              <a:buFont typeface="+mj-lt"/>
              <a:buAutoNum type="arabicPeriod"/>
            </a:pPr>
            <a:r>
              <a:rPr lang="en-US" sz="2200" dirty="0" err="1"/>
              <a:t>Conclusiones</a:t>
            </a:r>
            <a:endParaRPr lang="en-US" sz="2200" dirty="0"/>
          </a:p>
        </p:txBody>
      </p:sp>
      <p:sp>
        <p:nvSpPr>
          <p:cNvPr id="4" name="Slide Number Placeholder 3">
            <a:extLst>
              <a:ext uri="{FF2B5EF4-FFF2-40B4-BE49-F238E27FC236}">
                <a16:creationId xmlns:a16="http://schemas.microsoft.com/office/drawing/2014/main" id="{63DC38A8-CCD0-A444-91FD-03DD4669EBB9}"/>
              </a:ext>
            </a:extLst>
          </p:cNvPr>
          <p:cNvSpPr>
            <a:spLocks noGrp="1"/>
          </p:cNvSpPr>
          <p:nvPr>
            <p:ph type="sldNum" sz="quarter" idx="12"/>
          </p:nvPr>
        </p:nvSpPr>
        <p:spPr>
          <a:xfrm>
            <a:off x="8540496" y="6356350"/>
            <a:ext cx="2743200" cy="365125"/>
          </a:xfrm>
        </p:spPr>
        <p:txBody>
          <a:bodyPr>
            <a:normAutofit/>
          </a:bodyPr>
          <a:lstStyle/>
          <a:p>
            <a:pPr>
              <a:spcAft>
                <a:spcPts val="600"/>
              </a:spcAft>
            </a:pPr>
            <a:fld id="{B4BE085C-131E-4871-906D-CE6CA8D2EB1A}" type="slidenum">
              <a:rPr lang="es-MX">
                <a:solidFill>
                  <a:schemeClr val="tx1">
                    <a:lumMod val="50000"/>
                    <a:lumOff val="50000"/>
                  </a:schemeClr>
                </a:solidFill>
              </a:rPr>
              <a:pPr>
                <a:spcAft>
                  <a:spcPts val="600"/>
                </a:spcAft>
              </a:pPr>
              <a:t>4</a:t>
            </a:fld>
            <a:endParaRPr lang="es-MX">
              <a:solidFill>
                <a:schemeClr val="tx1">
                  <a:lumMod val="50000"/>
                  <a:lumOff val="50000"/>
                </a:schemeClr>
              </a:solidFill>
            </a:endParaRPr>
          </a:p>
        </p:txBody>
      </p:sp>
      <p:sp>
        <p:nvSpPr>
          <p:cNvPr id="18" name="Rectangle 10">
            <a:extLst>
              <a:ext uri="{FF2B5EF4-FFF2-40B4-BE49-F238E27FC236}">
                <a16:creationId xmlns:a16="http://schemas.microsoft.com/office/drawing/2014/main" id="{BFDAB6DA-DB56-64CF-6B18-2AFBA9CB0FD7}"/>
              </a:ext>
            </a:extLst>
          </p:cNvPr>
          <p:cNvSpPr>
            <a:spLocks noChangeArrowheads="1"/>
          </p:cNvSpPr>
          <p:nvPr/>
        </p:nvSpPr>
        <p:spPr bwMode="auto">
          <a:xfrm>
            <a:off x="152400" y="152400"/>
            <a:ext cx="12192000"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MX"/>
          </a:p>
        </p:txBody>
      </p:sp>
      <p:sp>
        <p:nvSpPr>
          <p:cNvPr id="19" name="Rectangle 11">
            <a:extLst>
              <a:ext uri="{FF2B5EF4-FFF2-40B4-BE49-F238E27FC236}">
                <a16:creationId xmlns:a16="http://schemas.microsoft.com/office/drawing/2014/main" id="{2CFED199-E64D-5B34-D95A-52D44F1B1705}"/>
              </a:ext>
            </a:extLst>
          </p:cNvPr>
          <p:cNvSpPr>
            <a:spLocks noChangeArrowheads="1"/>
          </p:cNvSpPr>
          <p:nvPr/>
        </p:nvSpPr>
        <p:spPr bwMode="auto">
          <a:xfrm>
            <a:off x="152400" y="152400"/>
            <a:ext cx="2695575" cy="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MX" altLang="en-MX" sz="1800" b="0" i="0" u="none" strike="noStrike" cap="none" normalizeH="0" baseline="0">
                <a:ln>
                  <a:noFill/>
                </a:ln>
                <a:solidFill>
                  <a:schemeClr val="tx1"/>
                </a:solidFill>
                <a:effectLst/>
                <a:latin typeface="Inter"/>
              </a:rPr>
            </a:br>
            <a:endParaRPr kumimoji="0" lang="en-MX" altLang="en-MX" sz="1800" b="0" i="0" u="none" strike="noStrike" cap="none" normalizeH="0" baseline="0">
              <a:ln>
                <a:noFill/>
              </a:ln>
              <a:solidFill>
                <a:schemeClr val="tx1"/>
              </a:solidFill>
              <a:effectLst/>
              <a:latin typeface="Inter"/>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MX" altLang="en-MX"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47687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9682F6-1198-0788-E852-8160056F26D7}"/>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4A786BB2-2E89-26F0-6322-C9794F3630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8DB67D-2795-9453-7812-40BBD7B4AD18}"/>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1.1 Sistemas </a:t>
            </a:r>
            <a:r>
              <a:rPr lang="en-US" sz="8000" b="1" dirty="0" err="1"/>
              <a:t>dinámicos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2B1891D3-247B-B189-8F17-6F2FD01AB500}"/>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7161AF8-409E-3EFA-2B61-D0A04A310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3458CFC9-2B2E-6D69-C1B6-A879D769BA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6D670642-23D7-259F-CD2C-0988E3DDE46B}"/>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5</a:t>
            </a:fld>
            <a:endParaRPr lang="en-US">
              <a:solidFill>
                <a:schemeClr val="tx1">
                  <a:lumMod val="50000"/>
                  <a:lumOff val="50000"/>
                </a:schemeClr>
              </a:solidFill>
            </a:endParaRPr>
          </a:p>
        </p:txBody>
      </p:sp>
    </p:spTree>
    <p:extLst>
      <p:ext uri="{BB962C8B-B14F-4D97-AF65-F5344CB8AC3E}">
        <p14:creationId xmlns:p14="http://schemas.microsoft.com/office/powerpoint/2010/main" val="261486468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7B38D-91C7-250E-662D-07B9EE3D2AA5}"/>
              </a:ext>
            </a:extLst>
          </p:cNvPr>
          <p:cNvSpPr>
            <a:spLocks noGrp="1"/>
          </p:cNvSpPr>
          <p:nvPr>
            <p:ph type="title"/>
          </p:nvPr>
        </p:nvSpPr>
        <p:spPr>
          <a:xfrm>
            <a:off x="477981" y="278778"/>
            <a:ext cx="4023360" cy="1054167"/>
          </a:xfrm>
        </p:spPr>
        <p:txBody>
          <a:bodyPr vert="horz" lIns="91440" tIns="45720" rIns="91440" bIns="45720" rtlCol="0" anchor="b">
            <a:normAutofit fontScale="90000"/>
          </a:bodyPr>
          <a:lstStyle/>
          <a:p>
            <a:r>
              <a:rPr lang="en-US" sz="4800" kern="1200" dirty="0">
                <a:solidFill>
                  <a:schemeClr val="tx1"/>
                </a:solidFill>
                <a:latin typeface="+mj-lt"/>
                <a:ea typeface="+mj-ea"/>
                <a:cs typeface="+mj-cs"/>
              </a:rPr>
              <a:t>¿</a:t>
            </a:r>
            <a:r>
              <a:rPr lang="en-US" sz="4800" kern="1200" dirty="0" err="1">
                <a:solidFill>
                  <a:schemeClr val="tx1"/>
                </a:solidFill>
                <a:latin typeface="+mj-lt"/>
                <a:ea typeface="+mj-ea"/>
                <a:cs typeface="+mj-cs"/>
              </a:rPr>
              <a:t>Qué</a:t>
            </a:r>
            <a:r>
              <a:rPr lang="en-US" sz="4800" kern="1200" dirty="0">
                <a:solidFill>
                  <a:schemeClr val="tx1"/>
                </a:solidFill>
                <a:latin typeface="+mj-lt"/>
                <a:ea typeface="+mj-ea"/>
                <a:cs typeface="+mj-cs"/>
              </a:rPr>
              <a:t> son </a:t>
            </a:r>
            <a:r>
              <a:rPr lang="en-US" sz="4800" kern="1200" dirty="0" err="1">
                <a:solidFill>
                  <a:schemeClr val="tx1"/>
                </a:solidFill>
                <a:latin typeface="+mj-lt"/>
                <a:ea typeface="+mj-ea"/>
                <a:cs typeface="+mj-cs"/>
              </a:rPr>
              <a:t>los</a:t>
            </a:r>
            <a:r>
              <a:rPr lang="en-US" sz="4800" kern="1200" dirty="0">
                <a:solidFill>
                  <a:schemeClr val="tx1"/>
                </a:solidFill>
                <a:latin typeface="+mj-lt"/>
                <a:ea typeface="+mj-ea"/>
                <a:cs typeface="+mj-cs"/>
              </a:rPr>
              <a:t> SD?</a:t>
            </a:r>
          </a:p>
        </p:txBody>
      </p:sp>
      <p:sp>
        <p:nvSpPr>
          <p:cNvPr id="5" name="TextBox 4">
            <a:extLst>
              <a:ext uri="{FF2B5EF4-FFF2-40B4-BE49-F238E27FC236}">
                <a16:creationId xmlns:a16="http://schemas.microsoft.com/office/drawing/2014/main" id="{AD8F7DF3-2703-7148-12AF-BB6894E336A1}"/>
              </a:ext>
            </a:extLst>
          </p:cNvPr>
          <p:cNvSpPr txBox="1"/>
          <p:nvPr/>
        </p:nvSpPr>
        <p:spPr>
          <a:xfrm>
            <a:off x="477981" y="6176596"/>
            <a:ext cx="3933306" cy="681404"/>
          </a:xfrm>
          <a:prstGeom prst="rect">
            <a:avLst/>
          </a:prstGeom>
        </p:spPr>
        <p:txBody>
          <a:bodyPr vert="horz" lIns="91440" tIns="45720" rIns="91440" bIns="45720" rtlCol="0">
            <a:normAutofit/>
          </a:bodyPr>
          <a:lstStyle/>
          <a:p>
            <a:pPr>
              <a:lnSpc>
                <a:spcPct val="90000"/>
              </a:lnSpc>
              <a:spcBef>
                <a:spcPts val="1000"/>
              </a:spcBef>
            </a:pPr>
            <a:r>
              <a:rPr lang="en-US" sz="2000" kern="1200" dirty="0">
                <a:solidFill>
                  <a:schemeClr val="tx1"/>
                </a:solidFill>
                <a:latin typeface="+mn-lt"/>
                <a:ea typeface="+mn-ea"/>
                <a:cs typeface="+mn-cs"/>
              </a:rPr>
              <a:t>Stephen Wolfram, A New Kind of Science (2002). Wolfram Media</a:t>
            </a:r>
          </a:p>
        </p:txBody>
      </p:sp>
      <p:pic>
        <p:nvPicPr>
          <p:cNvPr id="6" name="Content Placeholder 5">
            <a:extLst>
              <a:ext uri="{FF2B5EF4-FFF2-40B4-BE49-F238E27FC236}">
                <a16:creationId xmlns:a16="http://schemas.microsoft.com/office/drawing/2014/main" id="{D21F3662-3F1F-B408-EE2C-4B874DE71BA5}"/>
              </a:ext>
            </a:extLst>
          </p:cNvPr>
          <p:cNvPicPr>
            <a:picLocks noGrp="1" noChangeAspect="1"/>
          </p:cNvPicPr>
          <p:nvPr>
            <p:ph idx="1"/>
          </p:nvPr>
        </p:nvPicPr>
        <p:blipFill>
          <a:blip r:embed="rId2"/>
          <a:stretch>
            <a:fillRect/>
          </a:stretch>
        </p:blipFill>
        <p:spPr>
          <a:xfrm>
            <a:off x="5414356" y="805862"/>
            <a:ext cx="6408836" cy="5095024"/>
          </a:xfrm>
          <a:prstGeom prst="rect">
            <a:avLst/>
          </a:prstGeom>
        </p:spPr>
      </p:pic>
      <p:sp>
        <p:nvSpPr>
          <p:cNvPr id="4" name="Slide Number Placeholder 3">
            <a:extLst>
              <a:ext uri="{FF2B5EF4-FFF2-40B4-BE49-F238E27FC236}">
                <a16:creationId xmlns:a16="http://schemas.microsoft.com/office/drawing/2014/main" id="{F60736FF-9CFE-8B10-4FDE-1C3FD88F8BE8}"/>
              </a:ext>
            </a:extLst>
          </p:cNvPr>
          <p:cNvSpPr>
            <a:spLocks noGrp="1"/>
          </p:cNvSpPr>
          <p:nvPr>
            <p:ph type="sldNum" sz="quarter" idx="12"/>
          </p:nvPr>
        </p:nvSpPr>
        <p:spPr>
          <a:xfrm>
            <a:off x="9847810" y="6356350"/>
            <a:ext cx="1505989"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6</a:t>
            </a:fld>
            <a:endParaRPr lang="en-US">
              <a:solidFill>
                <a:schemeClr val="tx1">
                  <a:lumMod val="50000"/>
                  <a:lumOff val="50000"/>
                </a:schemeClr>
              </a:solidFill>
            </a:endParaRPr>
          </a:p>
        </p:txBody>
      </p:sp>
      <p:sp>
        <p:nvSpPr>
          <p:cNvPr id="3" name="Marcador de contenido 2">
            <a:extLst>
              <a:ext uri="{FF2B5EF4-FFF2-40B4-BE49-F238E27FC236}">
                <a16:creationId xmlns:a16="http://schemas.microsoft.com/office/drawing/2014/main" id="{BD1AABB9-3BC7-D313-D5E1-4346CA806EAF}"/>
              </a:ext>
            </a:extLst>
          </p:cNvPr>
          <p:cNvSpPr txBox="1">
            <a:spLocks/>
          </p:cNvSpPr>
          <p:nvPr/>
        </p:nvSpPr>
        <p:spPr>
          <a:xfrm>
            <a:off x="477981" y="1931831"/>
            <a:ext cx="4818888" cy="396905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s-MX" sz="2200" dirty="0"/>
              <a:t>El problema de los dos cuerpos </a:t>
            </a:r>
            <a:br>
              <a:rPr lang="es-MX" sz="2200" dirty="0"/>
            </a:br>
            <a:r>
              <a:rPr lang="es-MX" sz="2200" dirty="0"/>
              <a:t>(Tierra y Sol) </a:t>
            </a:r>
          </a:p>
          <a:p>
            <a:pPr lvl="1"/>
            <a:r>
              <a:rPr lang="es-MX" sz="2200" dirty="0"/>
              <a:t>Kepler 1609</a:t>
            </a:r>
          </a:p>
          <a:p>
            <a:pPr lvl="1"/>
            <a:r>
              <a:rPr lang="es-MX" sz="2200" dirty="0"/>
              <a:t>Isaac Newton 1687</a:t>
            </a:r>
          </a:p>
          <a:p>
            <a:r>
              <a:rPr lang="es-MX" sz="2200" dirty="0"/>
              <a:t>El problema de los tres cuerpos </a:t>
            </a:r>
            <a:br>
              <a:rPr lang="es-MX" sz="2200" dirty="0"/>
            </a:br>
            <a:r>
              <a:rPr lang="es-MX" sz="2200" dirty="0"/>
              <a:t>(Tierra Luna y Sol) </a:t>
            </a:r>
          </a:p>
          <a:p>
            <a:pPr lvl="1"/>
            <a:r>
              <a:rPr lang="es-MX" sz="2200" dirty="0"/>
              <a:t>Isaac Newton 1687</a:t>
            </a:r>
          </a:p>
          <a:p>
            <a:pPr lvl="1"/>
            <a:r>
              <a:rPr lang="es-MX" sz="2200" dirty="0"/>
              <a:t>Henry Poincaré 1890</a:t>
            </a:r>
            <a:br>
              <a:rPr lang="es-MX" sz="2200" dirty="0"/>
            </a:br>
            <a:r>
              <a:rPr lang="es-MX" sz="2200" dirty="0"/>
              <a:t>Superficies de Poincaré</a:t>
            </a:r>
          </a:p>
        </p:txBody>
      </p:sp>
    </p:spTree>
    <p:extLst>
      <p:ext uri="{BB962C8B-B14F-4D97-AF65-F5344CB8AC3E}">
        <p14:creationId xmlns:p14="http://schemas.microsoft.com/office/powerpoint/2010/main" val="11066518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7A368-58A3-4EF8-AD1B-DE542783B121}"/>
              </a:ext>
            </a:extLst>
          </p:cNvPr>
          <p:cNvSpPr>
            <a:spLocks noGrp="1"/>
          </p:cNvSpPr>
          <p:nvPr>
            <p:ph type="title"/>
          </p:nvPr>
        </p:nvSpPr>
        <p:spPr>
          <a:xfrm>
            <a:off x="1524003" y="1999615"/>
            <a:ext cx="9144000" cy="2764028"/>
          </a:xfrm>
        </p:spPr>
        <p:txBody>
          <a:bodyPr vert="horz" lIns="91440" tIns="45720" rIns="91440" bIns="45720" rtlCol="0" anchor="ctr">
            <a:normAutofit/>
          </a:bodyPr>
          <a:lstStyle/>
          <a:p>
            <a:pPr algn="ctr"/>
            <a:r>
              <a:rPr lang="en-US" sz="7200" kern="1200">
                <a:solidFill>
                  <a:schemeClr val="tx1"/>
                </a:solidFill>
                <a:latin typeface="+mj-lt"/>
                <a:ea typeface="+mj-ea"/>
                <a:cs typeface="+mj-cs"/>
              </a:rPr>
              <a:t>Pero, ¿en donde los encontramos?</a:t>
            </a:r>
          </a:p>
        </p:txBody>
      </p:sp>
    </p:spTree>
    <p:extLst>
      <p:ext uri="{BB962C8B-B14F-4D97-AF65-F5344CB8AC3E}">
        <p14:creationId xmlns:p14="http://schemas.microsoft.com/office/powerpoint/2010/main" val="37260009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7" descr="A picture containing nature, waterfall, outdoor, water&#10;&#10;Description automatically generated">
            <a:extLst>
              <a:ext uri="{FF2B5EF4-FFF2-40B4-BE49-F238E27FC236}">
                <a16:creationId xmlns:a16="http://schemas.microsoft.com/office/drawing/2014/main" id="{46CB6876-0B29-4E99-82B8-1FBC8A7B8B47}"/>
              </a:ext>
            </a:extLst>
          </p:cNvPr>
          <p:cNvPicPr>
            <a:picLocks noChangeAspect="1"/>
          </p:cNvPicPr>
          <p:nvPr/>
        </p:nvPicPr>
        <p:blipFill rotWithShape="1">
          <a:blip r:embed="rId3"/>
          <a:srcRect l="10560" r="7374"/>
          <a:stretch/>
        </p:blipFill>
        <p:spPr>
          <a:xfrm>
            <a:off x="7816130" y="-2"/>
            <a:ext cx="4375870" cy="6858000"/>
          </a:xfrm>
          <a:custGeom>
            <a:avLst/>
            <a:gdLst/>
            <a:ahLst/>
            <a:cxnLst/>
            <a:rect l="l" t="t" r="r" b="b"/>
            <a:pathLst>
              <a:path w="4375870" h="6858000">
                <a:moveTo>
                  <a:pt x="4441" y="0"/>
                </a:moveTo>
                <a:lnTo>
                  <a:pt x="4375870" y="0"/>
                </a:lnTo>
                <a:lnTo>
                  <a:pt x="4375870" y="23"/>
                </a:lnTo>
                <a:lnTo>
                  <a:pt x="4375870" y="6858000"/>
                </a:lnTo>
                <a:lnTo>
                  <a:pt x="0" y="6858000"/>
                </a:lnTo>
                <a:lnTo>
                  <a:pt x="106674" y="6638378"/>
                </a:lnTo>
                <a:cubicBezTo>
                  <a:pt x="530028" y="5720938"/>
                  <a:pt x="777229" y="4614948"/>
                  <a:pt x="777229" y="3424428"/>
                </a:cubicBezTo>
                <a:cubicBezTo>
                  <a:pt x="777229" y="2233909"/>
                  <a:pt x="530028" y="1127919"/>
                  <a:pt x="106674" y="210478"/>
                </a:cubicBezTo>
                <a:close/>
              </a:path>
            </a:pathLst>
          </a:custGeom>
        </p:spPr>
      </p:pic>
      <p:pic>
        <p:nvPicPr>
          <p:cNvPr id="4" name="Picture 4" descr="A field with clouds in the sky&#10;&#10;Description automatically generated">
            <a:extLst>
              <a:ext uri="{FF2B5EF4-FFF2-40B4-BE49-F238E27FC236}">
                <a16:creationId xmlns:a16="http://schemas.microsoft.com/office/drawing/2014/main" id="{BC8207F1-8FAF-4B10-8108-6583B0715601}"/>
              </a:ext>
            </a:extLst>
          </p:cNvPr>
          <p:cNvPicPr>
            <a:picLocks noChangeAspect="1"/>
          </p:cNvPicPr>
          <p:nvPr/>
        </p:nvPicPr>
        <p:blipFill rotWithShape="1">
          <a:blip r:embed="rId4"/>
          <a:srcRect t="7377" r="-3" b="-3"/>
          <a:stretch/>
        </p:blipFill>
        <p:spPr>
          <a:xfrm>
            <a:off x="3595404" y="33"/>
            <a:ext cx="4942298" cy="6857999"/>
          </a:xfrm>
          <a:custGeom>
            <a:avLst/>
            <a:gdLst/>
            <a:ahLst/>
            <a:cxnLst/>
            <a:rect l="l" t="t" r="r" b="b"/>
            <a:pathLst>
              <a:path w="4942298" h="6857999">
                <a:moveTo>
                  <a:pt x="0" y="0"/>
                </a:moveTo>
                <a:lnTo>
                  <a:pt x="4164238" y="0"/>
                </a:lnTo>
                <a:lnTo>
                  <a:pt x="4271743" y="210478"/>
                </a:lnTo>
                <a:cubicBezTo>
                  <a:pt x="4695097" y="1127919"/>
                  <a:pt x="4942298" y="2233909"/>
                  <a:pt x="4942298" y="3424428"/>
                </a:cubicBezTo>
                <a:cubicBezTo>
                  <a:pt x="4942298" y="4614948"/>
                  <a:pt x="4695097" y="5720938"/>
                  <a:pt x="4271743" y="6638378"/>
                </a:cubicBezTo>
                <a:lnTo>
                  <a:pt x="4159568" y="6857999"/>
                </a:lnTo>
                <a:lnTo>
                  <a:pt x="49488" y="6857999"/>
                </a:lnTo>
                <a:lnTo>
                  <a:pt x="119616" y="6721637"/>
                </a:lnTo>
                <a:cubicBezTo>
                  <a:pt x="540124" y="5863919"/>
                  <a:pt x="796416" y="4724528"/>
                  <a:pt x="796416" y="3474162"/>
                </a:cubicBezTo>
                <a:cubicBezTo>
                  <a:pt x="796416" y="2140439"/>
                  <a:pt x="504812" y="932979"/>
                  <a:pt x="33352" y="58950"/>
                </a:cubicBezTo>
                <a:close/>
              </a:path>
            </a:pathLst>
          </a:custGeom>
        </p:spPr>
      </p:pic>
      <p:sp>
        <p:nvSpPr>
          <p:cNvPr id="2" name="Título 1"/>
          <p:cNvSpPr>
            <a:spLocks noGrp="1"/>
          </p:cNvSpPr>
          <p:nvPr>
            <p:ph type="title"/>
          </p:nvPr>
        </p:nvSpPr>
        <p:spPr>
          <a:xfrm>
            <a:off x="438913" y="1511589"/>
            <a:ext cx="3430958" cy="2896432"/>
          </a:xfrm>
        </p:spPr>
        <p:txBody>
          <a:bodyPr vert="horz" lIns="91440" tIns="45720" rIns="91440" bIns="45720" rtlCol="0" anchor="b">
            <a:normAutofit/>
          </a:bodyPr>
          <a:lstStyle/>
          <a:p>
            <a:r>
              <a:rPr lang="en-US" sz="4000" kern="1200">
                <a:solidFill>
                  <a:schemeClr val="tx1"/>
                </a:solidFill>
                <a:latin typeface="+mj-lt"/>
                <a:ea typeface="+mj-ea"/>
                <a:cs typeface="+mj-cs"/>
              </a:rPr>
              <a:t>Sistemas caóticos</a:t>
            </a:r>
          </a:p>
        </p:txBody>
      </p:sp>
      <p:sp>
        <p:nvSpPr>
          <p:cNvPr id="3" name="Marcador de contenido 2"/>
          <p:cNvSpPr>
            <a:spLocks noGrp="1"/>
          </p:cNvSpPr>
          <p:nvPr>
            <p:ph idx="1"/>
          </p:nvPr>
        </p:nvSpPr>
        <p:spPr>
          <a:xfrm>
            <a:off x="438911" y="4769996"/>
            <a:ext cx="3430959" cy="1334930"/>
          </a:xfrm>
        </p:spPr>
        <p:txBody>
          <a:bodyPr vert="horz" lIns="91440" tIns="45720" rIns="91440" bIns="45720" rtlCol="0">
            <a:normAutofit/>
          </a:bodyPr>
          <a:lstStyle/>
          <a:p>
            <a:pPr marL="0" indent="0">
              <a:buNone/>
            </a:pPr>
            <a:r>
              <a:rPr lang="en-US" sz="2100" kern="1200">
                <a:solidFill>
                  <a:schemeClr val="tx1"/>
                </a:solidFill>
                <a:latin typeface="+mn-lt"/>
                <a:ea typeface="+mn-ea"/>
                <a:cs typeface="+mn-cs"/>
              </a:rPr>
              <a:t>El clima</a:t>
            </a:r>
          </a:p>
        </p:txBody>
      </p:sp>
      <p:sp>
        <p:nvSpPr>
          <p:cNvPr id="6" name="Marcador de número de diapositiva 5"/>
          <p:cNvSpPr>
            <a:spLocks noGrp="1"/>
          </p:cNvSpPr>
          <p:nvPr>
            <p:ph type="sldNum" sz="quarter" idx="12"/>
          </p:nvPr>
        </p:nvSpPr>
        <p:spPr>
          <a:xfrm>
            <a:off x="9009889" y="6356350"/>
            <a:ext cx="2743200" cy="365125"/>
          </a:xfrm>
        </p:spPr>
        <p:txBody>
          <a:bodyPr vert="horz" lIns="91440" tIns="45720" rIns="91440" bIns="45720" rtlCol="0" anchor="ctr">
            <a:normAutofit/>
          </a:bodyPr>
          <a:lstStyle/>
          <a:p>
            <a:pPr>
              <a:spcAft>
                <a:spcPts val="600"/>
              </a:spcAft>
            </a:pPr>
            <a:fld id="{6CAF4049-4BD5-4594-BBB0-3B6F66E7E670}" type="slidenum">
              <a:rPr lang="en-US">
                <a:solidFill>
                  <a:schemeClr val="bg1"/>
                </a:solidFill>
              </a:rPr>
              <a:pPr>
                <a:spcAft>
                  <a:spcPts val="600"/>
                </a:spcAft>
              </a:pPr>
              <a:t>8</a:t>
            </a:fld>
            <a:endParaRPr lang="en-US">
              <a:solidFill>
                <a:schemeClr val="bg1"/>
              </a:solidFill>
            </a:endParaRPr>
          </a:p>
        </p:txBody>
      </p:sp>
    </p:spTree>
    <p:extLst>
      <p:ext uri="{BB962C8B-B14F-4D97-AF65-F5344CB8AC3E}">
        <p14:creationId xmlns:p14="http://schemas.microsoft.com/office/powerpoint/2010/main" val="1970386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starlings2">
            <a:hlinkClick r:id="" action="ppaction://media"/>
            <a:extLst>
              <a:ext uri="{FF2B5EF4-FFF2-40B4-BE49-F238E27FC236}">
                <a16:creationId xmlns:a16="http://schemas.microsoft.com/office/drawing/2014/main" id="{04E2AE7B-B114-1146-8593-5D7723BAFEA9}"/>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745354" y="914400"/>
            <a:ext cx="6625092" cy="4968819"/>
          </a:xfrm>
          <a:prstGeom prst="rect">
            <a:avLst/>
          </a:prstGeom>
        </p:spPr>
      </p:pic>
      <p:sp>
        <p:nvSpPr>
          <p:cNvPr id="4" name="Slide Number Placeholder 3">
            <a:extLst>
              <a:ext uri="{FF2B5EF4-FFF2-40B4-BE49-F238E27FC236}">
                <a16:creationId xmlns:a16="http://schemas.microsoft.com/office/drawing/2014/main" id="{AB58C0D3-6B68-4310-8AB1-9C732CF0ED4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CAF4049-4BD5-4594-BBB0-3B6F66E7E670}" type="slidenum">
              <a:rPr lang="en-US" smtClean="0"/>
              <a:pPr>
                <a:spcAft>
                  <a:spcPts val="600"/>
                </a:spcAft>
              </a:pPr>
              <a:t>9</a:t>
            </a:fld>
            <a:endParaRPr lang="en-US"/>
          </a:p>
        </p:txBody>
      </p:sp>
    </p:spTree>
    <p:extLst>
      <p:ext uri="{BB962C8B-B14F-4D97-AF65-F5344CB8AC3E}">
        <p14:creationId xmlns:p14="http://schemas.microsoft.com/office/powerpoint/2010/main" val="3020631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976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25180-DCB3-44A9-AEC4-06B5AB5F3CD4}"/>
              </a:ext>
            </a:extLst>
          </p:cNvPr>
          <p:cNvSpPr>
            <a:spLocks noGrp="1"/>
          </p:cNvSpPr>
          <p:nvPr>
            <p:ph type="title"/>
          </p:nvPr>
        </p:nvSpPr>
        <p:spPr>
          <a:xfrm>
            <a:off x="838200" y="451381"/>
            <a:ext cx="10512552" cy="4066540"/>
          </a:xfrm>
        </p:spPr>
        <p:txBody>
          <a:bodyPr vert="horz" lIns="91440" tIns="45720" rIns="91440" bIns="45720" rtlCol="0" anchor="b">
            <a:normAutofit/>
          </a:bodyPr>
          <a:lstStyle/>
          <a:p>
            <a:r>
              <a:rPr lang="en-US" sz="6600" kern="1200">
                <a:solidFill>
                  <a:schemeClr val="tx1"/>
                </a:solidFill>
                <a:latin typeface="+mj-lt"/>
                <a:ea typeface="+mj-ea"/>
                <a:cs typeface="+mj-cs"/>
              </a:rPr>
              <a:t>Características de los sistemas</a:t>
            </a:r>
          </a:p>
        </p:txBody>
      </p:sp>
      <p:sp>
        <p:nvSpPr>
          <p:cNvPr id="3" name="Text Placeholder 2">
            <a:extLst>
              <a:ext uri="{FF2B5EF4-FFF2-40B4-BE49-F238E27FC236}">
                <a16:creationId xmlns:a16="http://schemas.microsoft.com/office/drawing/2014/main" id="{19FF6FA7-6A08-455A-A3D3-CFF324B1388B}"/>
              </a:ext>
            </a:extLst>
          </p:cNvPr>
          <p:cNvSpPr>
            <a:spLocks noGrp="1"/>
          </p:cNvSpPr>
          <p:nvPr>
            <p:ph type="body" idx="1"/>
          </p:nvPr>
        </p:nvSpPr>
        <p:spPr>
          <a:xfrm>
            <a:off x="838199" y="4983276"/>
            <a:ext cx="10512552" cy="1126680"/>
          </a:xfrm>
        </p:spPr>
        <p:txBody>
          <a:bodyPr vert="horz" lIns="91440" tIns="45720" rIns="91440" bIns="45720" rtlCol="0">
            <a:normAutofit/>
          </a:bodyPr>
          <a:lstStyle/>
          <a:p>
            <a:endParaRPr lang="en-US" sz="2400" kern="1200">
              <a:solidFill>
                <a:schemeClr val="tx1"/>
              </a:solidFill>
              <a:latin typeface="+mn-lt"/>
              <a:ea typeface="+mn-ea"/>
              <a:cs typeface="+mn-cs"/>
            </a:endParaRPr>
          </a:p>
        </p:txBody>
      </p:sp>
      <p:sp>
        <p:nvSpPr>
          <p:cNvPr id="4" name="Slide Number Placeholder 3">
            <a:extLst>
              <a:ext uri="{FF2B5EF4-FFF2-40B4-BE49-F238E27FC236}">
                <a16:creationId xmlns:a16="http://schemas.microsoft.com/office/drawing/2014/main" id="{B8A3B02F-6158-4B87-999A-A28562C8C51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6CAF4049-4BD5-4594-BBB0-3B6F66E7E670}" type="slidenum">
              <a:rPr lang="en-US" smtClean="0"/>
              <a:pPr>
                <a:spcAft>
                  <a:spcPts val="600"/>
                </a:spcAft>
              </a:pPr>
              <a:t>10</a:t>
            </a:fld>
            <a:endParaRPr lang="en-US"/>
          </a:p>
        </p:txBody>
      </p:sp>
    </p:spTree>
    <p:extLst>
      <p:ext uri="{BB962C8B-B14F-4D97-AF65-F5344CB8AC3E}">
        <p14:creationId xmlns:p14="http://schemas.microsoft.com/office/powerpoint/2010/main" val="36640150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0936" y="640080"/>
            <a:ext cx="4818888" cy="1481328"/>
          </a:xfrm>
        </p:spPr>
        <p:txBody>
          <a:bodyPr anchor="b">
            <a:normAutofit/>
          </a:bodyPr>
          <a:lstStyle/>
          <a:p>
            <a:r>
              <a:rPr lang="es-MX" sz="5000"/>
              <a:t>Sistemas caóticos</a:t>
            </a:r>
          </a:p>
        </p:txBody>
      </p:sp>
      <p:sp>
        <p:nvSpPr>
          <p:cNvPr id="3" name="Marcador de contenido 2"/>
          <p:cNvSpPr>
            <a:spLocks noGrp="1"/>
          </p:cNvSpPr>
          <p:nvPr>
            <p:ph idx="1"/>
          </p:nvPr>
        </p:nvSpPr>
        <p:spPr>
          <a:xfrm>
            <a:off x="630936" y="2660904"/>
            <a:ext cx="4818888" cy="3547872"/>
          </a:xfrm>
        </p:spPr>
        <p:txBody>
          <a:bodyPr anchor="t">
            <a:normAutofit/>
          </a:bodyPr>
          <a:lstStyle/>
          <a:p>
            <a:r>
              <a:rPr lang="es-MX" sz="2200"/>
              <a:t>Edward Lorenz – 1963</a:t>
            </a:r>
          </a:p>
          <a:p>
            <a:pPr lvl="1"/>
            <a:r>
              <a:rPr lang="es-MX" sz="2200"/>
              <a:t>Sistema de Lorenz</a:t>
            </a:r>
          </a:p>
          <a:p>
            <a:pPr lvl="1"/>
            <a:r>
              <a:rPr lang="es-MX" sz="2200"/>
              <a:t>Mariposa de Lorenz</a:t>
            </a:r>
          </a:p>
          <a:p>
            <a:pPr lvl="1"/>
            <a:endParaRPr lang="es-MX" sz="2200"/>
          </a:p>
        </p:txBody>
      </p:sp>
      <p:pic>
        <p:nvPicPr>
          <p:cNvPr id="5" name="Imagen 4"/>
          <p:cNvPicPr>
            <a:picLocks noChangeAspect="1"/>
          </p:cNvPicPr>
          <p:nvPr/>
        </p:nvPicPr>
        <p:blipFill rotWithShape="1">
          <a:blip r:embed="rId3" cstate="print">
            <a:extLst>
              <a:ext uri="{28A0092B-C50C-407E-A947-70E740481C1C}">
                <a14:useLocalDpi xmlns:a14="http://schemas.microsoft.com/office/drawing/2010/main" val="0"/>
              </a:ext>
            </a:extLst>
          </a:blip>
          <a:srcRect l="4198" t="4783" r="-869" b="1160"/>
          <a:stretch/>
        </p:blipFill>
        <p:spPr>
          <a:xfrm>
            <a:off x="6099048" y="1329673"/>
            <a:ext cx="5458968" cy="4198654"/>
          </a:xfrm>
          <a:prstGeom prst="rect">
            <a:avLst/>
          </a:prstGeom>
        </p:spPr>
      </p:pic>
      <p:sp>
        <p:nvSpPr>
          <p:cNvPr id="4" name="Marcador de pie de página 3"/>
          <p:cNvSpPr>
            <a:spLocks noGrp="1"/>
          </p:cNvSpPr>
          <p:nvPr>
            <p:ph type="ftr" sz="quarter" idx="11"/>
          </p:nvPr>
        </p:nvSpPr>
        <p:spPr>
          <a:xfrm>
            <a:off x="4038600" y="6356350"/>
            <a:ext cx="4114800" cy="365125"/>
          </a:xfrm>
        </p:spPr>
        <p:txBody>
          <a:bodyPr>
            <a:normAutofit/>
          </a:bodyPr>
          <a:lstStyle/>
          <a:p>
            <a:pPr>
              <a:lnSpc>
                <a:spcPct val="90000"/>
              </a:lnSpc>
              <a:spcAft>
                <a:spcPts val="600"/>
              </a:spcAft>
            </a:pPr>
            <a:r>
              <a:rPr lang="en-US" sz="1000"/>
              <a:t>E. N. Lorenz, “Synchronization of chaos”, J. Atmos. Sci. 20, 130, (1963).</a:t>
            </a:r>
            <a:endParaRPr lang="es-MX" sz="1000"/>
          </a:p>
        </p:txBody>
      </p:sp>
      <p:sp>
        <p:nvSpPr>
          <p:cNvPr id="6" name="Marcador de número de diapositiva 5"/>
          <p:cNvSpPr>
            <a:spLocks noGrp="1"/>
          </p:cNvSpPr>
          <p:nvPr>
            <p:ph type="sldNum" sz="quarter" idx="12"/>
          </p:nvPr>
        </p:nvSpPr>
        <p:spPr>
          <a:xfrm>
            <a:off x="8610600" y="6356350"/>
            <a:ext cx="2743200" cy="365125"/>
          </a:xfrm>
        </p:spPr>
        <p:txBody>
          <a:bodyPr>
            <a:normAutofit/>
          </a:bodyPr>
          <a:lstStyle/>
          <a:p>
            <a:pPr>
              <a:spcAft>
                <a:spcPts val="600"/>
              </a:spcAft>
            </a:pPr>
            <a:fld id="{6CAF4049-4BD5-4594-BBB0-3B6F66E7E670}" type="slidenum">
              <a:rPr lang="es-MX" smtClean="0"/>
              <a:pPr>
                <a:spcAft>
                  <a:spcPts val="600"/>
                </a:spcAft>
              </a:pPr>
              <a:t>11</a:t>
            </a:fld>
            <a:endParaRPr lang="es-MX"/>
          </a:p>
        </p:txBody>
      </p:sp>
    </p:spTree>
    <p:extLst>
      <p:ext uri="{BB962C8B-B14F-4D97-AF65-F5344CB8AC3E}">
        <p14:creationId xmlns:p14="http://schemas.microsoft.com/office/powerpoint/2010/main" val="7720895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30936" y="640080"/>
            <a:ext cx="4818888" cy="1481328"/>
          </a:xfrm>
        </p:spPr>
        <p:txBody>
          <a:bodyPr anchor="b">
            <a:normAutofit/>
          </a:bodyPr>
          <a:lstStyle/>
          <a:p>
            <a:r>
              <a:rPr lang="es-MX" sz="5000"/>
              <a:t>Sistemas caóticos</a:t>
            </a:r>
          </a:p>
        </p:txBody>
      </p:sp>
      <p:sp>
        <p:nvSpPr>
          <p:cNvPr id="3" name="Marcador de contenido 2"/>
          <p:cNvSpPr>
            <a:spLocks noGrp="1"/>
          </p:cNvSpPr>
          <p:nvPr>
            <p:ph idx="1"/>
          </p:nvPr>
        </p:nvSpPr>
        <p:spPr>
          <a:xfrm>
            <a:off x="630936" y="2660904"/>
            <a:ext cx="4818888" cy="3547872"/>
          </a:xfrm>
        </p:spPr>
        <p:txBody>
          <a:bodyPr anchor="t">
            <a:normAutofit/>
          </a:bodyPr>
          <a:lstStyle/>
          <a:p>
            <a:r>
              <a:rPr lang="es-MX" sz="2200"/>
              <a:t>Periodicidad - Caocidad</a:t>
            </a:r>
          </a:p>
        </p:txBody>
      </p:sp>
      <p:pic>
        <p:nvPicPr>
          <p:cNvPr id="4" name="Imagen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99048" y="1997537"/>
            <a:ext cx="5458968" cy="2862925"/>
          </a:xfrm>
          <a:prstGeom prst="rect">
            <a:avLst/>
          </a:prstGeom>
        </p:spPr>
      </p:pic>
      <p:sp>
        <p:nvSpPr>
          <p:cNvPr id="5" name="Marcador de número de diapositiva 4"/>
          <p:cNvSpPr>
            <a:spLocks noGrp="1"/>
          </p:cNvSpPr>
          <p:nvPr>
            <p:ph type="sldNum" sz="quarter" idx="12"/>
          </p:nvPr>
        </p:nvSpPr>
        <p:spPr>
          <a:xfrm>
            <a:off x="8610600" y="6356350"/>
            <a:ext cx="2743200" cy="365125"/>
          </a:xfrm>
        </p:spPr>
        <p:txBody>
          <a:bodyPr>
            <a:normAutofit/>
          </a:bodyPr>
          <a:lstStyle/>
          <a:p>
            <a:pPr>
              <a:spcAft>
                <a:spcPts val="600"/>
              </a:spcAft>
            </a:pPr>
            <a:fld id="{6CAF4049-4BD5-4594-BBB0-3B6F66E7E670}" type="slidenum">
              <a:rPr lang="es-MX" smtClean="0"/>
              <a:pPr>
                <a:spcAft>
                  <a:spcPts val="600"/>
                </a:spcAft>
              </a:pPr>
              <a:t>12</a:t>
            </a:fld>
            <a:endParaRPr lang="es-MX"/>
          </a:p>
        </p:txBody>
      </p:sp>
    </p:spTree>
    <p:extLst>
      <p:ext uri="{BB962C8B-B14F-4D97-AF65-F5344CB8AC3E}">
        <p14:creationId xmlns:p14="http://schemas.microsoft.com/office/powerpoint/2010/main" val="2580047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58C0D3-6B68-4310-8AB1-9C732CF0ED42}"/>
              </a:ext>
            </a:extLst>
          </p:cNvPr>
          <p:cNvSpPr>
            <a:spLocks noGrp="1"/>
          </p:cNvSpPr>
          <p:nvPr>
            <p:ph type="sldNum" sz="quarter" idx="12"/>
          </p:nvPr>
        </p:nvSpPr>
        <p:spPr/>
        <p:txBody>
          <a:bodyPr>
            <a:normAutofit/>
          </a:bodyPr>
          <a:lstStyle/>
          <a:p>
            <a:fld id="{6CAF4049-4BD5-4594-BBB0-3B6F66E7E670}" type="slidenum">
              <a:rPr lang="es-MX" smtClean="0"/>
              <a:t>13</a:t>
            </a:fld>
            <a:endParaRPr lang="es-MX"/>
          </a:p>
        </p:txBody>
      </p:sp>
      <p:pic>
        <p:nvPicPr>
          <p:cNvPr id="5" name="Picture 5" descr="Text&#10;&#10;Description automatically generated">
            <a:extLst>
              <a:ext uri="{FF2B5EF4-FFF2-40B4-BE49-F238E27FC236}">
                <a16:creationId xmlns:a16="http://schemas.microsoft.com/office/drawing/2014/main" id="{2E3040D0-54F2-45ED-BF07-3AFE2D5C3C2E}"/>
              </a:ext>
            </a:extLst>
          </p:cNvPr>
          <p:cNvPicPr>
            <a:picLocks noChangeAspect="1"/>
          </p:cNvPicPr>
          <p:nvPr/>
        </p:nvPicPr>
        <p:blipFill>
          <a:blip r:embed="rId2"/>
          <a:stretch>
            <a:fillRect/>
          </a:stretch>
        </p:blipFill>
        <p:spPr>
          <a:xfrm>
            <a:off x="282265" y="310143"/>
            <a:ext cx="6029325" cy="3638550"/>
          </a:xfrm>
          <a:prstGeom prst="rect">
            <a:avLst/>
          </a:prstGeom>
        </p:spPr>
      </p:pic>
      <p:pic>
        <p:nvPicPr>
          <p:cNvPr id="6" name="Picture 6" descr="A picture containing graphical user interface&#10;&#10;Description automatically generated">
            <a:extLst>
              <a:ext uri="{FF2B5EF4-FFF2-40B4-BE49-F238E27FC236}">
                <a16:creationId xmlns:a16="http://schemas.microsoft.com/office/drawing/2014/main" id="{018DFB29-04E3-4B0F-8A0B-6F6DA70E5E3A}"/>
              </a:ext>
            </a:extLst>
          </p:cNvPr>
          <p:cNvPicPr>
            <a:picLocks noChangeAspect="1"/>
          </p:cNvPicPr>
          <p:nvPr/>
        </p:nvPicPr>
        <p:blipFill>
          <a:blip r:embed="rId3"/>
          <a:stretch>
            <a:fillRect/>
          </a:stretch>
        </p:blipFill>
        <p:spPr>
          <a:xfrm>
            <a:off x="4925525" y="2022475"/>
            <a:ext cx="5410200" cy="4743450"/>
          </a:xfrm>
          <a:prstGeom prst="rect">
            <a:avLst/>
          </a:prstGeom>
        </p:spPr>
      </p:pic>
    </p:spTree>
    <p:extLst>
      <p:ext uri="{BB962C8B-B14F-4D97-AF65-F5344CB8AC3E}">
        <p14:creationId xmlns:p14="http://schemas.microsoft.com/office/powerpoint/2010/main" val="14268946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416C60-6948-2425-2DF3-6EF96E3A7FC9}"/>
              </a:ext>
            </a:extLst>
          </p:cNvPr>
          <p:cNvSpPr>
            <a:spLocks noGrp="1"/>
          </p:cNvSpPr>
          <p:nvPr>
            <p:ph type="title"/>
          </p:nvPr>
        </p:nvSpPr>
        <p:spPr/>
        <p:txBody>
          <a:bodyPr/>
          <a:lstStyle/>
          <a:p>
            <a:r>
              <a:rPr lang="en-MX" dirty="0"/>
              <a:t>Rössler System</a:t>
            </a:r>
          </a:p>
        </p:txBody>
      </p:sp>
      <p:sp>
        <p:nvSpPr>
          <p:cNvPr id="4" name="Slide Number Placeholder 3">
            <a:extLst>
              <a:ext uri="{FF2B5EF4-FFF2-40B4-BE49-F238E27FC236}">
                <a16:creationId xmlns:a16="http://schemas.microsoft.com/office/drawing/2014/main" id="{106C314F-DE63-DC84-CDAB-D5B2E04AD490}"/>
              </a:ext>
            </a:extLst>
          </p:cNvPr>
          <p:cNvSpPr>
            <a:spLocks noGrp="1"/>
          </p:cNvSpPr>
          <p:nvPr>
            <p:ph type="sldNum" sz="quarter" idx="12"/>
          </p:nvPr>
        </p:nvSpPr>
        <p:spPr/>
        <p:txBody>
          <a:bodyPr/>
          <a:lstStyle/>
          <a:p>
            <a:fld id="{B4BE085C-131E-4871-906D-CE6CA8D2EB1A}" type="slidenum">
              <a:rPr lang="es-MX" smtClean="0"/>
              <a:t>14</a:t>
            </a:fld>
            <a:endParaRPr lang="es-MX"/>
          </a:p>
        </p:txBody>
      </p:sp>
      <p:pic>
        <p:nvPicPr>
          <p:cNvPr id="1026" name="Picture 2" descr="undefined">
            <a:extLst>
              <a:ext uri="{FF2B5EF4-FFF2-40B4-BE49-F238E27FC236}">
                <a16:creationId xmlns:a16="http://schemas.microsoft.com/office/drawing/2014/main" id="{A703323C-D98A-D352-C4CE-D2374A15F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63825" y="2318899"/>
            <a:ext cx="3047914" cy="3047914"/>
          </a:xfrm>
          <a:prstGeom prst="rect">
            <a:avLst/>
          </a:prstGeom>
          <a:noFill/>
          <a:extLst>
            <a:ext uri="{909E8E84-426E-40DD-AFC4-6F175D3DCCD1}">
              <a14:hiddenFill xmlns:a14="http://schemas.microsoft.com/office/drawing/2010/main">
                <a:solidFill>
                  <a:srgbClr val="FFFFFF"/>
                </a:solidFill>
              </a14:hiddenFill>
            </a:ext>
          </a:extLst>
        </p:spPr>
      </p:pic>
      <p:pic>
        <p:nvPicPr>
          <p:cNvPr id="6" name="Content Placeholder 5">
            <a:extLst>
              <a:ext uri="{FF2B5EF4-FFF2-40B4-BE49-F238E27FC236}">
                <a16:creationId xmlns:a16="http://schemas.microsoft.com/office/drawing/2014/main" id="{3089437A-A701-23E3-61E6-258BD77FEC1A}"/>
              </a:ext>
            </a:extLst>
          </p:cNvPr>
          <p:cNvPicPr>
            <a:picLocks noGrp="1" noChangeAspect="1"/>
          </p:cNvPicPr>
          <p:nvPr>
            <p:ph idx="1"/>
          </p:nvPr>
        </p:nvPicPr>
        <p:blipFill>
          <a:blip r:embed="rId3"/>
          <a:stretch>
            <a:fillRect/>
          </a:stretch>
        </p:blipFill>
        <p:spPr>
          <a:xfrm>
            <a:off x="838200" y="1674466"/>
            <a:ext cx="7711075" cy="3917092"/>
          </a:xfrm>
          <a:prstGeom prst="rect">
            <a:avLst/>
          </a:prstGeom>
        </p:spPr>
      </p:pic>
      <p:sp>
        <p:nvSpPr>
          <p:cNvPr id="8" name="TextBox 7">
            <a:extLst>
              <a:ext uri="{FF2B5EF4-FFF2-40B4-BE49-F238E27FC236}">
                <a16:creationId xmlns:a16="http://schemas.microsoft.com/office/drawing/2014/main" id="{2839D07D-53EB-857C-FD38-BD788E4811C3}"/>
              </a:ext>
            </a:extLst>
          </p:cNvPr>
          <p:cNvSpPr txBox="1"/>
          <p:nvPr/>
        </p:nvSpPr>
        <p:spPr>
          <a:xfrm>
            <a:off x="472333" y="6198255"/>
            <a:ext cx="10996413" cy="523220"/>
          </a:xfrm>
          <a:prstGeom prst="rect">
            <a:avLst/>
          </a:prstGeom>
          <a:noFill/>
        </p:spPr>
        <p:txBody>
          <a:bodyPr wrap="square">
            <a:spAutoFit/>
          </a:bodyPr>
          <a:lstStyle/>
          <a:p>
            <a:r>
              <a:rPr lang="en-US" sz="1400" b="0" i="0" dirty="0">
                <a:solidFill>
                  <a:srgbClr val="202122"/>
                </a:solidFill>
                <a:effectLst/>
                <a:latin typeface="Arial" panose="020B0604020202020204" pitchFamily="34" charset="0"/>
              </a:rPr>
              <a:t>Wikipedia contributors. (2025, July 5). Rössler attractor. In </a:t>
            </a:r>
            <a:r>
              <a:rPr lang="en-US" sz="1400" b="0" i="1" dirty="0">
                <a:solidFill>
                  <a:srgbClr val="202122"/>
                </a:solidFill>
                <a:effectLst/>
                <a:latin typeface="Arial" panose="020B0604020202020204" pitchFamily="34" charset="0"/>
              </a:rPr>
              <a:t>Wikipedia, The Free Encyclopedia</a:t>
            </a:r>
            <a:r>
              <a:rPr lang="en-US" sz="1400" b="0" i="0" dirty="0">
                <a:solidFill>
                  <a:srgbClr val="202122"/>
                </a:solidFill>
                <a:effectLst/>
                <a:latin typeface="Arial" panose="020B0604020202020204" pitchFamily="34" charset="0"/>
              </a:rPr>
              <a:t>. Retrieved 23:56, October 25, 2025, from </a:t>
            </a:r>
            <a:r>
              <a:rPr lang="en-US" sz="1400" b="0" i="0" u="none" strike="noStrike" dirty="0">
                <a:solidFill>
                  <a:srgbClr val="3366CC"/>
                </a:solidFill>
                <a:effectLst/>
                <a:latin typeface="Arial" panose="020B0604020202020204" pitchFamily="34" charset="0"/>
                <a:hlinkClick r:id="rId4"/>
              </a:rPr>
              <a:t>https://en.wikipedia.org/w/index.php?title=R%C3%B6ssler_attractor&amp;oldid=1298913303</a:t>
            </a:r>
            <a:endParaRPr lang="en-MX" sz="1400" dirty="0"/>
          </a:p>
        </p:txBody>
      </p:sp>
    </p:spTree>
    <p:extLst>
      <p:ext uri="{BB962C8B-B14F-4D97-AF65-F5344CB8AC3E}">
        <p14:creationId xmlns:p14="http://schemas.microsoft.com/office/powerpoint/2010/main" val="6120732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Bifurcacion_Rossler_Video">
            <a:hlinkClick r:id="" action="ppaction://media"/>
            <a:extLst>
              <a:ext uri="{FF2B5EF4-FFF2-40B4-BE49-F238E27FC236}">
                <a16:creationId xmlns:a16="http://schemas.microsoft.com/office/drawing/2014/main" id="{9C52DDE2-39EA-F34A-BA76-B6D5CA436D35}"/>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1641172" y="914400"/>
            <a:ext cx="8833455" cy="4968819"/>
          </a:xfrm>
          <a:prstGeom prst="rect">
            <a:avLst/>
          </a:prstGeom>
        </p:spPr>
      </p:pic>
    </p:spTree>
    <p:extLst>
      <p:ext uri="{BB962C8B-B14F-4D97-AF65-F5344CB8AC3E}">
        <p14:creationId xmlns:p14="http://schemas.microsoft.com/office/powerpoint/2010/main" val="3398702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802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0F3A1-956E-9142-427A-CF2403338F71}"/>
              </a:ext>
            </a:extLst>
          </p:cNvPr>
          <p:cNvSpPr>
            <a:spLocks noGrp="1"/>
          </p:cNvSpPr>
          <p:nvPr>
            <p:ph type="title"/>
          </p:nvPr>
        </p:nvSpPr>
        <p:spPr/>
        <p:txBody>
          <a:bodyPr/>
          <a:lstStyle/>
          <a:p>
            <a:r>
              <a:rPr lang="en-MX" dirty="0"/>
              <a:t>Differential Robot</a:t>
            </a:r>
          </a:p>
        </p:txBody>
      </p:sp>
      <p:pic>
        <p:nvPicPr>
          <p:cNvPr id="6" name="Content Placeholder 5">
            <a:extLst>
              <a:ext uri="{FF2B5EF4-FFF2-40B4-BE49-F238E27FC236}">
                <a16:creationId xmlns:a16="http://schemas.microsoft.com/office/drawing/2014/main" id="{E1972E7B-138E-D7AB-99C8-B38A4E1CA7B1}"/>
              </a:ext>
            </a:extLst>
          </p:cNvPr>
          <p:cNvPicPr>
            <a:picLocks noGrp="1" noChangeAspect="1"/>
          </p:cNvPicPr>
          <p:nvPr>
            <p:ph idx="1"/>
          </p:nvPr>
        </p:nvPicPr>
        <p:blipFill>
          <a:blip r:embed="rId2"/>
          <a:stretch>
            <a:fillRect/>
          </a:stretch>
        </p:blipFill>
        <p:spPr>
          <a:xfrm>
            <a:off x="838200" y="1825625"/>
            <a:ext cx="7856582" cy="4351338"/>
          </a:xfrm>
          <a:prstGeom prst="rect">
            <a:avLst/>
          </a:prstGeom>
        </p:spPr>
      </p:pic>
      <p:sp>
        <p:nvSpPr>
          <p:cNvPr id="4" name="Slide Number Placeholder 3">
            <a:extLst>
              <a:ext uri="{FF2B5EF4-FFF2-40B4-BE49-F238E27FC236}">
                <a16:creationId xmlns:a16="http://schemas.microsoft.com/office/drawing/2014/main" id="{543594CC-C1CC-D3E6-1006-7DB931B53D97}"/>
              </a:ext>
            </a:extLst>
          </p:cNvPr>
          <p:cNvSpPr>
            <a:spLocks noGrp="1"/>
          </p:cNvSpPr>
          <p:nvPr>
            <p:ph type="sldNum" sz="quarter" idx="12"/>
          </p:nvPr>
        </p:nvSpPr>
        <p:spPr/>
        <p:txBody>
          <a:bodyPr/>
          <a:lstStyle/>
          <a:p>
            <a:fld id="{B4BE085C-131E-4871-906D-CE6CA8D2EB1A}" type="slidenum">
              <a:rPr lang="es-MX" smtClean="0"/>
              <a:t>16</a:t>
            </a:fld>
            <a:endParaRPr lang="es-MX"/>
          </a:p>
        </p:txBody>
      </p:sp>
      <p:pic>
        <p:nvPicPr>
          <p:cNvPr id="5" name="Picture 4">
            <a:extLst>
              <a:ext uri="{FF2B5EF4-FFF2-40B4-BE49-F238E27FC236}">
                <a16:creationId xmlns:a16="http://schemas.microsoft.com/office/drawing/2014/main" id="{6379736D-4D97-ADDC-235F-9D62949987CE}"/>
              </a:ext>
            </a:extLst>
          </p:cNvPr>
          <p:cNvPicPr>
            <a:picLocks noChangeAspect="1"/>
          </p:cNvPicPr>
          <p:nvPr/>
        </p:nvPicPr>
        <p:blipFill>
          <a:blip r:embed="rId3"/>
          <a:stretch>
            <a:fillRect/>
          </a:stretch>
        </p:blipFill>
        <p:spPr>
          <a:xfrm>
            <a:off x="8610600" y="2767912"/>
            <a:ext cx="3173375" cy="3007519"/>
          </a:xfrm>
          <a:prstGeom prst="rect">
            <a:avLst/>
          </a:prstGeom>
        </p:spPr>
      </p:pic>
    </p:spTree>
    <p:extLst>
      <p:ext uri="{BB962C8B-B14F-4D97-AF65-F5344CB8AC3E}">
        <p14:creationId xmlns:p14="http://schemas.microsoft.com/office/powerpoint/2010/main" val="8299738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BF328A-835A-098D-9277-9FC9CF4F26C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BEB714D-31A0-CA73-998A-72E809E7058C}"/>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2</a:t>
            </a:r>
            <a:r>
              <a:rPr lang="en-US" sz="8000" b="1" kern="1200" dirty="0">
                <a:solidFill>
                  <a:schemeClr val="tx1"/>
                </a:solidFill>
                <a:latin typeface="+mj-lt"/>
                <a:ea typeface="+mj-ea"/>
                <a:cs typeface="+mj-cs"/>
              </a:rPr>
              <a:t>. </a:t>
            </a:r>
            <a:r>
              <a:rPr lang="en-US" sz="8000" b="1" kern="1200" dirty="0" err="1">
                <a:solidFill>
                  <a:schemeClr val="tx1"/>
                </a:solidFill>
                <a:latin typeface="+mj-lt"/>
                <a:ea typeface="+mj-ea"/>
                <a:cs typeface="+mj-cs"/>
              </a:rPr>
              <a:t>Introducción</a:t>
            </a:r>
            <a:r>
              <a:rPr lang="en-US" sz="8000" b="1" kern="1200" dirty="0">
                <a:solidFill>
                  <a:schemeClr val="tx1"/>
                </a:solidFill>
                <a:latin typeface="+mj-lt"/>
                <a:ea typeface="+mj-ea"/>
                <a:cs typeface="+mj-cs"/>
              </a:rPr>
              <a:t> a redes </a:t>
            </a:r>
            <a:r>
              <a:rPr lang="en-US" sz="8000" b="1" kern="1200" dirty="0" err="1">
                <a:solidFill>
                  <a:schemeClr val="tx1"/>
                </a:solidFill>
                <a:latin typeface="+mj-lt"/>
                <a:ea typeface="+mj-ea"/>
                <a:cs typeface="+mj-cs"/>
              </a:rPr>
              <a:t>neuronales</a:t>
            </a:r>
            <a:r>
              <a:rPr lang="en-US" sz="8000" b="1" kern="1200" dirty="0">
                <a:solidFill>
                  <a:schemeClr val="tx1"/>
                </a:solidFill>
                <a:latin typeface="+mj-lt"/>
                <a:ea typeface="+mj-ea"/>
                <a:cs typeface="+mj-cs"/>
              </a:rPr>
              <a:t> (RN)</a:t>
            </a:r>
          </a:p>
        </p:txBody>
      </p:sp>
      <p:sp>
        <p:nvSpPr>
          <p:cNvPr id="3" name="Text Placeholder 2">
            <a:extLst>
              <a:ext uri="{FF2B5EF4-FFF2-40B4-BE49-F238E27FC236}">
                <a16:creationId xmlns:a16="http://schemas.microsoft.com/office/drawing/2014/main" id="{6207C460-A51B-A2EB-4284-E6B74A2654EF}"/>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E7B56BB8-DE3D-8A89-2E6A-B98FEAE129D1}"/>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17</a:t>
            </a:fld>
            <a:endParaRPr lang="en-US">
              <a:solidFill>
                <a:schemeClr val="tx1">
                  <a:lumMod val="50000"/>
                  <a:lumOff val="50000"/>
                </a:schemeClr>
              </a:solidFill>
            </a:endParaRPr>
          </a:p>
        </p:txBody>
      </p:sp>
    </p:spTree>
    <p:extLst>
      <p:ext uri="{BB962C8B-B14F-4D97-AF65-F5344CB8AC3E}">
        <p14:creationId xmlns:p14="http://schemas.microsoft.com/office/powerpoint/2010/main" val="23918969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B37C9-234B-66F3-5EE5-5C4D7D45B5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93FCF5-86AD-07B9-96D8-1465F581E891}"/>
              </a:ext>
            </a:extLst>
          </p:cNvPr>
          <p:cNvSpPr>
            <a:spLocks noGrp="1"/>
          </p:cNvSpPr>
          <p:nvPr>
            <p:ph type="title"/>
          </p:nvPr>
        </p:nvSpPr>
        <p:spPr/>
        <p:txBody>
          <a:bodyPr/>
          <a:lstStyle/>
          <a:p>
            <a:r>
              <a:rPr lang="en-US" dirty="0" err="1"/>
              <a:t>Aprendizaje</a:t>
            </a:r>
            <a:r>
              <a:rPr lang="en-US" dirty="0"/>
              <a:t> profundo: redes </a:t>
            </a:r>
            <a:r>
              <a:rPr lang="en-US" dirty="0" err="1"/>
              <a:t>neuronales</a:t>
            </a:r>
            <a:r>
              <a:rPr lang="en-US" dirty="0"/>
              <a:t> </a:t>
            </a:r>
            <a:r>
              <a:rPr lang="en-US" dirty="0" err="1"/>
              <a:t>artificiales</a:t>
            </a:r>
            <a:endParaRPr lang="en-US" dirty="0"/>
          </a:p>
        </p:txBody>
      </p:sp>
      <p:sp>
        <p:nvSpPr>
          <p:cNvPr id="3" name="Content Placeholder 2">
            <a:extLst>
              <a:ext uri="{FF2B5EF4-FFF2-40B4-BE49-F238E27FC236}">
                <a16:creationId xmlns:a16="http://schemas.microsoft.com/office/drawing/2014/main" id="{F32491DB-CC14-D9C0-A4E3-BF38D239A193}"/>
              </a:ext>
            </a:extLst>
          </p:cNvPr>
          <p:cNvSpPr>
            <a:spLocks noGrp="1"/>
          </p:cNvSpPr>
          <p:nvPr>
            <p:ph idx="1"/>
          </p:nvPr>
        </p:nvSpPr>
        <p:spPr/>
        <p:txBody>
          <a:bodyPr/>
          <a:lstStyle/>
          <a:p>
            <a:r>
              <a:rPr lang="en-US" dirty="0" err="1"/>
              <a:t>Inspirado</a:t>
            </a:r>
            <a:r>
              <a:rPr lang="en-US" dirty="0"/>
              <a:t> </a:t>
            </a:r>
            <a:r>
              <a:rPr lang="en-US" dirty="0" err="1"/>
              <a:t>en</a:t>
            </a:r>
            <a:r>
              <a:rPr lang="en-US" dirty="0"/>
              <a:t> </a:t>
            </a:r>
            <a:r>
              <a:rPr lang="en-US" dirty="0" err="1"/>
              <a:t>modelos</a:t>
            </a:r>
            <a:r>
              <a:rPr lang="en-US" dirty="0"/>
              <a:t> </a:t>
            </a:r>
            <a:r>
              <a:rPr lang="en-US" dirty="0" err="1"/>
              <a:t>neuronales</a:t>
            </a:r>
            <a:r>
              <a:rPr lang="en-US" dirty="0"/>
              <a:t> </a:t>
            </a:r>
            <a:r>
              <a:rPr lang="en-US" dirty="0" err="1"/>
              <a:t>biológicos</a:t>
            </a:r>
            <a:endParaRPr lang="en-US" dirty="0"/>
          </a:p>
          <a:p>
            <a:r>
              <a:rPr lang="en-US" dirty="0" err="1"/>
              <a:t>Estructuras</a:t>
            </a:r>
            <a:r>
              <a:rPr lang="en-US" dirty="0"/>
              <a:t> </a:t>
            </a:r>
            <a:r>
              <a:rPr lang="en-US" dirty="0" err="1"/>
              <a:t>compuestas</a:t>
            </a:r>
            <a:r>
              <a:rPr lang="en-US" dirty="0"/>
              <a:t> </a:t>
            </a:r>
            <a:r>
              <a:rPr lang="en-US" dirty="0" err="1"/>
              <a:t>por</a:t>
            </a:r>
            <a:r>
              <a:rPr lang="en-US" dirty="0"/>
              <a:t> redes de </a:t>
            </a:r>
            <a:r>
              <a:rPr lang="en-US" dirty="0" err="1"/>
              <a:t>neuronas</a:t>
            </a:r>
            <a:endParaRPr lang="en-US" dirty="0"/>
          </a:p>
          <a:p>
            <a:r>
              <a:rPr lang="en-US" dirty="0" err="1"/>
              <a:t>Procesa</a:t>
            </a:r>
            <a:r>
              <a:rPr lang="en-US" dirty="0"/>
              <a:t> </a:t>
            </a:r>
            <a:r>
              <a:rPr lang="en-US" dirty="0" err="1"/>
              <a:t>información</a:t>
            </a:r>
            <a:r>
              <a:rPr lang="en-US" dirty="0"/>
              <a:t> de </a:t>
            </a:r>
            <a:r>
              <a:rPr lang="en-US" dirty="0" err="1"/>
              <a:t>múltiples</a:t>
            </a:r>
            <a:r>
              <a:rPr lang="en-US" dirty="0"/>
              <a:t> entradas </a:t>
            </a:r>
            <a:r>
              <a:rPr lang="en-US" dirty="0" err="1"/>
              <a:t>como</a:t>
            </a:r>
            <a:r>
              <a:rPr lang="en-US" dirty="0"/>
              <a:t> </a:t>
            </a:r>
            <a:r>
              <a:rPr lang="en-US" dirty="0" err="1"/>
              <a:t>sinapsis</a:t>
            </a:r>
            <a:endParaRPr lang="en-US" dirty="0"/>
          </a:p>
          <a:p>
            <a:r>
              <a:rPr lang="en-US" dirty="0"/>
              <a:t>El </a:t>
            </a:r>
            <a:r>
              <a:rPr lang="en-US" dirty="0" err="1"/>
              <a:t>algoritmo</a:t>
            </a:r>
            <a:r>
              <a:rPr lang="en-US" dirty="0"/>
              <a:t> se </a:t>
            </a:r>
            <a:r>
              <a:rPr lang="en-US" dirty="0" err="1"/>
              <a:t>entrena</a:t>
            </a:r>
            <a:r>
              <a:rPr lang="en-US" dirty="0"/>
              <a:t> a </a:t>
            </a:r>
            <a:r>
              <a:rPr lang="en-US" dirty="0" err="1"/>
              <a:t>sí</a:t>
            </a:r>
            <a:r>
              <a:rPr lang="en-US" dirty="0"/>
              <a:t> </a:t>
            </a:r>
            <a:r>
              <a:rPr lang="en-US" dirty="0" err="1"/>
              <a:t>mismo</a:t>
            </a:r>
            <a:r>
              <a:rPr lang="en-US" dirty="0"/>
              <a:t> a lo largo de </a:t>
            </a:r>
            <a:r>
              <a:rPr lang="en-US" dirty="0" err="1"/>
              <a:t>épocas</a:t>
            </a:r>
            <a:endParaRPr lang="en-US" dirty="0"/>
          </a:p>
        </p:txBody>
      </p:sp>
      <p:sp>
        <p:nvSpPr>
          <p:cNvPr id="4" name="Slide Number Placeholder 3">
            <a:extLst>
              <a:ext uri="{FF2B5EF4-FFF2-40B4-BE49-F238E27FC236}">
                <a16:creationId xmlns:a16="http://schemas.microsoft.com/office/drawing/2014/main" id="{DE14878E-CAD8-AFE5-83EB-DBD01CD79A28}"/>
              </a:ext>
            </a:extLst>
          </p:cNvPr>
          <p:cNvSpPr>
            <a:spLocks noGrp="1"/>
          </p:cNvSpPr>
          <p:nvPr>
            <p:ph type="sldNum" sz="quarter" idx="12"/>
          </p:nvPr>
        </p:nvSpPr>
        <p:spPr/>
        <p:txBody>
          <a:bodyPr/>
          <a:lstStyle/>
          <a:p>
            <a:fld id="{B4BE085C-131E-4871-906D-CE6CA8D2EB1A}" type="slidenum">
              <a:rPr lang="es-MX" smtClean="0"/>
              <a:t>18</a:t>
            </a:fld>
            <a:endParaRPr lang="es-MX"/>
          </a:p>
        </p:txBody>
      </p:sp>
    </p:spTree>
    <p:extLst>
      <p:ext uri="{BB962C8B-B14F-4D97-AF65-F5344CB8AC3E}">
        <p14:creationId xmlns:p14="http://schemas.microsoft.com/office/powerpoint/2010/main" val="28096371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984A57-583A-27C7-5A23-2D7BD99159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FDA761-EBAC-1052-500D-7D32DE3F3EA0}"/>
              </a:ext>
            </a:extLst>
          </p:cNvPr>
          <p:cNvSpPr>
            <a:spLocks noGrp="1"/>
          </p:cNvSpPr>
          <p:nvPr>
            <p:ph type="title"/>
          </p:nvPr>
        </p:nvSpPr>
        <p:spPr/>
        <p:txBody>
          <a:bodyPr/>
          <a:lstStyle/>
          <a:p>
            <a:r>
              <a:rPr lang="en-US" dirty="0"/>
              <a:t>Historia de RN (I)</a:t>
            </a:r>
          </a:p>
        </p:txBody>
      </p:sp>
      <p:sp>
        <p:nvSpPr>
          <p:cNvPr id="3" name="Content Placeholder 2">
            <a:extLst>
              <a:ext uri="{FF2B5EF4-FFF2-40B4-BE49-F238E27FC236}">
                <a16:creationId xmlns:a16="http://schemas.microsoft.com/office/drawing/2014/main" id="{001F0672-BD8A-9EE9-E95C-C55313B9B23F}"/>
              </a:ext>
            </a:extLst>
          </p:cNvPr>
          <p:cNvSpPr>
            <a:spLocks noGrp="1"/>
          </p:cNvSpPr>
          <p:nvPr>
            <p:ph idx="1"/>
          </p:nvPr>
        </p:nvSpPr>
        <p:spPr>
          <a:xfrm>
            <a:off x="1966824" y="2002433"/>
            <a:ext cx="9683310" cy="4095332"/>
          </a:xfrm>
        </p:spPr>
        <p:txBody>
          <a:bodyPr>
            <a:normAutofit lnSpcReduction="10000"/>
          </a:bodyPr>
          <a:lstStyle/>
          <a:p>
            <a:r>
              <a:rPr lang="en-US" dirty="0"/>
              <a:t>El </a:t>
            </a:r>
            <a:r>
              <a:rPr lang="en-US" dirty="0" err="1"/>
              <a:t>artículo</a:t>
            </a:r>
            <a:r>
              <a:rPr lang="en-US" dirty="0"/>
              <a:t> de </a:t>
            </a:r>
            <a:r>
              <a:rPr lang="en-US" b="1" dirty="0"/>
              <a:t>Turing</a:t>
            </a:r>
            <a:r>
              <a:rPr lang="en-US" dirty="0"/>
              <a:t>, "</a:t>
            </a:r>
            <a:r>
              <a:rPr lang="en-US" dirty="0" err="1"/>
              <a:t>Sobre</a:t>
            </a:r>
            <a:r>
              <a:rPr lang="en-US" dirty="0"/>
              <a:t> </a:t>
            </a:r>
            <a:r>
              <a:rPr lang="en-US" dirty="0" err="1"/>
              <a:t>los</a:t>
            </a:r>
            <a:r>
              <a:rPr lang="en-US" dirty="0"/>
              <a:t> </a:t>
            </a:r>
            <a:r>
              <a:rPr lang="en-US" dirty="0" err="1"/>
              <a:t>números</a:t>
            </a:r>
            <a:r>
              <a:rPr lang="en-US" dirty="0"/>
              <a:t> </a:t>
            </a:r>
            <a:r>
              <a:rPr lang="en-US" dirty="0" err="1"/>
              <a:t>computables</a:t>
            </a:r>
            <a:r>
              <a:rPr lang="en-US" dirty="0"/>
              <a:t>", </a:t>
            </a:r>
            <a:r>
              <a:rPr lang="en-US" dirty="0" err="1"/>
              <a:t>utilizaba</a:t>
            </a:r>
            <a:r>
              <a:rPr lang="en-US" dirty="0"/>
              <a:t> "</a:t>
            </a:r>
            <a:r>
              <a:rPr lang="en-US" dirty="0" err="1"/>
              <a:t>neuronas</a:t>
            </a:r>
            <a:r>
              <a:rPr lang="en-US" dirty="0"/>
              <a:t>" </a:t>
            </a:r>
            <a:r>
              <a:rPr lang="en-US" dirty="0" err="1"/>
              <a:t>booleanas</a:t>
            </a:r>
            <a:r>
              <a:rPr lang="en-US" dirty="0"/>
              <a:t> de dos </a:t>
            </a:r>
            <a:r>
              <a:rPr lang="en-US" dirty="0" err="1"/>
              <a:t>estados</a:t>
            </a:r>
            <a:r>
              <a:rPr lang="en-US" dirty="0"/>
              <a:t> </a:t>
            </a:r>
            <a:r>
              <a:rPr lang="en-US" dirty="0" err="1"/>
              <a:t>similares</a:t>
            </a:r>
            <a:r>
              <a:rPr lang="en-US" dirty="0"/>
              <a:t>.</a:t>
            </a:r>
          </a:p>
          <a:p>
            <a:r>
              <a:rPr lang="en-US" b="1" dirty="0"/>
              <a:t>McCulloch-Pitts</a:t>
            </a:r>
            <a:r>
              <a:rPr lang="en-US" dirty="0"/>
              <a:t> </a:t>
            </a:r>
            <a:r>
              <a:rPr lang="en-US" dirty="0" err="1"/>
              <a:t>analizó</a:t>
            </a:r>
            <a:r>
              <a:rPr lang="en-US" dirty="0"/>
              <a:t> redes de </a:t>
            </a:r>
            <a:r>
              <a:rPr lang="en-US" dirty="0" err="1"/>
              <a:t>neuronas</a:t>
            </a:r>
            <a:r>
              <a:rPr lang="en-US" dirty="0"/>
              <a:t> </a:t>
            </a:r>
            <a:r>
              <a:rPr lang="en-US" dirty="0" err="1"/>
              <a:t>artificiales</a:t>
            </a:r>
            <a:r>
              <a:rPr lang="en-US" dirty="0"/>
              <a:t> </a:t>
            </a:r>
            <a:r>
              <a:rPr lang="en-US" dirty="0" err="1"/>
              <a:t>idealizadas</a:t>
            </a:r>
            <a:r>
              <a:rPr lang="en-US" dirty="0"/>
              <a:t> y </a:t>
            </a:r>
            <a:r>
              <a:rPr lang="en-US" dirty="0" err="1"/>
              <a:t>demostró</a:t>
            </a:r>
            <a:r>
              <a:rPr lang="en-US" dirty="0"/>
              <a:t> </a:t>
            </a:r>
            <a:r>
              <a:rPr lang="en-US" dirty="0" err="1"/>
              <a:t>cómo</a:t>
            </a:r>
            <a:r>
              <a:rPr lang="en-US" dirty="0"/>
              <a:t> </a:t>
            </a:r>
            <a:r>
              <a:rPr lang="en-US" dirty="0" err="1"/>
              <a:t>podían</a:t>
            </a:r>
            <a:r>
              <a:rPr lang="en-US" dirty="0"/>
              <a:t> </a:t>
            </a:r>
            <a:r>
              <a:rPr lang="en-US" dirty="0" err="1"/>
              <a:t>realizar</a:t>
            </a:r>
            <a:r>
              <a:rPr lang="en-US" dirty="0"/>
              <a:t> </a:t>
            </a:r>
            <a:r>
              <a:rPr lang="en-US" dirty="0" err="1"/>
              <a:t>funciones</a:t>
            </a:r>
            <a:r>
              <a:rPr lang="en-US" dirty="0"/>
              <a:t> </a:t>
            </a:r>
            <a:r>
              <a:rPr lang="en-US" dirty="0" err="1"/>
              <a:t>lógicas</a:t>
            </a:r>
            <a:r>
              <a:rPr lang="en-US" dirty="0"/>
              <a:t> simples.</a:t>
            </a:r>
          </a:p>
          <a:p>
            <a:r>
              <a:rPr lang="en-US" dirty="0"/>
              <a:t>El taller de Dartmouth </a:t>
            </a:r>
            <a:r>
              <a:rPr lang="en-US" dirty="0" err="1"/>
              <a:t>fue</a:t>
            </a:r>
            <a:r>
              <a:rPr lang="en-US" dirty="0"/>
              <a:t> </a:t>
            </a:r>
            <a:r>
              <a:rPr lang="en-US" dirty="0" err="1"/>
              <a:t>organizado</a:t>
            </a:r>
            <a:r>
              <a:rPr lang="en-US" dirty="0"/>
              <a:t> </a:t>
            </a:r>
            <a:r>
              <a:rPr lang="en-US" dirty="0" err="1"/>
              <a:t>por</a:t>
            </a:r>
            <a:r>
              <a:rPr lang="en-US" dirty="0"/>
              <a:t> </a:t>
            </a:r>
            <a:r>
              <a:rPr lang="en-US" b="1" dirty="0"/>
              <a:t>Marvin Minsky y John McCarthy</a:t>
            </a:r>
            <a:r>
              <a:rPr lang="en-US" dirty="0"/>
              <a:t>, con </a:t>
            </a:r>
            <a:r>
              <a:rPr lang="en-US" dirty="0" err="1"/>
              <a:t>el</a:t>
            </a:r>
            <a:r>
              <a:rPr lang="en-US" dirty="0"/>
              <a:t> </a:t>
            </a:r>
            <a:r>
              <a:rPr lang="en-US" dirty="0" err="1"/>
              <a:t>apoyo</a:t>
            </a:r>
            <a:r>
              <a:rPr lang="en-US" dirty="0"/>
              <a:t> de </a:t>
            </a:r>
            <a:r>
              <a:rPr lang="en-US" dirty="0" err="1"/>
              <a:t>los</a:t>
            </a:r>
            <a:r>
              <a:rPr lang="en-US" dirty="0"/>
              <a:t> </a:t>
            </a:r>
            <a:r>
              <a:rPr lang="en-US" dirty="0" err="1"/>
              <a:t>científicos</a:t>
            </a:r>
            <a:r>
              <a:rPr lang="en-US" dirty="0"/>
              <a:t> </a:t>
            </a:r>
            <a:r>
              <a:rPr lang="en-US" dirty="0" err="1"/>
              <a:t>sénior</a:t>
            </a:r>
            <a:r>
              <a:rPr lang="en-US" dirty="0"/>
              <a:t> </a:t>
            </a:r>
            <a:r>
              <a:rPr lang="en-US" b="1" dirty="0"/>
              <a:t>Claude Shannon y Nathan Rochester</a:t>
            </a:r>
            <a:r>
              <a:rPr lang="en-US" dirty="0"/>
              <a:t>.</a:t>
            </a:r>
          </a:p>
          <a:p>
            <a:r>
              <a:rPr lang="en-US" dirty="0"/>
              <a:t>El </a:t>
            </a:r>
            <a:r>
              <a:rPr lang="en-US" dirty="0" err="1"/>
              <a:t>perceptrón</a:t>
            </a:r>
            <a:r>
              <a:rPr lang="en-US" dirty="0"/>
              <a:t>, </a:t>
            </a:r>
            <a:r>
              <a:rPr lang="en-US" dirty="0" err="1"/>
              <a:t>una</a:t>
            </a:r>
            <a:r>
              <a:rPr lang="en-US" dirty="0"/>
              <a:t> red neuronal de </a:t>
            </a:r>
            <a:r>
              <a:rPr lang="en-US" dirty="0" err="1"/>
              <a:t>una</a:t>
            </a:r>
            <a:r>
              <a:rPr lang="en-US" dirty="0"/>
              <a:t> sola </a:t>
            </a:r>
            <a:r>
              <a:rPr lang="en-US" dirty="0" err="1"/>
              <a:t>capa</a:t>
            </a:r>
            <a:r>
              <a:rPr lang="en-US" dirty="0"/>
              <a:t>, </a:t>
            </a:r>
            <a:r>
              <a:rPr lang="en-US" dirty="0" err="1"/>
              <a:t>fue</a:t>
            </a:r>
            <a:r>
              <a:rPr lang="en-US" dirty="0"/>
              <a:t> </a:t>
            </a:r>
            <a:r>
              <a:rPr lang="en-US" dirty="0" err="1"/>
              <a:t>presentado</a:t>
            </a:r>
            <a:r>
              <a:rPr lang="en-US" dirty="0"/>
              <a:t> </a:t>
            </a:r>
            <a:r>
              <a:rPr lang="en-US" dirty="0" err="1"/>
              <a:t>por</a:t>
            </a:r>
            <a:r>
              <a:rPr lang="en-US" dirty="0"/>
              <a:t> </a:t>
            </a:r>
            <a:r>
              <a:rPr lang="en-US" b="1" dirty="0"/>
              <a:t>Frank Rosenblatt</a:t>
            </a:r>
            <a:r>
              <a:rPr lang="en-US" dirty="0"/>
              <a:t>.</a:t>
            </a:r>
          </a:p>
        </p:txBody>
      </p:sp>
      <p:sp>
        <p:nvSpPr>
          <p:cNvPr id="4" name="Slide Number Placeholder 3">
            <a:extLst>
              <a:ext uri="{FF2B5EF4-FFF2-40B4-BE49-F238E27FC236}">
                <a16:creationId xmlns:a16="http://schemas.microsoft.com/office/drawing/2014/main" id="{1980F46A-AF7C-0560-ED65-6935ABDC686D}"/>
              </a:ext>
            </a:extLst>
          </p:cNvPr>
          <p:cNvSpPr>
            <a:spLocks noGrp="1"/>
          </p:cNvSpPr>
          <p:nvPr>
            <p:ph type="sldNum" sz="quarter" idx="12"/>
          </p:nvPr>
        </p:nvSpPr>
        <p:spPr/>
        <p:txBody>
          <a:bodyPr/>
          <a:lstStyle/>
          <a:p>
            <a:fld id="{B4BE085C-131E-4871-906D-CE6CA8D2EB1A}" type="slidenum">
              <a:rPr lang="es-MX" smtClean="0"/>
              <a:t>19</a:t>
            </a:fld>
            <a:endParaRPr lang="es-MX"/>
          </a:p>
        </p:txBody>
      </p:sp>
      <p:sp>
        <p:nvSpPr>
          <p:cNvPr id="5" name="TextBox 4">
            <a:extLst>
              <a:ext uri="{FF2B5EF4-FFF2-40B4-BE49-F238E27FC236}">
                <a16:creationId xmlns:a16="http://schemas.microsoft.com/office/drawing/2014/main" id="{F58AC3C7-7F7E-AD7A-C252-80250E7085B4}"/>
              </a:ext>
            </a:extLst>
          </p:cNvPr>
          <p:cNvSpPr txBox="1"/>
          <p:nvPr/>
        </p:nvSpPr>
        <p:spPr>
          <a:xfrm>
            <a:off x="838200" y="6352143"/>
            <a:ext cx="10709983"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a:t>McCulloch, W. S., &amp; Pitts, W. (1943). Bulletin of Mathematical Biophysics, 5, 115-133.</a:t>
            </a:r>
          </a:p>
          <a:p>
            <a:pPr marL="285750" indent="-285750">
              <a:buFont typeface="Arial" panose="020B0604020202020204" pitchFamily="34" charset="0"/>
              <a:buChar char="•"/>
            </a:pPr>
            <a:r>
              <a:rPr lang="en-US" sz="1400" dirty="0"/>
              <a:t>Wikipedia contributors. (2026, April 15). History of artificial intelligence. In Wikipedia, The Free Encyclopedia. Retrieved 23:52, April 16, 2026</a:t>
            </a:r>
          </a:p>
          <a:p>
            <a:endParaRPr lang="en-MX" sz="1400" dirty="0"/>
          </a:p>
        </p:txBody>
      </p:sp>
      <p:pic>
        <p:nvPicPr>
          <p:cNvPr id="8" name="Picture 7">
            <a:extLst>
              <a:ext uri="{FF2B5EF4-FFF2-40B4-BE49-F238E27FC236}">
                <a16:creationId xmlns:a16="http://schemas.microsoft.com/office/drawing/2014/main" id="{A0BAE75A-2A27-46A7-F3FF-E90AB2BF62FE}"/>
              </a:ext>
            </a:extLst>
          </p:cNvPr>
          <p:cNvPicPr>
            <a:picLocks noChangeAspect="1"/>
          </p:cNvPicPr>
          <p:nvPr/>
        </p:nvPicPr>
        <p:blipFill>
          <a:blip r:embed="rId2"/>
          <a:stretch>
            <a:fillRect/>
          </a:stretch>
        </p:blipFill>
        <p:spPr>
          <a:xfrm>
            <a:off x="9640711" y="285004"/>
            <a:ext cx="2009422" cy="1637307"/>
          </a:xfrm>
          <a:prstGeom prst="rect">
            <a:avLst/>
          </a:prstGeom>
        </p:spPr>
      </p:pic>
      <p:sp>
        <p:nvSpPr>
          <p:cNvPr id="6" name="TextBox 5">
            <a:extLst>
              <a:ext uri="{FF2B5EF4-FFF2-40B4-BE49-F238E27FC236}">
                <a16:creationId xmlns:a16="http://schemas.microsoft.com/office/drawing/2014/main" id="{BAA142BC-5DB8-12D3-D3FC-BC0283355061}"/>
              </a:ext>
            </a:extLst>
          </p:cNvPr>
          <p:cNvSpPr txBox="1"/>
          <p:nvPr/>
        </p:nvSpPr>
        <p:spPr>
          <a:xfrm>
            <a:off x="838203" y="1922311"/>
            <a:ext cx="985013" cy="461665"/>
          </a:xfrm>
          <a:prstGeom prst="rect">
            <a:avLst/>
          </a:prstGeom>
          <a:noFill/>
        </p:spPr>
        <p:txBody>
          <a:bodyPr wrap="none" rtlCol="0">
            <a:spAutoFit/>
          </a:bodyPr>
          <a:lstStyle/>
          <a:p>
            <a:r>
              <a:rPr lang="en-MX" sz="2400" dirty="0"/>
              <a:t>1930’s</a:t>
            </a:r>
          </a:p>
        </p:txBody>
      </p:sp>
      <p:sp>
        <p:nvSpPr>
          <p:cNvPr id="7" name="TextBox 6">
            <a:extLst>
              <a:ext uri="{FF2B5EF4-FFF2-40B4-BE49-F238E27FC236}">
                <a16:creationId xmlns:a16="http://schemas.microsoft.com/office/drawing/2014/main" id="{ADC0ED21-C63D-7481-568D-63C949D00740}"/>
              </a:ext>
            </a:extLst>
          </p:cNvPr>
          <p:cNvSpPr txBox="1"/>
          <p:nvPr/>
        </p:nvSpPr>
        <p:spPr>
          <a:xfrm>
            <a:off x="838202" y="2797725"/>
            <a:ext cx="985013" cy="461665"/>
          </a:xfrm>
          <a:prstGeom prst="rect">
            <a:avLst/>
          </a:prstGeom>
          <a:noFill/>
        </p:spPr>
        <p:txBody>
          <a:bodyPr wrap="none" rtlCol="0">
            <a:spAutoFit/>
          </a:bodyPr>
          <a:lstStyle/>
          <a:p>
            <a:r>
              <a:rPr lang="en-MX" sz="2400" dirty="0"/>
              <a:t>1940’s</a:t>
            </a:r>
          </a:p>
        </p:txBody>
      </p:sp>
      <p:sp>
        <p:nvSpPr>
          <p:cNvPr id="10" name="TextBox 9">
            <a:extLst>
              <a:ext uri="{FF2B5EF4-FFF2-40B4-BE49-F238E27FC236}">
                <a16:creationId xmlns:a16="http://schemas.microsoft.com/office/drawing/2014/main" id="{403C2E8E-C058-D507-B9C7-2B251F263758}"/>
              </a:ext>
            </a:extLst>
          </p:cNvPr>
          <p:cNvSpPr txBox="1"/>
          <p:nvPr/>
        </p:nvSpPr>
        <p:spPr>
          <a:xfrm>
            <a:off x="838201" y="3912500"/>
            <a:ext cx="985013" cy="461665"/>
          </a:xfrm>
          <a:prstGeom prst="rect">
            <a:avLst/>
          </a:prstGeom>
          <a:noFill/>
        </p:spPr>
        <p:txBody>
          <a:bodyPr wrap="none" rtlCol="0">
            <a:spAutoFit/>
          </a:bodyPr>
          <a:lstStyle/>
          <a:p>
            <a:r>
              <a:rPr lang="en-MX" sz="2400" dirty="0"/>
              <a:t>1950’s</a:t>
            </a:r>
          </a:p>
        </p:txBody>
      </p:sp>
      <p:sp>
        <p:nvSpPr>
          <p:cNvPr id="11" name="TextBox 10">
            <a:extLst>
              <a:ext uri="{FF2B5EF4-FFF2-40B4-BE49-F238E27FC236}">
                <a16:creationId xmlns:a16="http://schemas.microsoft.com/office/drawing/2014/main" id="{D61BFF1D-93C5-EFDF-E5DF-E975FBF0644B}"/>
              </a:ext>
            </a:extLst>
          </p:cNvPr>
          <p:cNvSpPr txBox="1"/>
          <p:nvPr/>
        </p:nvSpPr>
        <p:spPr>
          <a:xfrm>
            <a:off x="838200" y="5027275"/>
            <a:ext cx="985013" cy="461665"/>
          </a:xfrm>
          <a:prstGeom prst="rect">
            <a:avLst/>
          </a:prstGeom>
          <a:noFill/>
        </p:spPr>
        <p:txBody>
          <a:bodyPr wrap="none" rtlCol="0">
            <a:spAutoFit/>
          </a:bodyPr>
          <a:lstStyle/>
          <a:p>
            <a:r>
              <a:rPr lang="en-MX" sz="2400" dirty="0"/>
              <a:t>1960’s</a:t>
            </a:r>
          </a:p>
        </p:txBody>
      </p:sp>
    </p:spTree>
    <p:extLst>
      <p:ext uri="{BB962C8B-B14F-4D97-AF65-F5344CB8AC3E}">
        <p14:creationId xmlns:p14="http://schemas.microsoft.com/office/powerpoint/2010/main" val="32457874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4D9A8A-CB7E-60E4-4E2E-D64552DB74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785167-5D28-1580-88B6-6CC2CEA39672}"/>
              </a:ext>
            </a:extLst>
          </p:cNvPr>
          <p:cNvSpPr>
            <a:spLocks noGrp="1"/>
          </p:cNvSpPr>
          <p:nvPr>
            <p:ph type="title"/>
          </p:nvPr>
        </p:nvSpPr>
        <p:spPr/>
        <p:txBody>
          <a:bodyPr/>
          <a:lstStyle/>
          <a:p>
            <a:r>
              <a:rPr lang="en-US" dirty="0"/>
              <a:t>Historia de RN (II)</a:t>
            </a:r>
          </a:p>
        </p:txBody>
      </p:sp>
      <p:sp>
        <p:nvSpPr>
          <p:cNvPr id="3" name="Content Placeholder 2">
            <a:extLst>
              <a:ext uri="{FF2B5EF4-FFF2-40B4-BE49-F238E27FC236}">
                <a16:creationId xmlns:a16="http://schemas.microsoft.com/office/drawing/2014/main" id="{482AFDF3-37F7-C2EB-0449-8ED14C078014}"/>
              </a:ext>
            </a:extLst>
          </p:cNvPr>
          <p:cNvSpPr>
            <a:spLocks noGrp="1"/>
          </p:cNvSpPr>
          <p:nvPr>
            <p:ph idx="1"/>
          </p:nvPr>
        </p:nvSpPr>
        <p:spPr>
          <a:xfrm>
            <a:off x="1897811" y="1690688"/>
            <a:ext cx="9752322" cy="4095332"/>
          </a:xfrm>
        </p:spPr>
        <p:txBody>
          <a:bodyPr>
            <a:normAutofit fontScale="92500" lnSpcReduction="20000"/>
          </a:bodyPr>
          <a:lstStyle/>
          <a:p>
            <a:r>
              <a:rPr lang="en-US" dirty="0"/>
              <a:t>Las redes </a:t>
            </a:r>
            <a:r>
              <a:rPr lang="en-US" dirty="0" err="1"/>
              <a:t>recurrentes</a:t>
            </a:r>
            <a:r>
              <a:rPr lang="en-US" dirty="0"/>
              <a:t> se </a:t>
            </a:r>
            <a:r>
              <a:rPr lang="en-US" dirty="0" err="1"/>
              <a:t>utilizaron</a:t>
            </a:r>
            <a:r>
              <a:rPr lang="en-US" dirty="0"/>
              <a:t> </a:t>
            </a:r>
            <a:r>
              <a:rPr lang="en-US" dirty="0" err="1"/>
              <a:t>ampliamente</a:t>
            </a:r>
            <a:r>
              <a:rPr lang="en-US" dirty="0"/>
              <a:t> para </a:t>
            </a:r>
            <a:r>
              <a:rPr lang="en-US" dirty="0" err="1"/>
              <a:t>memorias</a:t>
            </a:r>
            <a:r>
              <a:rPr lang="en-US" dirty="0"/>
              <a:t> </a:t>
            </a:r>
            <a:r>
              <a:rPr lang="en-US" dirty="0" err="1"/>
              <a:t>asociativas</a:t>
            </a:r>
            <a:r>
              <a:rPr lang="en-US" dirty="0"/>
              <a:t> y </a:t>
            </a:r>
            <a:r>
              <a:rPr lang="en-US" dirty="0" err="1"/>
              <a:t>problemas</a:t>
            </a:r>
            <a:r>
              <a:rPr lang="en-US" dirty="0"/>
              <a:t> de </a:t>
            </a:r>
            <a:r>
              <a:rPr lang="en-US" dirty="0" err="1"/>
              <a:t>optimización</a:t>
            </a:r>
            <a:r>
              <a:rPr lang="en-US" dirty="0"/>
              <a:t> </a:t>
            </a:r>
            <a:r>
              <a:rPr lang="en-US" dirty="0" err="1"/>
              <a:t>tras</a:t>
            </a:r>
            <a:r>
              <a:rPr lang="en-US" dirty="0"/>
              <a:t> </a:t>
            </a:r>
            <a:r>
              <a:rPr lang="en-US" dirty="0" err="1"/>
              <a:t>el</a:t>
            </a:r>
            <a:r>
              <a:rPr lang="en-US" dirty="0"/>
              <a:t> </a:t>
            </a:r>
            <a:r>
              <a:rPr lang="en-US" dirty="0" err="1"/>
              <a:t>trabajo</a:t>
            </a:r>
            <a:r>
              <a:rPr lang="en-US" dirty="0"/>
              <a:t> de </a:t>
            </a:r>
            <a:r>
              <a:rPr lang="en-US" b="1" dirty="0"/>
              <a:t>Hopfield</a:t>
            </a:r>
            <a:r>
              <a:rPr lang="en-US" dirty="0"/>
              <a:t>.</a:t>
            </a:r>
          </a:p>
          <a:p>
            <a:r>
              <a:rPr lang="en-US" dirty="0"/>
              <a:t>Uso para </a:t>
            </a:r>
            <a:r>
              <a:rPr lang="en-US" dirty="0" err="1"/>
              <a:t>el</a:t>
            </a:r>
            <a:r>
              <a:rPr lang="en-US" dirty="0"/>
              <a:t> </a:t>
            </a:r>
            <a:r>
              <a:rPr lang="en-US" dirty="0" err="1"/>
              <a:t>reconocimiento</a:t>
            </a:r>
            <a:r>
              <a:rPr lang="en-US" dirty="0"/>
              <a:t> de </a:t>
            </a:r>
            <a:r>
              <a:rPr lang="en-US" dirty="0" err="1"/>
              <a:t>patrones</a:t>
            </a:r>
            <a:r>
              <a:rPr lang="en-US" dirty="0"/>
              <a:t> </a:t>
            </a:r>
            <a:r>
              <a:rPr lang="en-US" dirty="0" err="1"/>
              <a:t>temporales</a:t>
            </a:r>
            <a:r>
              <a:rPr lang="en-US" dirty="0"/>
              <a:t> con </a:t>
            </a:r>
            <a:r>
              <a:rPr lang="en-US" dirty="0" err="1"/>
              <a:t>modelos</a:t>
            </a:r>
            <a:r>
              <a:rPr lang="en-US" dirty="0"/>
              <a:t> de </a:t>
            </a:r>
            <a:r>
              <a:rPr lang="en-US" b="1" dirty="0"/>
              <a:t>Jordan</a:t>
            </a:r>
            <a:r>
              <a:rPr lang="en-US" dirty="0"/>
              <a:t>.</a:t>
            </a:r>
          </a:p>
          <a:p>
            <a:endParaRPr lang="en-US" dirty="0"/>
          </a:p>
          <a:p>
            <a:r>
              <a:rPr lang="en-US" dirty="0" err="1"/>
              <a:t>Algoritmos</a:t>
            </a:r>
            <a:r>
              <a:rPr lang="en-US" dirty="0"/>
              <a:t> de </a:t>
            </a:r>
            <a:r>
              <a:rPr lang="en-US" dirty="0" err="1"/>
              <a:t>aprendizaje</a:t>
            </a:r>
            <a:r>
              <a:rPr lang="en-US" dirty="0"/>
              <a:t> general: </a:t>
            </a:r>
            <a:r>
              <a:rPr lang="en-US" b="1" dirty="0"/>
              <a:t>Williams, Zipser, y Pineda </a:t>
            </a:r>
            <a:r>
              <a:rPr lang="en-US" dirty="0" err="1"/>
              <a:t>detallaron</a:t>
            </a:r>
            <a:r>
              <a:rPr lang="en-US" dirty="0"/>
              <a:t> </a:t>
            </a:r>
            <a:r>
              <a:rPr lang="en-US" dirty="0" err="1"/>
              <a:t>algoritmos</a:t>
            </a:r>
            <a:r>
              <a:rPr lang="en-US" dirty="0"/>
              <a:t> </a:t>
            </a:r>
            <a:r>
              <a:rPr lang="en-US" dirty="0" err="1"/>
              <a:t>específicos</a:t>
            </a:r>
            <a:r>
              <a:rPr lang="en-US" dirty="0"/>
              <a:t> para redes </a:t>
            </a:r>
            <a:r>
              <a:rPr lang="en-US" dirty="0" err="1"/>
              <a:t>neuronales</a:t>
            </a:r>
            <a:r>
              <a:rPr lang="en-US" dirty="0"/>
              <a:t> </a:t>
            </a:r>
            <a:r>
              <a:rPr lang="en-US" dirty="0" err="1"/>
              <a:t>recurrentes</a:t>
            </a:r>
            <a:r>
              <a:rPr lang="en-US" dirty="0"/>
              <a:t> (RNN) de </a:t>
            </a:r>
            <a:r>
              <a:rPr lang="en-US" dirty="0" err="1"/>
              <a:t>ejecución</a:t>
            </a:r>
            <a:r>
              <a:rPr lang="en-US" dirty="0"/>
              <a:t> continua o </a:t>
            </a:r>
            <a:r>
              <a:rPr lang="en-US" dirty="0" err="1"/>
              <a:t>generales</a:t>
            </a:r>
            <a:r>
              <a:rPr lang="en-US" dirty="0"/>
              <a:t>.</a:t>
            </a:r>
          </a:p>
          <a:p>
            <a:endParaRPr lang="en-US" dirty="0"/>
          </a:p>
          <a:p>
            <a:r>
              <a:rPr lang="en-US" dirty="0" err="1"/>
              <a:t>Aplicación</a:t>
            </a:r>
            <a:r>
              <a:rPr lang="en-US" dirty="0"/>
              <a:t> a </a:t>
            </a:r>
            <a:r>
              <a:rPr lang="en-US" dirty="0" err="1"/>
              <a:t>sistemas</a:t>
            </a:r>
            <a:r>
              <a:rPr lang="en-US" dirty="0"/>
              <a:t> </a:t>
            </a:r>
            <a:r>
              <a:rPr lang="en-US" dirty="0" err="1"/>
              <a:t>dinámicos</a:t>
            </a:r>
            <a:r>
              <a:rPr lang="en-US" dirty="0"/>
              <a:t>: </a:t>
            </a:r>
            <a:r>
              <a:rPr lang="en-US" b="1" dirty="0" err="1"/>
              <a:t>Funahashi</a:t>
            </a:r>
            <a:r>
              <a:rPr lang="en-US" b="1" dirty="0"/>
              <a:t>, Narendra y Parthasarathy, </a:t>
            </a:r>
            <a:r>
              <a:rPr lang="en-US" b="1" dirty="0" err="1"/>
              <a:t>Kosmatopoulos</a:t>
            </a:r>
            <a:r>
              <a:rPr lang="en-US" dirty="0"/>
              <a:t>.</a:t>
            </a:r>
          </a:p>
        </p:txBody>
      </p:sp>
      <p:sp>
        <p:nvSpPr>
          <p:cNvPr id="4" name="Slide Number Placeholder 3">
            <a:extLst>
              <a:ext uri="{FF2B5EF4-FFF2-40B4-BE49-F238E27FC236}">
                <a16:creationId xmlns:a16="http://schemas.microsoft.com/office/drawing/2014/main" id="{7EE5D79C-2889-BC59-C8C3-AAFB8EA7991F}"/>
              </a:ext>
            </a:extLst>
          </p:cNvPr>
          <p:cNvSpPr>
            <a:spLocks noGrp="1"/>
          </p:cNvSpPr>
          <p:nvPr>
            <p:ph type="sldNum" sz="quarter" idx="12"/>
          </p:nvPr>
        </p:nvSpPr>
        <p:spPr/>
        <p:txBody>
          <a:bodyPr/>
          <a:lstStyle/>
          <a:p>
            <a:fld id="{B4BE085C-131E-4871-906D-CE6CA8D2EB1A}" type="slidenum">
              <a:rPr lang="es-MX" smtClean="0"/>
              <a:t>20</a:t>
            </a:fld>
            <a:endParaRPr lang="es-MX" dirty="0"/>
          </a:p>
        </p:txBody>
      </p:sp>
      <p:sp>
        <p:nvSpPr>
          <p:cNvPr id="5" name="TextBox 4">
            <a:extLst>
              <a:ext uri="{FF2B5EF4-FFF2-40B4-BE49-F238E27FC236}">
                <a16:creationId xmlns:a16="http://schemas.microsoft.com/office/drawing/2014/main" id="{550F164E-6FA6-5986-2B06-3547F3D881AA}"/>
              </a:ext>
            </a:extLst>
          </p:cNvPr>
          <p:cNvSpPr txBox="1"/>
          <p:nvPr/>
        </p:nvSpPr>
        <p:spPr>
          <a:xfrm>
            <a:off x="838200" y="6119336"/>
            <a:ext cx="6638164"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err="1"/>
              <a:t>Kosmatopoulos</a:t>
            </a:r>
            <a:r>
              <a:rPr lang="en-US" sz="1400" dirty="0"/>
              <a:t>, et. Al. (1995). IEEE transactions on Neural Networks, 6(2), 422-431.</a:t>
            </a:r>
          </a:p>
          <a:p>
            <a:pPr marL="285750" indent="-285750">
              <a:buFont typeface="Arial" panose="020B0604020202020204" pitchFamily="34" charset="0"/>
              <a:buChar char="•"/>
            </a:pPr>
            <a:r>
              <a:rPr lang="en-US" sz="1400" dirty="0" err="1"/>
              <a:t>Funahashi</a:t>
            </a:r>
            <a:r>
              <a:rPr lang="en-US" sz="1400" dirty="0"/>
              <a:t>, K. I. (1989). Neural networks, 2(3), 183-192.</a:t>
            </a:r>
          </a:p>
          <a:p>
            <a:pPr marL="285750" indent="-285750">
              <a:buFont typeface="Arial" panose="020B0604020202020204" pitchFamily="34" charset="0"/>
              <a:buChar char="•"/>
            </a:pPr>
            <a:r>
              <a:rPr lang="en-US" sz="1400" dirty="0" err="1"/>
              <a:t>Kumpati</a:t>
            </a:r>
            <a:r>
              <a:rPr lang="en-US" sz="1400" dirty="0"/>
              <a:t>, S. N., &amp; Kannan, P. (1990). IEEE Transactions on neural networks, 1(1), 4-27.</a:t>
            </a:r>
            <a:endParaRPr lang="en-MX" sz="1400" dirty="0"/>
          </a:p>
        </p:txBody>
      </p:sp>
      <p:sp>
        <p:nvSpPr>
          <p:cNvPr id="7" name="TextBox 6">
            <a:extLst>
              <a:ext uri="{FF2B5EF4-FFF2-40B4-BE49-F238E27FC236}">
                <a16:creationId xmlns:a16="http://schemas.microsoft.com/office/drawing/2014/main" id="{9238EC9B-0019-A3CA-2E0A-3C24EB157BCD}"/>
              </a:ext>
            </a:extLst>
          </p:cNvPr>
          <p:cNvSpPr txBox="1"/>
          <p:nvPr/>
        </p:nvSpPr>
        <p:spPr>
          <a:xfrm>
            <a:off x="838203" y="1690688"/>
            <a:ext cx="985013" cy="461665"/>
          </a:xfrm>
          <a:prstGeom prst="rect">
            <a:avLst/>
          </a:prstGeom>
          <a:noFill/>
        </p:spPr>
        <p:txBody>
          <a:bodyPr wrap="none" rtlCol="0">
            <a:spAutoFit/>
          </a:bodyPr>
          <a:lstStyle/>
          <a:p>
            <a:r>
              <a:rPr lang="en-MX" sz="2400" dirty="0"/>
              <a:t>1970’s</a:t>
            </a:r>
          </a:p>
        </p:txBody>
      </p:sp>
      <p:sp>
        <p:nvSpPr>
          <p:cNvPr id="8" name="TextBox 7">
            <a:extLst>
              <a:ext uri="{FF2B5EF4-FFF2-40B4-BE49-F238E27FC236}">
                <a16:creationId xmlns:a16="http://schemas.microsoft.com/office/drawing/2014/main" id="{0CF46AE1-87AD-28DA-5D14-8B6A209A8B65}"/>
              </a:ext>
            </a:extLst>
          </p:cNvPr>
          <p:cNvSpPr txBox="1"/>
          <p:nvPr/>
        </p:nvSpPr>
        <p:spPr>
          <a:xfrm>
            <a:off x="838203" y="2421727"/>
            <a:ext cx="985013" cy="830997"/>
          </a:xfrm>
          <a:prstGeom prst="rect">
            <a:avLst/>
          </a:prstGeom>
          <a:noFill/>
        </p:spPr>
        <p:txBody>
          <a:bodyPr wrap="none" rtlCol="0">
            <a:spAutoFit/>
          </a:bodyPr>
          <a:lstStyle/>
          <a:p>
            <a:r>
              <a:rPr lang="en-US" sz="2400" dirty="0"/>
              <a:t>E</a:t>
            </a:r>
            <a:r>
              <a:rPr lang="en-MX" sz="2400" dirty="0"/>
              <a:t>arly</a:t>
            </a:r>
          </a:p>
          <a:p>
            <a:r>
              <a:rPr lang="en-MX" sz="2400" dirty="0"/>
              <a:t>1980’s</a:t>
            </a:r>
          </a:p>
        </p:txBody>
      </p:sp>
      <p:sp>
        <p:nvSpPr>
          <p:cNvPr id="9" name="TextBox 8">
            <a:extLst>
              <a:ext uri="{FF2B5EF4-FFF2-40B4-BE49-F238E27FC236}">
                <a16:creationId xmlns:a16="http://schemas.microsoft.com/office/drawing/2014/main" id="{912B2C2D-53D8-6C14-DFD6-865A9C43C55D}"/>
              </a:ext>
            </a:extLst>
          </p:cNvPr>
          <p:cNvSpPr txBox="1"/>
          <p:nvPr/>
        </p:nvSpPr>
        <p:spPr>
          <a:xfrm>
            <a:off x="838203" y="3489513"/>
            <a:ext cx="985013" cy="830997"/>
          </a:xfrm>
          <a:prstGeom prst="rect">
            <a:avLst/>
          </a:prstGeom>
          <a:noFill/>
        </p:spPr>
        <p:txBody>
          <a:bodyPr wrap="none" rtlCol="0">
            <a:spAutoFit/>
          </a:bodyPr>
          <a:lstStyle/>
          <a:p>
            <a:r>
              <a:rPr lang="en-MX" sz="2400" dirty="0"/>
              <a:t>Late</a:t>
            </a:r>
          </a:p>
          <a:p>
            <a:r>
              <a:rPr lang="en-MX" sz="2400" dirty="0"/>
              <a:t>1980’s</a:t>
            </a:r>
          </a:p>
        </p:txBody>
      </p:sp>
      <p:sp>
        <p:nvSpPr>
          <p:cNvPr id="10" name="TextBox 9">
            <a:extLst>
              <a:ext uri="{FF2B5EF4-FFF2-40B4-BE49-F238E27FC236}">
                <a16:creationId xmlns:a16="http://schemas.microsoft.com/office/drawing/2014/main" id="{F2907879-3E4F-2923-E582-D38E23141DEB}"/>
              </a:ext>
            </a:extLst>
          </p:cNvPr>
          <p:cNvSpPr txBox="1"/>
          <p:nvPr/>
        </p:nvSpPr>
        <p:spPr>
          <a:xfrm>
            <a:off x="838203" y="4751813"/>
            <a:ext cx="985013" cy="830997"/>
          </a:xfrm>
          <a:prstGeom prst="rect">
            <a:avLst/>
          </a:prstGeom>
          <a:noFill/>
        </p:spPr>
        <p:txBody>
          <a:bodyPr wrap="none" rtlCol="0">
            <a:spAutoFit/>
          </a:bodyPr>
          <a:lstStyle/>
          <a:p>
            <a:r>
              <a:rPr lang="en-MX" sz="2400" dirty="0"/>
              <a:t>Early</a:t>
            </a:r>
          </a:p>
          <a:p>
            <a:r>
              <a:rPr lang="en-MX" sz="2400" dirty="0"/>
              <a:t>1990’s</a:t>
            </a:r>
          </a:p>
        </p:txBody>
      </p:sp>
    </p:spTree>
    <p:extLst>
      <p:ext uri="{BB962C8B-B14F-4D97-AF65-F5344CB8AC3E}">
        <p14:creationId xmlns:p14="http://schemas.microsoft.com/office/powerpoint/2010/main" val="340997604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C4B5B3-A93D-584A-A5EF-5B0A5BD1A8C4}"/>
              </a:ext>
            </a:extLst>
          </p:cNvPr>
          <p:cNvSpPr>
            <a:spLocks noGrp="1"/>
          </p:cNvSpPr>
          <p:nvPr>
            <p:ph type="title"/>
          </p:nvPr>
        </p:nvSpPr>
        <p:spPr/>
        <p:txBody>
          <a:bodyPr/>
          <a:lstStyle/>
          <a:p>
            <a:r>
              <a:rPr lang="en-US" dirty="0" err="1"/>
              <a:t>Procesos</a:t>
            </a:r>
            <a:r>
              <a:rPr lang="en-US" dirty="0"/>
              <a:t> </a:t>
            </a:r>
            <a:r>
              <a:rPr lang="en-US" dirty="0" err="1"/>
              <a:t>en</a:t>
            </a:r>
            <a:r>
              <a:rPr lang="en-US" dirty="0"/>
              <a:t> redes </a:t>
            </a:r>
            <a:r>
              <a:rPr lang="en-US" dirty="0" err="1"/>
              <a:t>neuronales</a:t>
            </a:r>
            <a:endParaRPr lang="en-US" dirty="0"/>
          </a:p>
        </p:txBody>
      </p:sp>
      <p:sp>
        <p:nvSpPr>
          <p:cNvPr id="3" name="Content Placeholder 2">
            <a:extLst>
              <a:ext uri="{FF2B5EF4-FFF2-40B4-BE49-F238E27FC236}">
                <a16:creationId xmlns:a16="http://schemas.microsoft.com/office/drawing/2014/main" id="{DC7B77D2-72B6-9C47-89A6-50E4535F2670}"/>
              </a:ext>
            </a:extLst>
          </p:cNvPr>
          <p:cNvSpPr>
            <a:spLocks noGrp="1"/>
          </p:cNvSpPr>
          <p:nvPr>
            <p:ph idx="1"/>
          </p:nvPr>
        </p:nvSpPr>
        <p:spPr/>
        <p:txBody>
          <a:bodyPr/>
          <a:lstStyle/>
          <a:p>
            <a:r>
              <a:rPr lang="en-US" dirty="0" err="1"/>
              <a:t>Aprendizaje</a:t>
            </a:r>
            <a:endParaRPr lang="en-US" dirty="0"/>
          </a:p>
          <a:p>
            <a:pPr lvl="1"/>
            <a:r>
              <a:rPr lang="en-US" dirty="0" err="1"/>
              <a:t>Propagación</a:t>
            </a:r>
            <a:r>
              <a:rPr lang="en-US" dirty="0"/>
              <a:t> </a:t>
            </a:r>
            <a:r>
              <a:rPr lang="en-US" dirty="0" err="1"/>
              <a:t>hacia</a:t>
            </a:r>
            <a:r>
              <a:rPr lang="en-US" dirty="0"/>
              <a:t> </a:t>
            </a:r>
            <a:r>
              <a:rPr lang="en-US" dirty="0" err="1"/>
              <a:t>adelante</a:t>
            </a:r>
            <a:r>
              <a:rPr lang="en-US" dirty="0"/>
              <a:t> / </a:t>
            </a:r>
            <a:r>
              <a:rPr lang="en-US" dirty="0" err="1"/>
              <a:t>Propagación</a:t>
            </a:r>
            <a:r>
              <a:rPr lang="en-US" dirty="0"/>
              <a:t> </a:t>
            </a:r>
            <a:r>
              <a:rPr lang="en-US" dirty="0" err="1"/>
              <a:t>hacia</a:t>
            </a:r>
            <a:r>
              <a:rPr lang="en-US" dirty="0"/>
              <a:t> atrás</a:t>
            </a:r>
          </a:p>
          <a:p>
            <a:pPr lvl="1"/>
            <a:r>
              <a:rPr lang="en-US" dirty="0" err="1"/>
              <a:t>Activación</a:t>
            </a:r>
            <a:r>
              <a:rPr lang="en-US" dirty="0"/>
              <a:t>: lineal, </a:t>
            </a:r>
            <a:r>
              <a:rPr lang="en-US" dirty="0" err="1"/>
              <a:t>sigmoide</a:t>
            </a:r>
            <a:r>
              <a:rPr lang="en-US" dirty="0"/>
              <a:t>, tanh, </a:t>
            </a:r>
            <a:r>
              <a:rPr lang="en-US" dirty="0" err="1"/>
              <a:t>softmax</a:t>
            </a:r>
            <a:r>
              <a:rPr lang="en-US" dirty="0"/>
              <a:t>, </a:t>
            </a:r>
            <a:r>
              <a:rPr lang="en-US" dirty="0" err="1"/>
              <a:t>ReLU</a:t>
            </a:r>
            <a:endParaRPr lang="en-US" dirty="0"/>
          </a:p>
          <a:p>
            <a:r>
              <a:rPr lang="en-US" dirty="0" err="1"/>
              <a:t>Validación</a:t>
            </a:r>
            <a:endParaRPr lang="en-US" dirty="0"/>
          </a:p>
          <a:p>
            <a:pPr lvl="1"/>
            <a:r>
              <a:rPr lang="en-US" dirty="0" err="1"/>
              <a:t>Análisis</a:t>
            </a:r>
            <a:r>
              <a:rPr lang="en-US" dirty="0"/>
              <a:t> de </a:t>
            </a:r>
            <a:r>
              <a:rPr lang="en-US" dirty="0" err="1"/>
              <a:t>errores</a:t>
            </a:r>
            <a:endParaRPr lang="en-US" dirty="0"/>
          </a:p>
          <a:p>
            <a:r>
              <a:rPr lang="en-US" dirty="0" err="1"/>
              <a:t>Predicción</a:t>
            </a:r>
            <a:endParaRPr lang="en-US" dirty="0"/>
          </a:p>
          <a:p>
            <a:pPr lvl="1"/>
            <a:r>
              <a:rPr lang="en-US" dirty="0" err="1"/>
              <a:t>Estimación</a:t>
            </a:r>
            <a:r>
              <a:rPr lang="en-US" dirty="0"/>
              <a:t> de </a:t>
            </a:r>
            <a:r>
              <a:rPr lang="en-US" dirty="0" err="1"/>
              <a:t>valores</a:t>
            </a:r>
            <a:r>
              <a:rPr lang="en-US" dirty="0"/>
              <a:t> - </a:t>
            </a:r>
            <a:r>
              <a:rPr lang="en-US" dirty="0" err="1"/>
              <a:t>pronóstico</a:t>
            </a:r>
            <a:endParaRPr lang="en-US" dirty="0"/>
          </a:p>
        </p:txBody>
      </p:sp>
      <p:sp>
        <p:nvSpPr>
          <p:cNvPr id="4" name="Slide Number Placeholder 3">
            <a:extLst>
              <a:ext uri="{FF2B5EF4-FFF2-40B4-BE49-F238E27FC236}">
                <a16:creationId xmlns:a16="http://schemas.microsoft.com/office/drawing/2014/main" id="{F9C99F56-482C-B547-B8B1-B6ADCC91EB98}"/>
              </a:ext>
            </a:extLst>
          </p:cNvPr>
          <p:cNvSpPr>
            <a:spLocks noGrp="1"/>
          </p:cNvSpPr>
          <p:nvPr>
            <p:ph type="sldNum" sz="quarter" idx="12"/>
          </p:nvPr>
        </p:nvSpPr>
        <p:spPr/>
        <p:txBody>
          <a:bodyPr/>
          <a:lstStyle/>
          <a:p>
            <a:fld id="{B4BE085C-131E-4871-906D-CE6CA8D2EB1A}" type="slidenum">
              <a:rPr lang="es-MX" smtClean="0"/>
              <a:t>21</a:t>
            </a:fld>
            <a:endParaRPr lang="es-MX"/>
          </a:p>
        </p:txBody>
      </p:sp>
    </p:spTree>
    <p:extLst>
      <p:ext uri="{BB962C8B-B14F-4D97-AF65-F5344CB8AC3E}">
        <p14:creationId xmlns:p14="http://schemas.microsoft.com/office/powerpoint/2010/main" val="1466405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B0AA027-AAAB-D031-3C4C-298FB08B7AB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5AA4272-40F8-0B36-5F86-28657F9510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A9736D-DEAB-EA0F-5058-2B53109549E3}"/>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1.1 </a:t>
            </a:r>
            <a:r>
              <a:rPr lang="en-US" sz="8000" b="1" dirty="0" err="1"/>
              <a:t>Estructura</a:t>
            </a:r>
            <a:r>
              <a:rPr lang="en-US" sz="8000" b="1" dirty="0"/>
              <a:t> de RN</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6BCB21AA-91FE-76C8-A409-AD46E2B9708C}"/>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BC8DB38-65BE-98E3-9264-4BA96F5509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11259257-374F-A7C4-A56F-929B7D67E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DB6AF77-6A50-1DE7-F9DD-0A426059C606}"/>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22</a:t>
            </a:fld>
            <a:endParaRPr lang="en-US">
              <a:solidFill>
                <a:schemeClr val="tx1">
                  <a:lumMod val="50000"/>
                  <a:lumOff val="50000"/>
                </a:schemeClr>
              </a:solidFill>
            </a:endParaRPr>
          </a:p>
        </p:txBody>
      </p:sp>
    </p:spTree>
    <p:extLst>
      <p:ext uri="{BB962C8B-B14F-4D97-AF65-F5344CB8AC3E}">
        <p14:creationId xmlns:p14="http://schemas.microsoft.com/office/powerpoint/2010/main" val="17350547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D2B52-F7E7-F547-9031-1994A8247D4D}"/>
              </a:ext>
            </a:extLst>
          </p:cNvPr>
          <p:cNvSpPr>
            <a:spLocks noGrp="1"/>
          </p:cNvSpPr>
          <p:nvPr>
            <p:ph type="title"/>
          </p:nvPr>
        </p:nvSpPr>
        <p:spPr/>
        <p:txBody>
          <a:bodyPr/>
          <a:lstStyle/>
          <a:p>
            <a:r>
              <a:rPr lang="en-US" dirty="0" err="1"/>
              <a:t>Estructura</a:t>
            </a:r>
            <a:r>
              <a:rPr lang="en-US" dirty="0"/>
              <a:t> de Redes </a:t>
            </a:r>
            <a:r>
              <a:rPr lang="en-US" dirty="0" err="1"/>
              <a:t>Neronales</a:t>
            </a:r>
            <a:endParaRPr lang="en-US" dirty="0"/>
          </a:p>
        </p:txBody>
      </p:sp>
      <p:sp>
        <p:nvSpPr>
          <p:cNvPr id="4" name="Slide Number Placeholder 3">
            <a:extLst>
              <a:ext uri="{FF2B5EF4-FFF2-40B4-BE49-F238E27FC236}">
                <a16:creationId xmlns:a16="http://schemas.microsoft.com/office/drawing/2014/main" id="{A12AD82E-F45A-C342-88F2-ACEC22E8933F}"/>
              </a:ext>
            </a:extLst>
          </p:cNvPr>
          <p:cNvSpPr>
            <a:spLocks noGrp="1"/>
          </p:cNvSpPr>
          <p:nvPr>
            <p:ph type="sldNum" sz="quarter" idx="12"/>
          </p:nvPr>
        </p:nvSpPr>
        <p:spPr/>
        <p:txBody>
          <a:bodyPr/>
          <a:lstStyle/>
          <a:p>
            <a:fld id="{B4BE085C-131E-4871-906D-CE6CA8D2EB1A}" type="slidenum">
              <a:rPr lang="es-MX" smtClean="0"/>
              <a:t>23</a:t>
            </a:fld>
            <a:endParaRPr lang="es-MX"/>
          </a:p>
        </p:txBody>
      </p:sp>
      <p:pic>
        <p:nvPicPr>
          <p:cNvPr id="1026" name="Picture 2" descr="Neural Network">
            <a:extLst>
              <a:ext uri="{FF2B5EF4-FFF2-40B4-BE49-F238E27FC236}">
                <a16:creationId xmlns:a16="http://schemas.microsoft.com/office/drawing/2014/main" id="{30B80953-CA41-9E43-98A5-41813B93D41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34252" y="2013854"/>
            <a:ext cx="9228270" cy="3278981"/>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B4BE5D69-A3EE-1D45-B39D-120844FC0E1D}"/>
              </a:ext>
            </a:extLst>
          </p:cNvPr>
          <p:cNvSpPr txBox="1"/>
          <p:nvPr/>
        </p:nvSpPr>
        <p:spPr>
          <a:xfrm>
            <a:off x="838200" y="6033184"/>
            <a:ext cx="10620375" cy="369332"/>
          </a:xfrm>
          <a:prstGeom prst="rect">
            <a:avLst/>
          </a:prstGeom>
          <a:noFill/>
        </p:spPr>
        <p:txBody>
          <a:bodyPr wrap="square" rtlCol="0">
            <a:spAutoFit/>
          </a:bodyPr>
          <a:lstStyle/>
          <a:p>
            <a:r>
              <a:rPr lang="es-ES_tradnl" dirty="0" err="1"/>
              <a:t>Avijeet</a:t>
            </a:r>
            <a:r>
              <a:rPr lang="es-ES_tradnl" dirty="0"/>
              <a:t> </a:t>
            </a:r>
            <a:r>
              <a:rPr lang="es-ES_tradnl" dirty="0" err="1"/>
              <a:t>Biswal</a:t>
            </a:r>
            <a:r>
              <a:rPr lang="es-ES_tradnl" dirty="0"/>
              <a:t>. “Top 10 Deep </a:t>
            </a:r>
            <a:r>
              <a:rPr lang="es-ES_tradnl" dirty="0" err="1"/>
              <a:t>Learning</a:t>
            </a:r>
            <a:r>
              <a:rPr lang="es-ES_tradnl" dirty="0"/>
              <a:t> </a:t>
            </a:r>
            <a:r>
              <a:rPr lang="es-ES_tradnl" dirty="0" err="1"/>
              <a:t>Algorithms</a:t>
            </a:r>
            <a:r>
              <a:rPr lang="es-ES_tradnl" dirty="0"/>
              <a:t> </a:t>
            </a:r>
            <a:r>
              <a:rPr lang="es-ES_tradnl" dirty="0" err="1"/>
              <a:t>You</a:t>
            </a:r>
            <a:r>
              <a:rPr lang="es-ES_tradnl" dirty="0"/>
              <a:t> </a:t>
            </a:r>
            <a:r>
              <a:rPr lang="es-ES_tradnl" dirty="0" err="1"/>
              <a:t>Should</a:t>
            </a:r>
            <a:r>
              <a:rPr lang="es-ES_tradnl" dirty="0"/>
              <a:t> </a:t>
            </a:r>
            <a:r>
              <a:rPr lang="es-ES_tradnl" dirty="0" err="1"/>
              <a:t>Know</a:t>
            </a:r>
            <a:r>
              <a:rPr lang="es-ES_tradnl" dirty="0"/>
              <a:t> in 2023”. https://</a:t>
            </a:r>
            <a:r>
              <a:rPr lang="es-ES_tradnl" dirty="0" err="1"/>
              <a:t>www.simplilearn.com</a:t>
            </a:r>
            <a:r>
              <a:rPr lang="es-ES_tradnl" dirty="0"/>
              <a:t>/</a:t>
            </a:r>
          </a:p>
        </p:txBody>
      </p:sp>
    </p:spTree>
    <p:extLst>
      <p:ext uri="{BB962C8B-B14F-4D97-AF65-F5344CB8AC3E}">
        <p14:creationId xmlns:p14="http://schemas.microsoft.com/office/powerpoint/2010/main" val="3664266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D235-89B0-C746-876D-594D45ED93DE}"/>
              </a:ext>
            </a:extLst>
          </p:cNvPr>
          <p:cNvSpPr>
            <a:spLocks noGrp="1"/>
          </p:cNvSpPr>
          <p:nvPr>
            <p:ph type="title"/>
          </p:nvPr>
        </p:nvSpPr>
        <p:spPr/>
        <p:txBody>
          <a:bodyPr/>
          <a:lstStyle/>
          <a:p>
            <a:r>
              <a:rPr lang="es-ES_tradnl" dirty="0"/>
              <a:t>Algunos algoritmos de aprendizaje profundo</a:t>
            </a:r>
          </a:p>
        </p:txBody>
      </p:sp>
      <p:sp>
        <p:nvSpPr>
          <p:cNvPr id="3" name="Content Placeholder 2">
            <a:extLst>
              <a:ext uri="{FF2B5EF4-FFF2-40B4-BE49-F238E27FC236}">
                <a16:creationId xmlns:a16="http://schemas.microsoft.com/office/drawing/2014/main" id="{5B29E857-EBE5-E94D-AAFC-3A397BBA5342}"/>
              </a:ext>
            </a:extLst>
          </p:cNvPr>
          <p:cNvSpPr>
            <a:spLocks noGrp="1"/>
          </p:cNvSpPr>
          <p:nvPr>
            <p:ph idx="1"/>
          </p:nvPr>
        </p:nvSpPr>
        <p:spPr/>
        <p:txBody>
          <a:bodyPr/>
          <a:lstStyle/>
          <a:p>
            <a:r>
              <a:rPr lang="en-US" dirty="0"/>
              <a:t>Perceptron </a:t>
            </a:r>
            <a:r>
              <a:rPr lang="en-US" dirty="0" err="1"/>
              <a:t>Multicapas</a:t>
            </a:r>
            <a:r>
              <a:rPr lang="en-US" dirty="0"/>
              <a:t> (MLPs)</a:t>
            </a:r>
          </a:p>
        </p:txBody>
      </p:sp>
      <p:sp>
        <p:nvSpPr>
          <p:cNvPr id="4" name="Slide Number Placeholder 3">
            <a:extLst>
              <a:ext uri="{FF2B5EF4-FFF2-40B4-BE49-F238E27FC236}">
                <a16:creationId xmlns:a16="http://schemas.microsoft.com/office/drawing/2014/main" id="{63F21E7F-81C0-B24D-BBEB-2C17BB67AC20}"/>
              </a:ext>
            </a:extLst>
          </p:cNvPr>
          <p:cNvSpPr>
            <a:spLocks noGrp="1"/>
          </p:cNvSpPr>
          <p:nvPr>
            <p:ph type="sldNum" sz="quarter" idx="12"/>
          </p:nvPr>
        </p:nvSpPr>
        <p:spPr/>
        <p:txBody>
          <a:bodyPr/>
          <a:lstStyle/>
          <a:p>
            <a:fld id="{B4BE085C-131E-4871-906D-CE6CA8D2EB1A}" type="slidenum">
              <a:rPr lang="es-MX" smtClean="0"/>
              <a:t>24</a:t>
            </a:fld>
            <a:endParaRPr lang="es-MX"/>
          </a:p>
        </p:txBody>
      </p:sp>
      <p:pic>
        <p:nvPicPr>
          <p:cNvPr id="5" name="Picture 4">
            <a:extLst>
              <a:ext uri="{FF2B5EF4-FFF2-40B4-BE49-F238E27FC236}">
                <a16:creationId xmlns:a16="http://schemas.microsoft.com/office/drawing/2014/main" id="{556B4F96-C40F-0644-821B-EECE23925BDF}"/>
              </a:ext>
            </a:extLst>
          </p:cNvPr>
          <p:cNvPicPr>
            <a:picLocks noChangeAspect="1"/>
          </p:cNvPicPr>
          <p:nvPr/>
        </p:nvPicPr>
        <p:blipFill>
          <a:blip r:embed="rId2"/>
          <a:stretch>
            <a:fillRect/>
          </a:stretch>
        </p:blipFill>
        <p:spPr>
          <a:xfrm>
            <a:off x="716858" y="3182328"/>
            <a:ext cx="4855756" cy="2055672"/>
          </a:xfrm>
          <a:prstGeom prst="rect">
            <a:avLst/>
          </a:prstGeom>
        </p:spPr>
      </p:pic>
      <p:pic>
        <p:nvPicPr>
          <p:cNvPr id="7" name="Picture 6">
            <a:extLst>
              <a:ext uri="{FF2B5EF4-FFF2-40B4-BE49-F238E27FC236}">
                <a16:creationId xmlns:a16="http://schemas.microsoft.com/office/drawing/2014/main" id="{E9BAB0FA-6C77-7941-AB6E-6FFC624649B5}"/>
              </a:ext>
            </a:extLst>
          </p:cNvPr>
          <p:cNvPicPr>
            <a:picLocks noChangeAspect="1"/>
          </p:cNvPicPr>
          <p:nvPr/>
        </p:nvPicPr>
        <p:blipFill>
          <a:blip r:embed="rId3"/>
          <a:stretch>
            <a:fillRect/>
          </a:stretch>
        </p:blipFill>
        <p:spPr>
          <a:xfrm>
            <a:off x="5693956" y="2528606"/>
            <a:ext cx="6357233" cy="3389520"/>
          </a:xfrm>
          <a:prstGeom prst="rect">
            <a:avLst/>
          </a:prstGeom>
        </p:spPr>
      </p:pic>
      <p:sp>
        <p:nvSpPr>
          <p:cNvPr id="8" name="TextBox 7">
            <a:extLst>
              <a:ext uri="{FF2B5EF4-FFF2-40B4-BE49-F238E27FC236}">
                <a16:creationId xmlns:a16="http://schemas.microsoft.com/office/drawing/2014/main" id="{2D147878-E804-1A4E-A8E9-0293977FC8C4}"/>
              </a:ext>
            </a:extLst>
          </p:cNvPr>
          <p:cNvSpPr txBox="1"/>
          <p:nvPr/>
        </p:nvSpPr>
        <p:spPr>
          <a:xfrm>
            <a:off x="716115" y="6123543"/>
            <a:ext cx="10106025" cy="369332"/>
          </a:xfrm>
          <a:prstGeom prst="rect">
            <a:avLst/>
          </a:prstGeom>
          <a:noFill/>
        </p:spPr>
        <p:txBody>
          <a:bodyPr wrap="square" rtlCol="0">
            <a:spAutoFit/>
          </a:bodyPr>
          <a:lstStyle/>
          <a:p>
            <a:r>
              <a:rPr lang="en-US" dirty="0"/>
              <a:t>Neural networks and deep learning. Vol. 25. San Francisco, CA, USA: Determination press, 2015.</a:t>
            </a:r>
          </a:p>
        </p:txBody>
      </p:sp>
    </p:spTree>
    <p:extLst>
      <p:ext uri="{BB962C8B-B14F-4D97-AF65-F5344CB8AC3E}">
        <p14:creationId xmlns:p14="http://schemas.microsoft.com/office/powerpoint/2010/main" val="41613574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D235-89B0-C746-876D-594D45ED93DE}"/>
              </a:ext>
            </a:extLst>
          </p:cNvPr>
          <p:cNvSpPr>
            <a:spLocks noGrp="1"/>
          </p:cNvSpPr>
          <p:nvPr>
            <p:ph type="title"/>
          </p:nvPr>
        </p:nvSpPr>
        <p:spPr/>
        <p:txBody>
          <a:bodyPr/>
          <a:lstStyle/>
          <a:p>
            <a:r>
              <a:rPr lang="es-ES_tradnl" dirty="0"/>
              <a:t>Algunos algoritmos de aprendizaje profundo</a:t>
            </a:r>
          </a:p>
        </p:txBody>
      </p:sp>
      <p:sp>
        <p:nvSpPr>
          <p:cNvPr id="3" name="Content Placeholder 2">
            <a:extLst>
              <a:ext uri="{FF2B5EF4-FFF2-40B4-BE49-F238E27FC236}">
                <a16:creationId xmlns:a16="http://schemas.microsoft.com/office/drawing/2014/main" id="{5B29E857-EBE5-E94D-AAFC-3A397BBA5342}"/>
              </a:ext>
            </a:extLst>
          </p:cNvPr>
          <p:cNvSpPr>
            <a:spLocks noGrp="1"/>
          </p:cNvSpPr>
          <p:nvPr>
            <p:ph idx="1"/>
          </p:nvPr>
        </p:nvSpPr>
        <p:spPr/>
        <p:txBody>
          <a:bodyPr/>
          <a:lstStyle/>
          <a:p>
            <a:r>
              <a:rPr lang="en-US" dirty="0"/>
              <a:t>Redes </a:t>
            </a:r>
            <a:r>
              <a:rPr lang="en-US" dirty="0" err="1"/>
              <a:t>neuronales</a:t>
            </a:r>
            <a:r>
              <a:rPr lang="en-US" dirty="0"/>
              <a:t> </a:t>
            </a:r>
            <a:r>
              <a:rPr lang="en-US" dirty="0" err="1"/>
              <a:t>convolucionales</a:t>
            </a:r>
            <a:r>
              <a:rPr lang="en-US" dirty="0"/>
              <a:t> (CNNs)</a:t>
            </a:r>
          </a:p>
        </p:txBody>
      </p:sp>
      <p:sp>
        <p:nvSpPr>
          <p:cNvPr id="4" name="Slide Number Placeholder 3">
            <a:extLst>
              <a:ext uri="{FF2B5EF4-FFF2-40B4-BE49-F238E27FC236}">
                <a16:creationId xmlns:a16="http://schemas.microsoft.com/office/drawing/2014/main" id="{63F21E7F-81C0-B24D-BBEB-2C17BB67AC20}"/>
              </a:ext>
            </a:extLst>
          </p:cNvPr>
          <p:cNvSpPr>
            <a:spLocks noGrp="1"/>
          </p:cNvSpPr>
          <p:nvPr>
            <p:ph type="sldNum" sz="quarter" idx="12"/>
          </p:nvPr>
        </p:nvSpPr>
        <p:spPr/>
        <p:txBody>
          <a:bodyPr/>
          <a:lstStyle/>
          <a:p>
            <a:fld id="{B4BE085C-131E-4871-906D-CE6CA8D2EB1A}" type="slidenum">
              <a:rPr lang="es-MX" smtClean="0"/>
              <a:t>25</a:t>
            </a:fld>
            <a:endParaRPr lang="es-MX"/>
          </a:p>
        </p:txBody>
      </p:sp>
      <p:pic>
        <p:nvPicPr>
          <p:cNvPr id="6" name="Picture 5">
            <a:extLst>
              <a:ext uri="{FF2B5EF4-FFF2-40B4-BE49-F238E27FC236}">
                <a16:creationId xmlns:a16="http://schemas.microsoft.com/office/drawing/2014/main" id="{D7E74202-C9B9-A94A-A37E-829A86AA4EA6}"/>
              </a:ext>
            </a:extLst>
          </p:cNvPr>
          <p:cNvPicPr>
            <a:picLocks noChangeAspect="1"/>
          </p:cNvPicPr>
          <p:nvPr/>
        </p:nvPicPr>
        <p:blipFill>
          <a:blip r:embed="rId2"/>
          <a:stretch>
            <a:fillRect/>
          </a:stretch>
        </p:blipFill>
        <p:spPr>
          <a:xfrm>
            <a:off x="2447925" y="2528765"/>
            <a:ext cx="7766050" cy="3648198"/>
          </a:xfrm>
          <a:prstGeom prst="rect">
            <a:avLst/>
          </a:prstGeom>
        </p:spPr>
      </p:pic>
      <p:sp>
        <p:nvSpPr>
          <p:cNvPr id="8" name="TextBox 7">
            <a:extLst>
              <a:ext uri="{FF2B5EF4-FFF2-40B4-BE49-F238E27FC236}">
                <a16:creationId xmlns:a16="http://schemas.microsoft.com/office/drawing/2014/main" id="{FF213246-3BD8-1544-AE27-A01B5CD89257}"/>
              </a:ext>
            </a:extLst>
          </p:cNvPr>
          <p:cNvSpPr txBox="1"/>
          <p:nvPr/>
        </p:nvSpPr>
        <p:spPr>
          <a:xfrm>
            <a:off x="838200" y="6180138"/>
            <a:ext cx="10106025" cy="369332"/>
          </a:xfrm>
          <a:prstGeom prst="rect">
            <a:avLst/>
          </a:prstGeom>
          <a:noFill/>
        </p:spPr>
        <p:txBody>
          <a:bodyPr wrap="square" rtlCol="0">
            <a:spAutoFit/>
          </a:bodyPr>
          <a:lstStyle/>
          <a:p>
            <a:r>
              <a:rPr lang="en-US" dirty="0"/>
              <a:t>Neural networks and deep learning. Springer, 10(978), 3.</a:t>
            </a:r>
          </a:p>
        </p:txBody>
      </p:sp>
    </p:spTree>
    <p:extLst>
      <p:ext uri="{BB962C8B-B14F-4D97-AF65-F5344CB8AC3E}">
        <p14:creationId xmlns:p14="http://schemas.microsoft.com/office/powerpoint/2010/main" val="136870986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CD235-89B0-C746-876D-594D45ED93DE}"/>
              </a:ext>
            </a:extLst>
          </p:cNvPr>
          <p:cNvSpPr>
            <a:spLocks noGrp="1"/>
          </p:cNvSpPr>
          <p:nvPr>
            <p:ph type="title"/>
          </p:nvPr>
        </p:nvSpPr>
        <p:spPr/>
        <p:txBody>
          <a:bodyPr/>
          <a:lstStyle/>
          <a:p>
            <a:r>
              <a:rPr lang="es-ES_tradnl" dirty="0"/>
              <a:t>Algunos algoritmos de aprendizaje profundo</a:t>
            </a:r>
          </a:p>
        </p:txBody>
      </p:sp>
      <p:sp>
        <p:nvSpPr>
          <p:cNvPr id="3" name="Content Placeholder 2">
            <a:extLst>
              <a:ext uri="{FF2B5EF4-FFF2-40B4-BE49-F238E27FC236}">
                <a16:creationId xmlns:a16="http://schemas.microsoft.com/office/drawing/2014/main" id="{5B29E857-EBE5-E94D-AAFC-3A397BBA5342}"/>
              </a:ext>
            </a:extLst>
          </p:cNvPr>
          <p:cNvSpPr>
            <a:spLocks noGrp="1"/>
          </p:cNvSpPr>
          <p:nvPr>
            <p:ph idx="1"/>
          </p:nvPr>
        </p:nvSpPr>
        <p:spPr/>
        <p:txBody>
          <a:bodyPr/>
          <a:lstStyle/>
          <a:p>
            <a:r>
              <a:rPr lang="en-US" dirty="0"/>
              <a:t>Redes </a:t>
            </a:r>
            <a:r>
              <a:rPr lang="en-US" dirty="0" err="1"/>
              <a:t>neuronales</a:t>
            </a:r>
            <a:r>
              <a:rPr lang="en-US" dirty="0"/>
              <a:t> de memoria a largo y corto </a:t>
            </a:r>
            <a:r>
              <a:rPr lang="en-US" dirty="0" err="1"/>
              <a:t>plazo</a:t>
            </a:r>
            <a:r>
              <a:rPr lang="en-US" dirty="0"/>
              <a:t> (LSTM)</a:t>
            </a:r>
          </a:p>
          <a:p>
            <a:r>
              <a:rPr lang="en-US" dirty="0"/>
              <a:t>Redes </a:t>
            </a:r>
            <a:r>
              <a:rPr lang="en-US" dirty="0" err="1"/>
              <a:t>neuronales</a:t>
            </a:r>
            <a:r>
              <a:rPr lang="en-US" dirty="0"/>
              <a:t> </a:t>
            </a:r>
            <a:r>
              <a:rPr lang="en-US" dirty="0" err="1"/>
              <a:t>recurrentes</a:t>
            </a:r>
            <a:r>
              <a:rPr lang="en-US" dirty="0"/>
              <a:t> (RNN)</a:t>
            </a:r>
          </a:p>
        </p:txBody>
      </p:sp>
      <p:sp>
        <p:nvSpPr>
          <p:cNvPr id="4" name="Slide Number Placeholder 3">
            <a:extLst>
              <a:ext uri="{FF2B5EF4-FFF2-40B4-BE49-F238E27FC236}">
                <a16:creationId xmlns:a16="http://schemas.microsoft.com/office/drawing/2014/main" id="{63F21E7F-81C0-B24D-BBEB-2C17BB67AC20}"/>
              </a:ext>
            </a:extLst>
          </p:cNvPr>
          <p:cNvSpPr>
            <a:spLocks noGrp="1"/>
          </p:cNvSpPr>
          <p:nvPr>
            <p:ph type="sldNum" sz="quarter" idx="12"/>
          </p:nvPr>
        </p:nvSpPr>
        <p:spPr/>
        <p:txBody>
          <a:bodyPr/>
          <a:lstStyle/>
          <a:p>
            <a:fld id="{B4BE085C-131E-4871-906D-CE6CA8D2EB1A}" type="slidenum">
              <a:rPr lang="es-MX" smtClean="0"/>
              <a:t>26</a:t>
            </a:fld>
            <a:endParaRPr lang="es-MX"/>
          </a:p>
        </p:txBody>
      </p:sp>
      <p:pic>
        <p:nvPicPr>
          <p:cNvPr id="5" name="Picture 4">
            <a:extLst>
              <a:ext uri="{FF2B5EF4-FFF2-40B4-BE49-F238E27FC236}">
                <a16:creationId xmlns:a16="http://schemas.microsoft.com/office/drawing/2014/main" id="{8712883C-2657-BF47-96B2-A72ED079CF03}"/>
              </a:ext>
            </a:extLst>
          </p:cNvPr>
          <p:cNvPicPr>
            <a:picLocks noChangeAspect="1"/>
          </p:cNvPicPr>
          <p:nvPr/>
        </p:nvPicPr>
        <p:blipFill rotWithShape="1">
          <a:blip r:embed="rId2"/>
          <a:srcRect t="19368" r="61730"/>
          <a:stretch/>
        </p:blipFill>
        <p:spPr>
          <a:xfrm>
            <a:off x="178490" y="2915478"/>
            <a:ext cx="2949023" cy="2757902"/>
          </a:xfrm>
          <a:prstGeom prst="rect">
            <a:avLst/>
          </a:prstGeom>
        </p:spPr>
      </p:pic>
      <p:sp>
        <p:nvSpPr>
          <p:cNvPr id="7" name="TextBox 6">
            <a:extLst>
              <a:ext uri="{FF2B5EF4-FFF2-40B4-BE49-F238E27FC236}">
                <a16:creationId xmlns:a16="http://schemas.microsoft.com/office/drawing/2014/main" id="{14E5AC60-E203-6942-B71D-E0F4CBDB0D07}"/>
              </a:ext>
            </a:extLst>
          </p:cNvPr>
          <p:cNvSpPr txBox="1"/>
          <p:nvPr/>
        </p:nvSpPr>
        <p:spPr>
          <a:xfrm>
            <a:off x="838200" y="6180138"/>
            <a:ext cx="10106025" cy="369332"/>
          </a:xfrm>
          <a:prstGeom prst="rect">
            <a:avLst/>
          </a:prstGeom>
          <a:noFill/>
        </p:spPr>
        <p:txBody>
          <a:bodyPr wrap="square" rtlCol="0">
            <a:spAutoFit/>
          </a:bodyPr>
          <a:lstStyle/>
          <a:p>
            <a:r>
              <a:rPr lang="en-US" dirty="0"/>
              <a:t>Neural networks and deep learning. Springer, 10(978), 3.</a:t>
            </a:r>
          </a:p>
        </p:txBody>
      </p:sp>
      <p:pic>
        <p:nvPicPr>
          <p:cNvPr id="13" name="Picture 12" descr="Diagram&#10;&#10;Description automatically generated">
            <a:extLst>
              <a:ext uri="{FF2B5EF4-FFF2-40B4-BE49-F238E27FC236}">
                <a16:creationId xmlns:a16="http://schemas.microsoft.com/office/drawing/2014/main" id="{AC9BFFA3-448D-C645-8C31-F7F1A30F40CC}"/>
              </a:ext>
            </a:extLst>
          </p:cNvPr>
          <p:cNvPicPr>
            <a:picLocks noChangeAspect="1"/>
          </p:cNvPicPr>
          <p:nvPr/>
        </p:nvPicPr>
        <p:blipFill>
          <a:blip r:embed="rId3"/>
          <a:stretch>
            <a:fillRect/>
          </a:stretch>
        </p:blipFill>
        <p:spPr>
          <a:xfrm>
            <a:off x="8073224" y="2915478"/>
            <a:ext cx="2873402" cy="2046631"/>
          </a:xfrm>
          <a:prstGeom prst="rect">
            <a:avLst/>
          </a:prstGeom>
          <a:noFill/>
          <a:ln>
            <a:noFill/>
          </a:ln>
        </p:spPr>
      </p:pic>
      <p:pic>
        <p:nvPicPr>
          <p:cNvPr id="14" name="Picture 13">
            <a:extLst>
              <a:ext uri="{FF2B5EF4-FFF2-40B4-BE49-F238E27FC236}">
                <a16:creationId xmlns:a16="http://schemas.microsoft.com/office/drawing/2014/main" id="{33FFCC15-FD1D-F54F-B670-61501ADC9E58}"/>
              </a:ext>
            </a:extLst>
          </p:cNvPr>
          <p:cNvPicPr>
            <a:picLocks noChangeAspect="1"/>
          </p:cNvPicPr>
          <p:nvPr/>
        </p:nvPicPr>
        <p:blipFill>
          <a:blip r:embed="rId4"/>
          <a:stretch>
            <a:fillRect/>
          </a:stretch>
        </p:blipFill>
        <p:spPr>
          <a:xfrm>
            <a:off x="4723724" y="2915478"/>
            <a:ext cx="1693322" cy="1959610"/>
          </a:xfrm>
          <a:prstGeom prst="rect">
            <a:avLst/>
          </a:prstGeom>
        </p:spPr>
      </p:pic>
      <p:sp>
        <p:nvSpPr>
          <p:cNvPr id="15" name="TextBox 14">
            <a:extLst>
              <a:ext uri="{FF2B5EF4-FFF2-40B4-BE49-F238E27FC236}">
                <a16:creationId xmlns:a16="http://schemas.microsoft.com/office/drawing/2014/main" id="{E19BA652-B809-BF43-AB98-7F6E85FF1D5A}"/>
              </a:ext>
            </a:extLst>
          </p:cNvPr>
          <p:cNvSpPr txBox="1"/>
          <p:nvPr/>
        </p:nvSpPr>
        <p:spPr>
          <a:xfrm>
            <a:off x="838200" y="5867296"/>
            <a:ext cx="1075248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Lipton, Z. C., Berkowitz, J., &amp; Elkan, C. (2015). A critical review of recurrent neural networks for sequence learning.</a:t>
            </a:r>
            <a:endParaRPr lang="en-US" dirty="0"/>
          </a:p>
        </p:txBody>
      </p:sp>
      <p:sp>
        <p:nvSpPr>
          <p:cNvPr id="16" name="TextBox 15">
            <a:extLst>
              <a:ext uri="{FF2B5EF4-FFF2-40B4-BE49-F238E27FC236}">
                <a16:creationId xmlns:a16="http://schemas.microsoft.com/office/drawing/2014/main" id="{C6B15FE5-8B2C-3F4A-B7E1-EBF73D03FA20}"/>
              </a:ext>
            </a:extLst>
          </p:cNvPr>
          <p:cNvSpPr txBox="1"/>
          <p:nvPr/>
        </p:nvSpPr>
        <p:spPr>
          <a:xfrm>
            <a:off x="3632231" y="3799991"/>
            <a:ext cx="112080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Many to One</a:t>
            </a:r>
            <a:endParaRPr lang="en-US" dirty="0"/>
          </a:p>
        </p:txBody>
      </p:sp>
      <p:sp>
        <p:nvSpPr>
          <p:cNvPr id="17" name="TextBox 16">
            <a:extLst>
              <a:ext uri="{FF2B5EF4-FFF2-40B4-BE49-F238E27FC236}">
                <a16:creationId xmlns:a16="http://schemas.microsoft.com/office/drawing/2014/main" id="{E9047198-01F3-994C-9532-1D54F8BD5BA8}"/>
              </a:ext>
            </a:extLst>
          </p:cNvPr>
          <p:cNvSpPr txBox="1"/>
          <p:nvPr/>
        </p:nvSpPr>
        <p:spPr>
          <a:xfrm>
            <a:off x="6917975" y="3785825"/>
            <a:ext cx="1120802"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Many to Many</a:t>
            </a:r>
            <a:endParaRPr lang="en-US" dirty="0"/>
          </a:p>
        </p:txBody>
      </p:sp>
    </p:spTree>
    <p:extLst>
      <p:ext uri="{BB962C8B-B14F-4D97-AF65-F5344CB8AC3E}">
        <p14:creationId xmlns:p14="http://schemas.microsoft.com/office/powerpoint/2010/main" val="33752945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6B557C9-0829-D56C-6CEB-47E0379B9A85}"/>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847F3221-ED9F-7D5A-3EBF-88BF0A528B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E3EB44-500A-98CC-7071-B8D7B7A80759}"/>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dirty="0"/>
              <a:t>1.2 </a:t>
            </a:r>
            <a:r>
              <a:rPr lang="en-US" sz="8000" b="1" dirty="0" err="1"/>
              <a:t>Funciones</a:t>
            </a:r>
            <a:r>
              <a:rPr lang="en-US" sz="8000" b="1" dirty="0"/>
              <a:t> de </a:t>
            </a:r>
            <a:r>
              <a:rPr lang="en-US" sz="8000" b="1" dirty="0" err="1"/>
              <a:t>activación</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42D7B42A-F0BC-E370-55A4-24C7D4B76C24}"/>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197CB5AB-4E95-647E-E015-D034D53CA9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00B406C4-F96F-36C1-C687-BDB7599B05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A786406-C656-142D-04FC-8670C52BE069}"/>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27</a:t>
            </a:fld>
            <a:endParaRPr lang="en-US">
              <a:solidFill>
                <a:schemeClr val="tx1">
                  <a:lumMod val="50000"/>
                  <a:lumOff val="50000"/>
                </a:schemeClr>
              </a:solidFill>
            </a:endParaRPr>
          </a:p>
        </p:txBody>
      </p:sp>
    </p:spTree>
    <p:extLst>
      <p:ext uri="{BB962C8B-B14F-4D97-AF65-F5344CB8AC3E}">
        <p14:creationId xmlns:p14="http://schemas.microsoft.com/office/powerpoint/2010/main" val="108952693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B840F-9FDE-5243-B3B1-6FDDCEB998BE}"/>
              </a:ext>
            </a:extLst>
          </p:cNvPr>
          <p:cNvSpPr>
            <a:spLocks noGrp="1"/>
          </p:cNvSpPr>
          <p:nvPr>
            <p:ph type="title"/>
          </p:nvPr>
        </p:nvSpPr>
        <p:spPr/>
        <p:txBody>
          <a:bodyPr/>
          <a:lstStyle/>
          <a:p>
            <a:r>
              <a:rPr lang="es-ES_tradnl" dirty="0"/>
              <a:t>Funciones de activación</a:t>
            </a:r>
          </a:p>
        </p:txBody>
      </p:sp>
      <p:sp>
        <p:nvSpPr>
          <p:cNvPr id="3" name="Content Placeholder 2">
            <a:extLst>
              <a:ext uri="{FF2B5EF4-FFF2-40B4-BE49-F238E27FC236}">
                <a16:creationId xmlns:a16="http://schemas.microsoft.com/office/drawing/2014/main" id="{0984C8D5-6894-7D43-AF9C-C2D920185B37}"/>
              </a:ext>
            </a:extLst>
          </p:cNvPr>
          <p:cNvSpPr>
            <a:spLocks noGrp="1"/>
          </p:cNvSpPr>
          <p:nvPr>
            <p:ph idx="1"/>
          </p:nvPr>
        </p:nvSpPr>
        <p:spPr>
          <a:xfrm>
            <a:off x="838199" y="1825625"/>
            <a:ext cx="10515599" cy="4351338"/>
          </a:xfrm>
        </p:spPr>
        <p:txBody>
          <a:bodyPr/>
          <a:lstStyle/>
          <a:p>
            <a:r>
              <a:rPr lang="en-US" dirty="0"/>
              <a:t>linear, sigmoid, tanh, </a:t>
            </a:r>
            <a:r>
              <a:rPr lang="en-US" dirty="0" err="1"/>
              <a:t>softmax</a:t>
            </a:r>
            <a:r>
              <a:rPr lang="en-US" dirty="0"/>
              <a:t>, </a:t>
            </a:r>
            <a:r>
              <a:rPr lang="en-US" dirty="0" err="1"/>
              <a:t>ReLU</a:t>
            </a:r>
            <a:endParaRPr lang="en-US" dirty="0"/>
          </a:p>
          <a:p>
            <a:pPr marL="0" indent="0">
              <a:buNone/>
            </a:pPr>
            <a:endParaRPr lang="es-ES_tradnl" dirty="0"/>
          </a:p>
          <a:p>
            <a:pPr marL="0" indent="0">
              <a:buNone/>
            </a:pPr>
            <a:r>
              <a:rPr lang="es-ES_tradnl" dirty="0"/>
              <a:t>Wavelets</a:t>
            </a:r>
          </a:p>
          <a:p>
            <a:r>
              <a:rPr lang="es-ES_tradnl" dirty="0"/>
              <a:t>Combinación de redes neuronales sigmoideas y análisis de ondículas. </a:t>
            </a:r>
          </a:p>
          <a:p>
            <a:r>
              <a:rPr lang="es-ES_tradnl" dirty="0"/>
              <a:t>Permite aproximar procesos no lineales deterministas con poco conocimiento y sin suposiciones sobre los sistemas.</a:t>
            </a:r>
          </a:p>
        </p:txBody>
      </p:sp>
      <p:sp>
        <p:nvSpPr>
          <p:cNvPr id="4" name="Slide Number Placeholder 3">
            <a:extLst>
              <a:ext uri="{FF2B5EF4-FFF2-40B4-BE49-F238E27FC236}">
                <a16:creationId xmlns:a16="http://schemas.microsoft.com/office/drawing/2014/main" id="{9BCAC1B8-31F0-5842-B601-ED08C8B16DC2}"/>
              </a:ext>
            </a:extLst>
          </p:cNvPr>
          <p:cNvSpPr>
            <a:spLocks noGrp="1"/>
          </p:cNvSpPr>
          <p:nvPr>
            <p:ph type="sldNum" sz="quarter" idx="12"/>
          </p:nvPr>
        </p:nvSpPr>
        <p:spPr/>
        <p:txBody>
          <a:bodyPr/>
          <a:lstStyle/>
          <a:p>
            <a:fld id="{B4BE085C-131E-4871-906D-CE6CA8D2EB1A}" type="slidenum">
              <a:rPr lang="es-MX" smtClean="0"/>
              <a:t>28</a:t>
            </a:fld>
            <a:endParaRPr lang="es-MX"/>
          </a:p>
        </p:txBody>
      </p:sp>
      <p:sp>
        <p:nvSpPr>
          <p:cNvPr id="5" name="TextBox 4">
            <a:extLst>
              <a:ext uri="{FF2B5EF4-FFF2-40B4-BE49-F238E27FC236}">
                <a16:creationId xmlns:a16="http://schemas.microsoft.com/office/drawing/2014/main" id="{6BC08049-5E70-7744-8D40-95D0B3233A3D}"/>
              </a:ext>
            </a:extLst>
          </p:cNvPr>
          <p:cNvSpPr txBox="1"/>
          <p:nvPr/>
        </p:nvSpPr>
        <p:spPr>
          <a:xfrm>
            <a:off x="838200" y="6033184"/>
            <a:ext cx="10620375" cy="646331"/>
          </a:xfrm>
          <a:prstGeom prst="rect">
            <a:avLst/>
          </a:prstGeom>
          <a:noFill/>
        </p:spPr>
        <p:txBody>
          <a:bodyPr wrap="square" rtlCol="0">
            <a:spAutoFit/>
          </a:bodyPr>
          <a:lstStyle/>
          <a:p>
            <a:r>
              <a:rPr lang="es-ES_tradnl" dirty="0"/>
              <a:t>Wavelet neural </a:t>
            </a:r>
            <a:r>
              <a:rPr lang="es-ES_tradnl" dirty="0" err="1"/>
              <a:t>networks</a:t>
            </a:r>
            <a:r>
              <a:rPr lang="es-ES_tradnl" dirty="0"/>
              <a:t>: </a:t>
            </a:r>
            <a:r>
              <a:rPr lang="es-ES_tradnl" dirty="0" err="1"/>
              <a:t>with</a:t>
            </a:r>
            <a:r>
              <a:rPr lang="es-ES_tradnl" dirty="0"/>
              <a:t> </a:t>
            </a:r>
            <a:r>
              <a:rPr lang="es-ES_tradnl" dirty="0" err="1"/>
              <a:t>applications</a:t>
            </a:r>
            <a:r>
              <a:rPr lang="es-ES_tradnl" dirty="0"/>
              <a:t> in </a:t>
            </a:r>
            <a:r>
              <a:rPr lang="es-ES_tradnl" dirty="0" err="1"/>
              <a:t>financial</a:t>
            </a:r>
            <a:r>
              <a:rPr lang="es-ES_tradnl" dirty="0"/>
              <a:t> </a:t>
            </a:r>
            <a:r>
              <a:rPr lang="es-ES_tradnl" dirty="0" err="1"/>
              <a:t>engineering</a:t>
            </a:r>
            <a:r>
              <a:rPr lang="es-ES_tradnl" dirty="0"/>
              <a:t>, chaos, and </a:t>
            </a:r>
            <a:r>
              <a:rPr lang="es-ES_tradnl" dirty="0" err="1"/>
              <a:t>classification</a:t>
            </a:r>
            <a:r>
              <a:rPr lang="es-ES_tradnl" dirty="0"/>
              <a:t>. John </a:t>
            </a:r>
            <a:r>
              <a:rPr lang="es-ES_tradnl" dirty="0" err="1"/>
              <a:t>Wiley</a:t>
            </a:r>
            <a:r>
              <a:rPr lang="es-ES_tradnl" dirty="0"/>
              <a:t> &amp; </a:t>
            </a:r>
            <a:r>
              <a:rPr lang="es-ES_tradnl" dirty="0" err="1"/>
              <a:t>Sons</a:t>
            </a:r>
            <a:r>
              <a:rPr lang="es-ES_tradnl" dirty="0"/>
              <a:t>, 2014.</a:t>
            </a:r>
          </a:p>
        </p:txBody>
      </p:sp>
    </p:spTree>
    <p:extLst>
      <p:ext uri="{BB962C8B-B14F-4D97-AF65-F5344CB8AC3E}">
        <p14:creationId xmlns:p14="http://schemas.microsoft.com/office/powerpoint/2010/main" val="10687369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2405C4-680C-9443-96BE-4F16FFFC3B42}"/>
              </a:ext>
            </a:extLst>
          </p:cNvPr>
          <p:cNvSpPr>
            <a:spLocks noGrp="1"/>
          </p:cNvSpPr>
          <p:nvPr>
            <p:ph type="title"/>
          </p:nvPr>
        </p:nvSpPr>
        <p:spPr>
          <a:xfrm>
            <a:off x="838199" y="1093788"/>
            <a:ext cx="10506455" cy="2967208"/>
          </a:xfrm>
        </p:spPr>
        <p:txBody>
          <a:bodyPr vert="horz" lIns="91440" tIns="45720" rIns="91440" bIns="45720" rtlCol="0" anchor="b">
            <a:normAutofit fontScale="90000"/>
          </a:bodyPr>
          <a:lstStyle/>
          <a:p>
            <a:r>
              <a:rPr lang="en-US" sz="7400" b="1" dirty="0"/>
              <a:t>3.</a:t>
            </a:r>
            <a:r>
              <a:rPr lang="en-US" sz="7400" b="1" kern="1200" dirty="0">
                <a:solidFill>
                  <a:schemeClr val="tx1"/>
                </a:solidFill>
                <a:latin typeface="+mj-lt"/>
                <a:ea typeface="+mj-ea"/>
                <a:cs typeface="+mj-cs"/>
              </a:rPr>
              <a:t> </a:t>
            </a:r>
            <a:r>
              <a:rPr lang="en-US" sz="7400" b="1" dirty="0"/>
              <a:t>RN </a:t>
            </a:r>
            <a:r>
              <a:rPr lang="en-US" sz="7400" b="1" dirty="0" err="1"/>
              <a:t>recurrentes</a:t>
            </a:r>
            <a:r>
              <a:rPr lang="en-US" sz="7400" b="1" dirty="0"/>
              <a:t> para la </a:t>
            </a:r>
            <a:r>
              <a:rPr lang="en-US" sz="7400" b="1" dirty="0" err="1"/>
              <a:t>identificación</a:t>
            </a:r>
            <a:r>
              <a:rPr lang="en-US" sz="7400" b="1" dirty="0"/>
              <a:t> de </a:t>
            </a:r>
            <a:r>
              <a:rPr lang="en-US" sz="7400" b="1" dirty="0" err="1"/>
              <a:t>sistemas</a:t>
            </a:r>
            <a:r>
              <a:rPr lang="en-US" sz="7400" b="1" dirty="0"/>
              <a:t> </a:t>
            </a:r>
            <a:r>
              <a:rPr lang="en-US" sz="7400" b="1" dirty="0" err="1"/>
              <a:t>dinámicos</a:t>
            </a:r>
            <a:endParaRPr lang="en-US" sz="74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AD035D51-F4ED-5442-B95E-F33EDE93D329}"/>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7345D27-F020-5749-A260-4362F46675A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29</a:t>
            </a:fld>
            <a:endParaRPr lang="en-US">
              <a:solidFill>
                <a:schemeClr val="tx1">
                  <a:lumMod val="50000"/>
                  <a:lumOff val="50000"/>
                </a:schemeClr>
              </a:solidFill>
            </a:endParaRPr>
          </a:p>
        </p:txBody>
      </p:sp>
    </p:spTree>
    <p:extLst>
      <p:ext uri="{BB962C8B-B14F-4D97-AF65-F5344CB8AC3E}">
        <p14:creationId xmlns:p14="http://schemas.microsoft.com/office/powerpoint/2010/main" val="2137173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554B1E-C909-37BB-0E1C-293A639479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B32B61-CD78-EADC-459B-A8455E15DB95}"/>
              </a:ext>
            </a:extLst>
          </p:cNvPr>
          <p:cNvSpPr>
            <a:spLocks noGrp="1"/>
          </p:cNvSpPr>
          <p:nvPr>
            <p:ph type="title"/>
          </p:nvPr>
        </p:nvSpPr>
        <p:spPr/>
        <p:txBody>
          <a:bodyPr>
            <a:normAutofit/>
          </a:bodyPr>
          <a:lstStyle/>
          <a:p>
            <a:r>
              <a:rPr lang="en-US" dirty="0"/>
              <a:t>¿</a:t>
            </a:r>
            <a:r>
              <a:rPr lang="en-US" dirty="0" err="1"/>
              <a:t>Qué</a:t>
            </a:r>
            <a:r>
              <a:rPr lang="en-US" dirty="0"/>
              <a:t> </a:t>
            </a:r>
            <a:r>
              <a:rPr lang="en-US" dirty="0" err="1"/>
              <a:t>hacen</a:t>
            </a:r>
            <a:r>
              <a:rPr lang="en-US" dirty="0"/>
              <a:t> las RNN?</a:t>
            </a:r>
          </a:p>
        </p:txBody>
      </p:sp>
      <p:sp>
        <p:nvSpPr>
          <p:cNvPr id="3" name="Content Placeholder 2">
            <a:extLst>
              <a:ext uri="{FF2B5EF4-FFF2-40B4-BE49-F238E27FC236}">
                <a16:creationId xmlns:a16="http://schemas.microsoft.com/office/drawing/2014/main" id="{484A981E-61F0-7630-2C63-4574A05EB71B}"/>
              </a:ext>
            </a:extLst>
          </p:cNvPr>
          <p:cNvSpPr>
            <a:spLocks noGrp="1"/>
          </p:cNvSpPr>
          <p:nvPr>
            <p:ph idx="1"/>
          </p:nvPr>
        </p:nvSpPr>
        <p:spPr>
          <a:xfrm>
            <a:off x="838200" y="1690688"/>
            <a:ext cx="10811933" cy="4095332"/>
          </a:xfrm>
        </p:spPr>
        <p:txBody>
          <a:bodyPr>
            <a:normAutofit/>
          </a:bodyPr>
          <a:lstStyle/>
          <a:p>
            <a:r>
              <a:rPr lang="en-US" dirty="0" err="1"/>
              <a:t>Modelan</a:t>
            </a:r>
            <a:r>
              <a:rPr lang="en-US" dirty="0"/>
              <a:t> </a:t>
            </a:r>
            <a:r>
              <a:rPr lang="en-US" dirty="0" err="1"/>
              <a:t>sistemas</a:t>
            </a:r>
            <a:r>
              <a:rPr lang="en-US" dirty="0"/>
              <a:t> </a:t>
            </a:r>
            <a:r>
              <a:rPr lang="en-US" dirty="0" err="1"/>
              <a:t>dinámicos</a:t>
            </a:r>
            <a:r>
              <a:rPr lang="en-US" dirty="0"/>
              <a:t> </a:t>
            </a:r>
            <a:r>
              <a:rPr lang="en-US" dirty="0" err="1"/>
              <a:t>arbitrarios</a:t>
            </a:r>
            <a:r>
              <a:rPr lang="en-US" dirty="0"/>
              <a:t> </a:t>
            </a:r>
            <a:r>
              <a:rPr lang="en-US" dirty="0" err="1"/>
              <a:t>distribuyendo</a:t>
            </a:r>
            <a:r>
              <a:rPr lang="en-US" dirty="0"/>
              <a:t> </a:t>
            </a:r>
            <a:r>
              <a:rPr lang="en-US" dirty="0" err="1"/>
              <a:t>componentes</a:t>
            </a:r>
            <a:r>
              <a:rPr lang="en-US" dirty="0"/>
              <a:t> </a:t>
            </a:r>
            <a:r>
              <a:rPr lang="en-US" dirty="0" err="1"/>
              <a:t>dinámicos</a:t>
            </a:r>
            <a:r>
              <a:rPr lang="en-US" dirty="0"/>
              <a:t> a lo largo de la red</a:t>
            </a:r>
          </a:p>
          <a:p>
            <a:r>
              <a:rPr lang="en-US" dirty="0"/>
              <a:t>Lo </a:t>
            </a:r>
            <a:r>
              <a:rPr lang="en-US" dirty="0" err="1"/>
              <a:t>que</a:t>
            </a:r>
            <a:r>
              <a:rPr lang="en-US" dirty="0"/>
              <a:t> les </a:t>
            </a:r>
            <a:r>
              <a:rPr lang="en-US" dirty="0" err="1"/>
              <a:t>permite</a:t>
            </a:r>
            <a:r>
              <a:rPr lang="en-US" dirty="0"/>
              <a:t> </a:t>
            </a:r>
            <a:r>
              <a:rPr lang="en-US" dirty="0" err="1"/>
              <a:t>aproximar</a:t>
            </a:r>
            <a:r>
              <a:rPr lang="en-US" dirty="0"/>
              <a:t> </a:t>
            </a:r>
            <a:r>
              <a:rPr lang="en-US" dirty="0" err="1"/>
              <a:t>el</a:t>
            </a:r>
            <a:r>
              <a:rPr lang="en-US" dirty="0"/>
              <a:t> </a:t>
            </a:r>
            <a:r>
              <a:rPr lang="en-US" dirty="0" err="1"/>
              <a:t>comportamiento</a:t>
            </a:r>
            <a:r>
              <a:rPr lang="en-US" dirty="0"/>
              <a:t> de entrada-</a:t>
            </a:r>
            <a:r>
              <a:rPr lang="en-US" dirty="0" err="1"/>
              <a:t>salida</a:t>
            </a:r>
            <a:r>
              <a:rPr lang="en-US" dirty="0"/>
              <a:t> de </a:t>
            </a:r>
            <a:r>
              <a:rPr lang="en-US" dirty="0" err="1"/>
              <a:t>sistemas</a:t>
            </a:r>
            <a:r>
              <a:rPr lang="en-US" dirty="0"/>
              <a:t> </a:t>
            </a:r>
            <a:r>
              <a:rPr lang="en-US" dirty="0" err="1"/>
              <a:t>generales</a:t>
            </a:r>
            <a:r>
              <a:rPr lang="en-US" dirty="0"/>
              <a:t> </a:t>
            </a:r>
            <a:r>
              <a:rPr lang="en-US" dirty="0" err="1"/>
              <a:t>cuyas</a:t>
            </a:r>
            <a:r>
              <a:rPr lang="en-US" dirty="0"/>
              <a:t> </a:t>
            </a:r>
            <a:r>
              <a:rPr lang="en-US" dirty="0" err="1"/>
              <a:t>trayectorias</a:t>
            </a:r>
            <a:r>
              <a:rPr lang="en-US" dirty="0"/>
              <a:t> de </a:t>
            </a:r>
            <a:r>
              <a:rPr lang="en-US" dirty="0" err="1"/>
              <a:t>estado</a:t>
            </a:r>
            <a:r>
              <a:rPr lang="en-US" dirty="0"/>
              <a:t> </a:t>
            </a:r>
            <a:r>
              <a:rPr lang="en-US" dirty="0" err="1"/>
              <a:t>permanecen</a:t>
            </a:r>
            <a:r>
              <a:rPr lang="en-US" dirty="0"/>
              <a:t> </a:t>
            </a:r>
            <a:r>
              <a:rPr lang="en-US" dirty="0" err="1"/>
              <a:t>dentro</a:t>
            </a:r>
            <a:r>
              <a:rPr lang="en-US" dirty="0"/>
              <a:t> de un conjunto </a:t>
            </a:r>
            <a:r>
              <a:rPr lang="en-US" dirty="0" err="1"/>
              <a:t>compacto</a:t>
            </a:r>
            <a:r>
              <a:rPr lang="en-US" dirty="0"/>
              <a:t>.</a:t>
            </a:r>
          </a:p>
        </p:txBody>
      </p:sp>
      <p:sp>
        <p:nvSpPr>
          <p:cNvPr id="4" name="Slide Number Placeholder 3">
            <a:extLst>
              <a:ext uri="{FF2B5EF4-FFF2-40B4-BE49-F238E27FC236}">
                <a16:creationId xmlns:a16="http://schemas.microsoft.com/office/drawing/2014/main" id="{F8C47F19-63FC-BB0C-B40D-74EA5FBE5489}"/>
              </a:ext>
            </a:extLst>
          </p:cNvPr>
          <p:cNvSpPr>
            <a:spLocks noGrp="1"/>
          </p:cNvSpPr>
          <p:nvPr>
            <p:ph type="sldNum" sz="quarter" idx="12"/>
          </p:nvPr>
        </p:nvSpPr>
        <p:spPr/>
        <p:txBody>
          <a:bodyPr/>
          <a:lstStyle/>
          <a:p>
            <a:fld id="{B4BE085C-131E-4871-906D-CE6CA8D2EB1A}" type="slidenum">
              <a:rPr lang="es-MX" smtClean="0"/>
              <a:t>30</a:t>
            </a:fld>
            <a:endParaRPr lang="es-MX" dirty="0"/>
          </a:p>
        </p:txBody>
      </p:sp>
    </p:spTree>
    <p:extLst>
      <p:ext uri="{BB962C8B-B14F-4D97-AF65-F5344CB8AC3E}">
        <p14:creationId xmlns:p14="http://schemas.microsoft.com/office/powerpoint/2010/main" val="4286366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8C00C-8CC2-FC3E-4ED5-7AC00D7B5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6A2C75-8255-9520-5CFE-C621EE62565C}"/>
              </a:ext>
            </a:extLst>
          </p:cNvPr>
          <p:cNvSpPr>
            <a:spLocks noGrp="1"/>
          </p:cNvSpPr>
          <p:nvPr>
            <p:ph type="title"/>
          </p:nvPr>
        </p:nvSpPr>
        <p:spPr/>
        <p:txBody>
          <a:bodyPr/>
          <a:lstStyle/>
          <a:p>
            <a:r>
              <a:rPr lang="en-US" b="1" dirty="0"/>
              <a:t>¿</a:t>
            </a:r>
            <a:r>
              <a:rPr lang="en-US" b="1" dirty="0" err="1"/>
              <a:t>Qué</a:t>
            </a:r>
            <a:r>
              <a:rPr lang="en-US" b="1" dirty="0"/>
              <a:t> son las RNN </a:t>
            </a:r>
            <a:r>
              <a:rPr lang="en-US" b="1" dirty="0" err="1"/>
              <a:t>en</a:t>
            </a:r>
            <a:r>
              <a:rPr lang="en-US" b="1" dirty="0"/>
              <a:t> </a:t>
            </a:r>
            <a:r>
              <a:rPr lang="en-US" b="1" dirty="0" err="1"/>
              <a:t>el</a:t>
            </a:r>
            <a:r>
              <a:rPr lang="en-US" b="1" dirty="0"/>
              <a:t> </a:t>
            </a:r>
            <a:r>
              <a:rPr lang="en-US" b="1" dirty="0" err="1"/>
              <a:t>concepto</a:t>
            </a:r>
            <a:r>
              <a:rPr lang="en-US" b="1" dirty="0"/>
              <a:t> de </a:t>
            </a:r>
            <a:r>
              <a:rPr lang="en-US" b="1" dirty="0" err="1"/>
              <a:t>sistemas</a:t>
            </a:r>
            <a:r>
              <a:rPr lang="en-US" b="1" dirty="0"/>
              <a:t> </a:t>
            </a:r>
            <a:r>
              <a:rPr lang="en-US" b="1" dirty="0" err="1"/>
              <a:t>dinámicos</a:t>
            </a:r>
            <a:r>
              <a:rPr lang="en-US" b="1" dirty="0"/>
              <a:t>?</a:t>
            </a:r>
            <a:endParaRPr lang="en-US" dirty="0"/>
          </a:p>
        </p:txBody>
      </p:sp>
      <p:sp>
        <p:nvSpPr>
          <p:cNvPr id="3" name="Content Placeholder 2">
            <a:extLst>
              <a:ext uri="{FF2B5EF4-FFF2-40B4-BE49-F238E27FC236}">
                <a16:creationId xmlns:a16="http://schemas.microsoft.com/office/drawing/2014/main" id="{D548528B-26C7-7C84-D964-5DA3D4D0B803}"/>
              </a:ext>
            </a:extLst>
          </p:cNvPr>
          <p:cNvSpPr>
            <a:spLocks noGrp="1"/>
          </p:cNvSpPr>
          <p:nvPr>
            <p:ph idx="1"/>
          </p:nvPr>
        </p:nvSpPr>
        <p:spPr>
          <a:xfrm>
            <a:off x="838200" y="1690688"/>
            <a:ext cx="10811933" cy="4095332"/>
          </a:xfrm>
        </p:spPr>
        <p:txBody>
          <a:bodyPr>
            <a:normAutofit/>
          </a:bodyPr>
          <a:lstStyle/>
          <a:p>
            <a:r>
              <a:rPr lang="en-US" dirty="0" err="1"/>
              <a:t>Arquitecturas</a:t>
            </a:r>
            <a:r>
              <a:rPr lang="en-US" dirty="0"/>
              <a:t> </a:t>
            </a:r>
            <a:r>
              <a:rPr lang="en-US" dirty="0" err="1"/>
              <a:t>que</a:t>
            </a:r>
            <a:r>
              <a:rPr lang="en-US" dirty="0"/>
              <a:t> </a:t>
            </a:r>
            <a:r>
              <a:rPr lang="en-US" dirty="0" err="1"/>
              <a:t>incorporan</a:t>
            </a:r>
            <a:r>
              <a:rPr lang="en-US" dirty="0"/>
              <a:t> de forma natural </a:t>
            </a:r>
            <a:r>
              <a:rPr lang="en-US" dirty="0" err="1"/>
              <a:t>elementos</a:t>
            </a:r>
            <a:r>
              <a:rPr lang="en-US" dirty="0"/>
              <a:t> </a:t>
            </a:r>
            <a:r>
              <a:rPr lang="en-US" dirty="0" err="1"/>
              <a:t>dinámicos</a:t>
            </a:r>
            <a:r>
              <a:rPr lang="en-US" dirty="0"/>
              <a:t> </a:t>
            </a:r>
            <a:r>
              <a:rPr lang="en-US" dirty="0" err="1"/>
              <a:t>en</a:t>
            </a:r>
            <a:r>
              <a:rPr lang="en-US" dirty="0"/>
              <a:t> forma de </a:t>
            </a:r>
            <a:r>
              <a:rPr lang="en-US" dirty="0" err="1"/>
              <a:t>conexiones</a:t>
            </a:r>
            <a:r>
              <a:rPr lang="en-US" dirty="0"/>
              <a:t> de </a:t>
            </a:r>
            <a:r>
              <a:rPr lang="en-US" dirty="0" err="1"/>
              <a:t>retroalimentación</a:t>
            </a:r>
            <a:r>
              <a:rPr lang="en-US" dirty="0"/>
              <a:t>.</a:t>
            </a:r>
          </a:p>
          <a:p>
            <a:r>
              <a:rPr lang="en-US" dirty="0"/>
              <a:t>El </a:t>
            </a:r>
            <a:r>
              <a:rPr lang="en-US" dirty="0" err="1"/>
              <a:t>historial</a:t>
            </a:r>
            <a:r>
              <a:rPr lang="en-US" dirty="0"/>
              <a:t> de </a:t>
            </a:r>
            <a:r>
              <a:rPr lang="en-US" dirty="0" err="1"/>
              <a:t>estado</a:t>
            </a:r>
            <a:r>
              <a:rPr lang="en-US" dirty="0"/>
              <a:t> de </a:t>
            </a:r>
            <a:r>
              <a:rPr lang="en-US" dirty="0" err="1"/>
              <a:t>cada</a:t>
            </a:r>
            <a:r>
              <a:rPr lang="en-US" dirty="0"/>
              <a:t> </a:t>
            </a:r>
            <a:r>
              <a:rPr lang="en-US" dirty="0" err="1"/>
              <a:t>unidad</a:t>
            </a:r>
            <a:r>
              <a:rPr lang="en-US" dirty="0"/>
              <a:t> o "</a:t>
            </a:r>
            <a:r>
              <a:rPr lang="en-US" dirty="0" err="1"/>
              <a:t>neurona</a:t>
            </a:r>
            <a:r>
              <a:rPr lang="en-US" dirty="0"/>
              <a:t> </a:t>
            </a:r>
            <a:r>
              <a:rPr lang="en-US" dirty="0" err="1"/>
              <a:t>dinámica</a:t>
            </a:r>
            <a:r>
              <a:rPr lang="en-US" dirty="0"/>
              <a:t>" </a:t>
            </a:r>
            <a:r>
              <a:rPr lang="en-US" dirty="0" err="1"/>
              <a:t>suele</a:t>
            </a:r>
            <a:r>
              <a:rPr lang="en-US" dirty="0"/>
              <a:t> </a:t>
            </a:r>
            <a:r>
              <a:rPr lang="en-US" dirty="0" err="1"/>
              <a:t>estar</a:t>
            </a:r>
            <a:r>
              <a:rPr lang="en-US" dirty="0"/>
              <a:t> </a:t>
            </a:r>
            <a:r>
              <a:rPr lang="en-US" dirty="0" err="1"/>
              <a:t>determinado</a:t>
            </a:r>
            <a:r>
              <a:rPr lang="en-US" dirty="0"/>
              <a:t> </a:t>
            </a:r>
            <a:r>
              <a:rPr lang="en-US" dirty="0" err="1"/>
              <a:t>por</a:t>
            </a:r>
            <a:r>
              <a:rPr lang="en-US" dirty="0"/>
              <a:t> </a:t>
            </a:r>
            <a:r>
              <a:rPr lang="en-US" dirty="0" err="1"/>
              <a:t>una</a:t>
            </a:r>
            <a:r>
              <a:rPr lang="en-US" dirty="0"/>
              <a:t> </a:t>
            </a:r>
            <a:r>
              <a:rPr lang="en-US" dirty="0" err="1"/>
              <a:t>ecuación</a:t>
            </a:r>
            <a:r>
              <a:rPr lang="en-US" dirty="0"/>
              <a:t> </a:t>
            </a:r>
            <a:r>
              <a:rPr lang="en-US" dirty="0" err="1"/>
              <a:t>diferencial</a:t>
            </a:r>
            <a:r>
              <a:rPr lang="en-US" dirty="0"/>
              <a:t> o de </a:t>
            </a:r>
            <a:r>
              <a:rPr lang="en-US" dirty="0" err="1"/>
              <a:t>diferencias</a:t>
            </a:r>
            <a:r>
              <a:rPr lang="en-US" dirty="0"/>
              <a:t> </a:t>
            </a:r>
            <a:r>
              <a:rPr lang="en-US" dirty="0" err="1"/>
              <a:t>finitas</a:t>
            </a:r>
            <a:r>
              <a:rPr lang="en-US" dirty="0"/>
              <a:t>.</a:t>
            </a:r>
          </a:p>
          <a:p>
            <a:r>
              <a:rPr lang="en-US" dirty="0"/>
              <a:t>Una RNN es </a:t>
            </a:r>
            <a:r>
              <a:rPr lang="en-US" dirty="0" err="1"/>
              <a:t>en</a:t>
            </a:r>
            <a:r>
              <a:rPr lang="en-US" dirty="0"/>
              <a:t> </a:t>
            </a:r>
            <a:r>
              <a:rPr lang="en-US" dirty="0" err="1"/>
              <a:t>sí</a:t>
            </a:r>
            <a:r>
              <a:rPr lang="en-US" dirty="0"/>
              <a:t> </a:t>
            </a:r>
            <a:r>
              <a:rPr lang="en-US" dirty="0" err="1"/>
              <a:t>misma</a:t>
            </a:r>
            <a:r>
              <a:rPr lang="en-US" dirty="0"/>
              <a:t> un </a:t>
            </a:r>
            <a:r>
              <a:rPr lang="en-US" dirty="0" err="1"/>
              <a:t>sistema</a:t>
            </a:r>
            <a:r>
              <a:rPr lang="en-US" dirty="0"/>
              <a:t> de </a:t>
            </a:r>
            <a:r>
              <a:rPr lang="en-US" dirty="0" err="1"/>
              <a:t>retroalimentación</a:t>
            </a:r>
            <a:r>
              <a:rPr lang="en-US" dirty="0"/>
              <a:t> </a:t>
            </a:r>
            <a:r>
              <a:rPr lang="en-US" dirty="0" err="1"/>
              <a:t>dinámico</a:t>
            </a:r>
            <a:r>
              <a:rPr lang="en-US" dirty="0"/>
              <a:t> no lineal.</a:t>
            </a:r>
          </a:p>
        </p:txBody>
      </p:sp>
      <p:sp>
        <p:nvSpPr>
          <p:cNvPr id="4" name="Slide Number Placeholder 3">
            <a:extLst>
              <a:ext uri="{FF2B5EF4-FFF2-40B4-BE49-F238E27FC236}">
                <a16:creationId xmlns:a16="http://schemas.microsoft.com/office/drawing/2014/main" id="{38D7DB93-24E6-6395-224F-ECA53990B531}"/>
              </a:ext>
            </a:extLst>
          </p:cNvPr>
          <p:cNvSpPr>
            <a:spLocks noGrp="1"/>
          </p:cNvSpPr>
          <p:nvPr>
            <p:ph type="sldNum" sz="quarter" idx="12"/>
          </p:nvPr>
        </p:nvSpPr>
        <p:spPr/>
        <p:txBody>
          <a:bodyPr/>
          <a:lstStyle/>
          <a:p>
            <a:fld id="{B4BE085C-131E-4871-906D-CE6CA8D2EB1A}" type="slidenum">
              <a:rPr lang="es-MX" smtClean="0"/>
              <a:t>31</a:t>
            </a:fld>
            <a:endParaRPr lang="es-MX" dirty="0"/>
          </a:p>
        </p:txBody>
      </p:sp>
      <p:sp>
        <p:nvSpPr>
          <p:cNvPr id="5" name="TextBox 4">
            <a:extLst>
              <a:ext uri="{FF2B5EF4-FFF2-40B4-BE49-F238E27FC236}">
                <a16:creationId xmlns:a16="http://schemas.microsoft.com/office/drawing/2014/main" id="{66B23E6E-68A6-3FD6-121D-2CFC9E3B20A8}"/>
              </a:ext>
            </a:extLst>
          </p:cNvPr>
          <p:cNvSpPr txBox="1"/>
          <p:nvPr/>
        </p:nvSpPr>
        <p:spPr>
          <a:xfrm>
            <a:off x="838200" y="6119336"/>
            <a:ext cx="6638164" cy="738664"/>
          </a:xfrm>
          <a:prstGeom prst="rect">
            <a:avLst/>
          </a:prstGeom>
          <a:noFill/>
        </p:spPr>
        <p:txBody>
          <a:bodyPr wrap="none" rtlCol="0">
            <a:spAutoFit/>
          </a:bodyPr>
          <a:lstStyle/>
          <a:p>
            <a:pPr marL="285750" indent="-285750">
              <a:buFont typeface="Arial" panose="020B0604020202020204" pitchFamily="34" charset="0"/>
              <a:buChar char="•"/>
            </a:pPr>
            <a:r>
              <a:rPr lang="en-US" sz="1400" dirty="0" err="1"/>
              <a:t>Kosmatopoulos</a:t>
            </a:r>
            <a:r>
              <a:rPr lang="en-US" sz="1400" dirty="0"/>
              <a:t>, et. Al. (1995). IEEE transactions on Neural Networks, 6(2), 422-431.</a:t>
            </a:r>
          </a:p>
          <a:p>
            <a:pPr marL="285750" indent="-285750">
              <a:buFont typeface="Arial" panose="020B0604020202020204" pitchFamily="34" charset="0"/>
              <a:buChar char="•"/>
            </a:pPr>
            <a:r>
              <a:rPr lang="en-US" sz="1400" dirty="0" err="1"/>
              <a:t>Funahashi</a:t>
            </a:r>
            <a:r>
              <a:rPr lang="en-US" sz="1400" dirty="0"/>
              <a:t>, K. I. (1989). Neural networks, 2(3), 183-192.</a:t>
            </a:r>
          </a:p>
          <a:p>
            <a:pPr marL="285750" indent="-285750">
              <a:buFont typeface="Arial" panose="020B0604020202020204" pitchFamily="34" charset="0"/>
              <a:buChar char="•"/>
            </a:pPr>
            <a:r>
              <a:rPr lang="en-US" sz="1400" dirty="0" err="1"/>
              <a:t>Kumpati</a:t>
            </a:r>
            <a:r>
              <a:rPr lang="en-US" sz="1400" dirty="0"/>
              <a:t>, S. N., &amp; Kannan, P. (1990). IEEE Transactions on neural networks, 1(1), 4-27.</a:t>
            </a:r>
            <a:endParaRPr lang="en-MX" sz="1400" dirty="0"/>
          </a:p>
        </p:txBody>
      </p:sp>
    </p:spTree>
    <p:extLst>
      <p:ext uri="{BB962C8B-B14F-4D97-AF65-F5344CB8AC3E}">
        <p14:creationId xmlns:p14="http://schemas.microsoft.com/office/powerpoint/2010/main" val="9091362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5FE0C-9F71-B863-DE48-13C979CA8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695376-8590-1115-00F9-82FDCCB1A33D}"/>
              </a:ext>
            </a:extLst>
          </p:cNvPr>
          <p:cNvSpPr>
            <a:spLocks noGrp="1"/>
          </p:cNvSpPr>
          <p:nvPr>
            <p:ph type="title"/>
          </p:nvPr>
        </p:nvSpPr>
        <p:spPr/>
        <p:txBody>
          <a:bodyPr/>
          <a:lstStyle/>
          <a:p>
            <a:r>
              <a:rPr lang="en-US" b="1" dirty="0"/>
              <a:t>Posibles </a:t>
            </a:r>
            <a:r>
              <a:rPr lang="en-US" b="1" dirty="0" err="1"/>
              <a:t>aplicaciones</a:t>
            </a:r>
            <a:endParaRPr lang="en-US" dirty="0"/>
          </a:p>
        </p:txBody>
      </p:sp>
      <p:sp>
        <p:nvSpPr>
          <p:cNvPr id="3" name="Content Placeholder 2">
            <a:extLst>
              <a:ext uri="{FF2B5EF4-FFF2-40B4-BE49-F238E27FC236}">
                <a16:creationId xmlns:a16="http://schemas.microsoft.com/office/drawing/2014/main" id="{CD3EA040-47CC-569E-2290-3211237CA387}"/>
              </a:ext>
            </a:extLst>
          </p:cNvPr>
          <p:cNvSpPr>
            <a:spLocks noGrp="1"/>
          </p:cNvSpPr>
          <p:nvPr>
            <p:ph idx="1"/>
          </p:nvPr>
        </p:nvSpPr>
        <p:spPr>
          <a:xfrm>
            <a:off x="838200" y="1690688"/>
            <a:ext cx="10811933" cy="4095332"/>
          </a:xfrm>
        </p:spPr>
        <p:txBody>
          <a:bodyPr>
            <a:normAutofit fontScale="92500" lnSpcReduction="20000"/>
          </a:bodyPr>
          <a:lstStyle/>
          <a:p>
            <a:r>
              <a:rPr lang="en-US" b="1" dirty="0" err="1"/>
              <a:t>Identificación</a:t>
            </a:r>
            <a:r>
              <a:rPr lang="en-US" b="1" dirty="0"/>
              <a:t> de </a:t>
            </a:r>
            <a:r>
              <a:rPr lang="en-US" b="1" dirty="0" err="1"/>
              <a:t>sistemas</a:t>
            </a:r>
            <a:r>
              <a:rPr lang="en-US" dirty="0"/>
              <a:t>: </a:t>
            </a:r>
            <a:r>
              <a:rPr lang="en-US" dirty="0" err="1"/>
              <a:t>Modelado</a:t>
            </a:r>
            <a:r>
              <a:rPr lang="en-US" dirty="0"/>
              <a:t> e </a:t>
            </a:r>
            <a:r>
              <a:rPr lang="en-US" dirty="0" err="1"/>
              <a:t>identificación</a:t>
            </a:r>
            <a:r>
              <a:rPr lang="en-US" dirty="0"/>
              <a:t> del </a:t>
            </a:r>
            <a:r>
              <a:rPr lang="en-US" dirty="0" err="1"/>
              <a:t>comportamiento</a:t>
            </a:r>
            <a:r>
              <a:rPr lang="en-US" dirty="0"/>
              <a:t> de entrada-</a:t>
            </a:r>
            <a:r>
              <a:rPr lang="en-US" dirty="0" err="1"/>
              <a:t>salida</a:t>
            </a:r>
            <a:r>
              <a:rPr lang="en-US" dirty="0"/>
              <a:t> de </a:t>
            </a:r>
            <a:r>
              <a:rPr lang="en-US" dirty="0" err="1"/>
              <a:t>sistemas</a:t>
            </a:r>
            <a:r>
              <a:rPr lang="en-US" dirty="0"/>
              <a:t> o </a:t>
            </a:r>
            <a:r>
              <a:rPr lang="en-US" dirty="0" err="1"/>
              <a:t>plantas</a:t>
            </a:r>
            <a:r>
              <a:rPr lang="en-US" dirty="0"/>
              <a:t> no </a:t>
            </a:r>
            <a:r>
              <a:rPr lang="en-US" dirty="0" err="1"/>
              <a:t>lineales</a:t>
            </a:r>
            <a:r>
              <a:rPr lang="en-US" dirty="0"/>
              <a:t> </a:t>
            </a:r>
            <a:r>
              <a:rPr lang="en-US" dirty="0" err="1"/>
              <a:t>desconocidos</a:t>
            </a:r>
            <a:r>
              <a:rPr lang="en-US" dirty="0"/>
              <a:t>.</a:t>
            </a:r>
          </a:p>
          <a:p>
            <a:r>
              <a:rPr lang="en-US" b="1" dirty="0"/>
              <a:t>Control </a:t>
            </a:r>
            <a:r>
              <a:rPr lang="en-US" b="1" dirty="0" err="1"/>
              <a:t>adaptativo</a:t>
            </a:r>
            <a:r>
              <a:rPr lang="en-US" dirty="0"/>
              <a:t>: Uso de redes </a:t>
            </a:r>
            <a:r>
              <a:rPr lang="en-US" dirty="0" err="1"/>
              <a:t>neuronales</a:t>
            </a:r>
            <a:r>
              <a:rPr lang="en-US" dirty="0"/>
              <a:t> </a:t>
            </a:r>
            <a:r>
              <a:rPr lang="en-US" dirty="0" err="1"/>
              <a:t>recurrentes</a:t>
            </a:r>
            <a:r>
              <a:rPr lang="en-US" dirty="0"/>
              <a:t> (RNN) </a:t>
            </a:r>
            <a:r>
              <a:rPr lang="en-US" dirty="0" err="1"/>
              <a:t>como</a:t>
            </a:r>
            <a:r>
              <a:rPr lang="en-US" dirty="0"/>
              <a:t> </a:t>
            </a:r>
            <a:r>
              <a:rPr lang="en-US" dirty="0" err="1"/>
              <a:t>controladores</a:t>
            </a:r>
            <a:r>
              <a:rPr lang="en-US" dirty="0"/>
              <a:t> para </a:t>
            </a:r>
            <a:r>
              <a:rPr lang="en-US" dirty="0" err="1"/>
              <a:t>asegurar</a:t>
            </a:r>
            <a:r>
              <a:rPr lang="en-US" dirty="0"/>
              <a:t> </a:t>
            </a:r>
            <a:r>
              <a:rPr lang="en-US" dirty="0" err="1"/>
              <a:t>que</a:t>
            </a:r>
            <a:r>
              <a:rPr lang="en-US" dirty="0"/>
              <a:t> </a:t>
            </a:r>
            <a:r>
              <a:rPr lang="en-US" dirty="0" err="1"/>
              <a:t>una</a:t>
            </a:r>
            <a:r>
              <a:rPr lang="en-US" dirty="0"/>
              <a:t> planta no lineal </a:t>
            </a:r>
            <a:r>
              <a:rPr lang="en-US" dirty="0" err="1"/>
              <a:t>siga</a:t>
            </a:r>
            <a:r>
              <a:rPr lang="en-US" dirty="0"/>
              <a:t> la </a:t>
            </a:r>
            <a:r>
              <a:rPr lang="en-US" dirty="0" err="1"/>
              <a:t>salida</a:t>
            </a:r>
            <a:r>
              <a:rPr lang="en-US" dirty="0"/>
              <a:t> de un </a:t>
            </a:r>
            <a:r>
              <a:rPr lang="en-US" dirty="0" err="1"/>
              <a:t>modelo</a:t>
            </a:r>
            <a:r>
              <a:rPr lang="en-US" dirty="0"/>
              <a:t> de </a:t>
            </a:r>
            <a:r>
              <a:rPr lang="en-US" dirty="0" err="1"/>
              <a:t>referencia</a:t>
            </a:r>
            <a:r>
              <a:rPr lang="en-US" dirty="0"/>
              <a:t> </a:t>
            </a:r>
            <a:r>
              <a:rPr lang="en-US" dirty="0" err="1"/>
              <a:t>estable</a:t>
            </a:r>
            <a:r>
              <a:rPr lang="en-US" dirty="0"/>
              <a:t>.</a:t>
            </a:r>
          </a:p>
          <a:p>
            <a:r>
              <a:rPr lang="en-US" b="1" dirty="0" err="1"/>
              <a:t>Robótica</a:t>
            </a:r>
            <a:r>
              <a:rPr lang="en-US" dirty="0"/>
              <a:t>: </a:t>
            </a:r>
            <a:r>
              <a:rPr lang="en-US" dirty="0" err="1"/>
              <a:t>Identificación</a:t>
            </a:r>
            <a:r>
              <a:rPr lang="en-US" dirty="0"/>
              <a:t> de la </a:t>
            </a:r>
            <a:r>
              <a:rPr lang="en-US" dirty="0" err="1"/>
              <a:t>dinámica</a:t>
            </a:r>
            <a:r>
              <a:rPr lang="en-US" dirty="0"/>
              <a:t> y control de </a:t>
            </a:r>
            <a:r>
              <a:rPr lang="en-US" dirty="0" err="1"/>
              <a:t>manipuladores</a:t>
            </a:r>
            <a:r>
              <a:rPr lang="en-US" dirty="0"/>
              <a:t> </a:t>
            </a:r>
            <a:r>
              <a:rPr lang="en-US" dirty="0" err="1"/>
              <a:t>robóticos</a:t>
            </a:r>
            <a:r>
              <a:rPr lang="en-US" dirty="0"/>
              <a:t>, </a:t>
            </a:r>
            <a:r>
              <a:rPr lang="en-US" dirty="0" err="1"/>
              <a:t>como</a:t>
            </a:r>
            <a:r>
              <a:rPr lang="en-US" dirty="0"/>
              <a:t> </a:t>
            </a:r>
            <a:r>
              <a:rPr lang="en-US" dirty="0" err="1"/>
              <a:t>sistemas</a:t>
            </a:r>
            <a:r>
              <a:rPr lang="en-US" dirty="0"/>
              <a:t> </a:t>
            </a:r>
            <a:r>
              <a:rPr lang="en-US" dirty="0" err="1"/>
              <a:t>robóticos</a:t>
            </a:r>
            <a:r>
              <a:rPr lang="en-US" dirty="0"/>
              <a:t> de n </a:t>
            </a:r>
            <a:r>
              <a:rPr lang="en-US" dirty="0" err="1"/>
              <a:t>grados</a:t>
            </a:r>
            <a:r>
              <a:rPr lang="en-US" dirty="0"/>
              <a:t> de </a:t>
            </a:r>
            <a:r>
              <a:rPr lang="en-US" dirty="0" err="1"/>
              <a:t>libertad</a:t>
            </a:r>
            <a:r>
              <a:rPr lang="en-US" dirty="0"/>
              <a:t>.</a:t>
            </a:r>
          </a:p>
          <a:p>
            <a:r>
              <a:rPr lang="en-US" b="1" dirty="0" err="1"/>
              <a:t>Reconocimiento</a:t>
            </a:r>
            <a:r>
              <a:rPr lang="en-US" b="1" dirty="0"/>
              <a:t> de </a:t>
            </a:r>
            <a:r>
              <a:rPr lang="en-US" b="1" dirty="0" err="1"/>
              <a:t>patrones</a:t>
            </a:r>
            <a:r>
              <a:rPr lang="en-US" b="1" dirty="0"/>
              <a:t> </a:t>
            </a:r>
            <a:r>
              <a:rPr lang="en-US" b="1" dirty="0" err="1"/>
              <a:t>temporales</a:t>
            </a:r>
            <a:r>
              <a:rPr lang="en-US" dirty="0"/>
              <a:t>: </a:t>
            </a:r>
            <a:r>
              <a:rPr lang="en-US" dirty="0" err="1"/>
              <a:t>Aplicaciones</a:t>
            </a:r>
            <a:r>
              <a:rPr lang="en-US" dirty="0"/>
              <a:t> </a:t>
            </a:r>
            <a:r>
              <a:rPr lang="en-US" dirty="0" err="1"/>
              <a:t>en</a:t>
            </a:r>
            <a:r>
              <a:rPr lang="en-US" dirty="0"/>
              <a:t> </a:t>
            </a:r>
            <a:r>
              <a:rPr lang="en-US" dirty="0" err="1"/>
              <a:t>el</a:t>
            </a:r>
            <a:r>
              <a:rPr lang="en-US" dirty="0"/>
              <a:t> </a:t>
            </a:r>
            <a:r>
              <a:rPr lang="en-US" dirty="0" err="1"/>
              <a:t>reconocimiento</a:t>
            </a:r>
            <a:r>
              <a:rPr lang="en-US" dirty="0"/>
              <a:t> de </a:t>
            </a:r>
            <a:r>
              <a:rPr lang="en-US" dirty="0" err="1"/>
              <a:t>voz</a:t>
            </a:r>
            <a:r>
              <a:rPr lang="en-US" dirty="0"/>
              <a:t> (</a:t>
            </a:r>
            <a:r>
              <a:rPr lang="en-US" dirty="0" err="1"/>
              <a:t>identificación</a:t>
            </a:r>
            <a:r>
              <a:rPr lang="en-US" dirty="0"/>
              <a:t> de </a:t>
            </a:r>
            <a:r>
              <a:rPr lang="en-US" dirty="0" err="1"/>
              <a:t>vocales</a:t>
            </a:r>
            <a:r>
              <a:rPr lang="en-US" dirty="0"/>
              <a:t>, </a:t>
            </a:r>
            <a:r>
              <a:rPr lang="en-US" dirty="0" err="1"/>
              <a:t>consonantes</a:t>
            </a:r>
            <a:r>
              <a:rPr lang="en-US" dirty="0"/>
              <a:t> y </a:t>
            </a:r>
            <a:r>
              <a:rPr lang="en-US" dirty="0" err="1"/>
              <a:t>dígitos</a:t>
            </a:r>
            <a:r>
              <a:rPr lang="en-US" dirty="0"/>
              <a:t>) y </a:t>
            </a:r>
            <a:r>
              <a:rPr lang="en-US" dirty="0" err="1"/>
              <a:t>otras</a:t>
            </a:r>
            <a:r>
              <a:rPr lang="en-US" dirty="0"/>
              <a:t> </a:t>
            </a:r>
            <a:r>
              <a:rPr lang="en-US" dirty="0" err="1"/>
              <a:t>señales</a:t>
            </a:r>
            <a:r>
              <a:rPr lang="en-US" dirty="0"/>
              <a:t> </a:t>
            </a:r>
            <a:r>
              <a:rPr lang="en-US" dirty="0" err="1"/>
              <a:t>espaciotemporales</a:t>
            </a:r>
            <a:r>
              <a:rPr lang="en-US" dirty="0"/>
              <a:t>.</a:t>
            </a:r>
          </a:p>
          <a:p>
            <a:r>
              <a:rPr lang="en-US" b="1" dirty="0"/>
              <a:t>Memoria </a:t>
            </a:r>
            <a:r>
              <a:rPr lang="en-US" b="1" dirty="0" err="1"/>
              <a:t>asociativa</a:t>
            </a:r>
            <a:r>
              <a:rPr lang="en-US" b="1" dirty="0"/>
              <a:t> y </a:t>
            </a:r>
            <a:r>
              <a:rPr lang="en-US" b="1" dirty="0" err="1"/>
              <a:t>optimización</a:t>
            </a:r>
            <a:r>
              <a:rPr lang="en-US" dirty="0"/>
              <a:t>: </a:t>
            </a:r>
            <a:r>
              <a:rPr lang="en-US" dirty="0" err="1"/>
              <a:t>Almacenamiento</a:t>
            </a:r>
            <a:r>
              <a:rPr lang="en-US" dirty="0"/>
              <a:t> de </a:t>
            </a:r>
            <a:r>
              <a:rPr lang="en-US" dirty="0" err="1"/>
              <a:t>patrones</a:t>
            </a:r>
            <a:r>
              <a:rPr lang="en-US" dirty="0"/>
              <a:t> y </a:t>
            </a:r>
            <a:r>
              <a:rPr lang="en-US" dirty="0" err="1"/>
              <a:t>resolución</a:t>
            </a:r>
            <a:r>
              <a:rPr lang="en-US" dirty="0"/>
              <a:t> de </a:t>
            </a:r>
            <a:r>
              <a:rPr lang="en-US" dirty="0" err="1"/>
              <a:t>problemas</a:t>
            </a:r>
            <a:r>
              <a:rPr lang="en-US" dirty="0"/>
              <a:t> </a:t>
            </a:r>
            <a:r>
              <a:rPr lang="en-US" dirty="0" err="1"/>
              <a:t>complejos</a:t>
            </a:r>
            <a:r>
              <a:rPr lang="en-US" dirty="0"/>
              <a:t> de </a:t>
            </a:r>
            <a:r>
              <a:rPr lang="en-US" dirty="0" err="1"/>
              <a:t>optimización</a:t>
            </a:r>
            <a:r>
              <a:rPr lang="en-US" dirty="0"/>
              <a:t> </a:t>
            </a:r>
            <a:r>
              <a:rPr lang="en-US" dirty="0" err="1"/>
              <a:t>matemática</a:t>
            </a:r>
            <a:r>
              <a:rPr lang="en-US" dirty="0"/>
              <a:t>.</a:t>
            </a:r>
          </a:p>
        </p:txBody>
      </p:sp>
      <p:sp>
        <p:nvSpPr>
          <p:cNvPr id="4" name="Slide Number Placeholder 3">
            <a:extLst>
              <a:ext uri="{FF2B5EF4-FFF2-40B4-BE49-F238E27FC236}">
                <a16:creationId xmlns:a16="http://schemas.microsoft.com/office/drawing/2014/main" id="{89574EB2-6A85-18CE-1A7B-B9A1D682F480}"/>
              </a:ext>
            </a:extLst>
          </p:cNvPr>
          <p:cNvSpPr>
            <a:spLocks noGrp="1"/>
          </p:cNvSpPr>
          <p:nvPr>
            <p:ph type="sldNum" sz="quarter" idx="12"/>
          </p:nvPr>
        </p:nvSpPr>
        <p:spPr/>
        <p:txBody>
          <a:bodyPr/>
          <a:lstStyle/>
          <a:p>
            <a:fld id="{B4BE085C-131E-4871-906D-CE6CA8D2EB1A}" type="slidenum">
              <a:rPr lang="es-MX" smtClean="0"/>
              <a:t>32</a:t>
            </a:fld>
            <a:endParaRPr lang="es-MX" dirty="0"/>
          </a:p>
        </p:txBody>
      </p:sp>
    </p:spTree>
    <p:extLst>
      <p:ext uri="{BB962C8B-B14F-4D97-AF65-F5344CB8AC3E}">
        <p14:creationId xmlns:p14="http://schemas.microsoft.com/office/powerpoint/2010/main" val="13014042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92DEBD-D708-B294-3445-F5A700EA5D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69641-72AC-275D-F6BB-71597802208A}"/>
              </a:ext>
            </a:extLst>
          </p:cNvPr>
          <p:cNvSpPr>
            <a:spLocks noGrp="1"/>
          </p:cNvSpPr>
          <p:nvPr>
            <p:ph type="title"/>
          </p:nvPr>
        </p:nvSpPr>
        <p:spPr/>
        <p:txBody>
          <a:bodyPr/>
          <a:lstStyle/>
          <a:p>
            <a:r>
              <a:rPr lang="en-US" b="1" dirty="0" err="1"/>
              <a:t>Identificación</a:t>
            </a:r>
            <a:r>
              <a:rPr lang="en-US" b="1" dirty="0"/>
              <a:t> de </a:t>
            </a:r>
            <a:r>
              <a:rPr lang="en-US" b="1" dirty="0" err="1"/>
              <a:t>sistemas</a:t>
            </a:r>
            <a:endParaRPr lang="en-US" dirty="0"/>
          </a:p>
        </p:txBody>
      </p:sp>
      <p:sp>
        <p:nvSpPr>
          <p:cNvPr id="3" name="Content Placeholder 2">
            <a:extLst>
              <a:ext uri="{FF2B5EF4-FFF2-40B4-BE49-F238E27FC236}">
                <a16:creationId xmlns:a16="http://schemas.microsoft.com/office/drawing/2014/main" id="{E5F34713-D3C9-147B-74BE-8B373255E927}"/>
              </a:ext>
            </a:extLst>
          </p:cNvPr>
          <p:cNvSpPr>
            <a:spLocks noGrp="1"/>
          </p:cNvSpPr>
          <p:nvPr>
            <p:ph idx="1"/>
          </p:nvPr>
        </p:nvSpPr>
        <p:spPr>
          <a:xfrm>
            <a:off x="838200" y="1690688"/>
            <a:ext cx="10811933" cy="4095332"/>
          </a:xfrm>
        </p:spPr>
        <p:txBody>
          <a:bodyPr>
            <a:normAutofit/>
          </a:bodyPr>
          <a:lstStyle/>
          <a:p>
            <a:r>
              <a:rPr lang="en-US" dirty="0"/>
              <a:t>Es </a:t>
            </a:r>
            <a:r>
              <a:rPr lang="en-US" dirty="0" err="1"/>
              <a:t>el</a:t>
            </a:r>
            <a:r>
              <a:rPr lang="en-US" dirty="0"/>
              <a:t> </a:t>
            </a:r>
            <a:r>
              <a:rPr lang="en-US" dirty="0" err="1"/>
              <a:t>proceso</a:t>
            </a:r>
            <a:r>
              <a:rPr lang="en-US" dirty="0"/>
              <a:t> de </a:t>
            </a:r>
            <a:r>
              <a:rPr lang="en-US" dirty="0" err="1"/>
              <a:t>construir</a:t>
            </a:r>
            <a:r>
              <a:rPr lang="en-US" dirty="0"/>
              <a:t> un </a:t>
            </a:r>
            <a:r>
              <a:rPr lang="en-US" dirty="0" err="1"/>
              <a:t>modelo</a:t>
            </a:r>
            <a:r>
              <a:rPr lang="en-US" dirty="0"/>
              <a:t> </a:t>
            </a:r>
            <a:r>
              <a:rPr lang="en-US" dirty="0" err="1"/>
              <a:t>matemático</a:t>
            </a:r>
            <a:r>
              <a:rPr lang="en-US" dirty="0"/>
              <a:t>, </a:t>
            </a:r>
            <a:r>
              <a:rPr lang="en-US" dirty="0" err="1"/>
              <a:t>específicamente</a:t>
            </a:r>
            <a:r>
              <a:rPr lang="en-US" dirty="0"/>
              <a:t> </a:t>
            </a:r>
            <a:r>
              <a:rPr lang="en-US" dirty="0" err="1"/>
              <a:t>utilizando</a:t>
            </a:r>
            <a:r>
              <a:rPr lang="en-US" dirty="0"/>
              <a:t> </a:t>
            </a:r>
            <a:r>
              <a:rPr lang="en-US" dirty="0" err="1"/>
              <a:t>una</a:t>
            </a:r>
            <a:r>
              <a:rPr lang="en-US" dirty="0"/>
              <a:t> red neuronal, para </a:t>
            </a:r>
            <a:r>
              <a:rPr lang="en-US" dirty="0" err="1"/>
              <a:t>representar</a:t>
            </a:r>
            <a:r>
              <a:rPr lang="en-US" dirty="0"/>
              <a:t> </a:t>
            </a:r>
            <a:r>
              <a:rPr lang="en-US" dirty="0" err="1"/>
              <a:t>el</a:t>
            </a:r>
            <a:r>
              <a:rPr lang="en-US" dirty="0"/>
              <a:t> </a:t>
            </a:r>
            <a:r>
              <a:rPr lang="en-US" dirty="0" err="1"/>
              <a:t>comportamiento</a:t>
            </a:r>
            <a:r>
              <a:rPr lang="en-US" dirty="0"/>
              <a:t> de entrada-</a:t>
            </a:r>
            <a:r>
              <a:rPr lang="en-US" dirty="0" err="1"/>
              <a:t>salida</a:t>
            </a:r>
            <a:r>
              <a:rPr lang="en-US" dirty="0"/>
              <a:t> de un </a:t>
            </a:r>
            <a:r>
              <a:rPr lang="en-US" dirty="0" err="1"/>
              <a:t>sistema</a:t>
            </a:r>
            <a:r>
              <a:rPr lang="en-US" dirty="0"/>
              <a:t> </a:t>
            </a:r>
            <a:r>
              <a:rPr lang="en-US" dirty="0" err="1"/>
              <a:t>dinámico</a:t>
            </a:r>
            <a:r>
              <a:rPr lang="en-US" dirty="0"/>
              <a:t> no lineal </a:t>
            </a:r>
            <a:r>
              <a:rPr lang="en-US" dirty="0" err="1"/>
              <a:t>desconocido</a:t>
            </a:r>
            <a:r>
              <a:rPr lang="en-US" dirty="0"/>
              <a:t>, a menudo </a:t>
            </a:r>
            <a:r>
              <a:rPr lang="en-US" dirty="0" err="1"/>
              <a:t>denominado</a:t>
            </a:r>
            <a:r>
              <a:rPr lang="en-US" dirty="0"/>
              <a:t> "planta".</a:t>
            </a:r>
          </a:p>
        </p:txBody>
      </p:sp>
      <p:sp>
        <p:nvSpPr>
          <p:cNvPr id="4" name="Slide Number Placeholder 3">
            <a:extLst>
              <a:ext uri="{FF2B5EF4-FFF2-40B4-BE49-F238E27FC236}">
                <a16:creationId xmlns:a16="http://schemas.microsoft.com/office/drawing/2014/main" id="{7B55BF0A-440E-9906-0B8A-4DCECD90834B}"/>
              </a:ext>
            </a:extLst>
          </p:cNvPr>
          <p:cNvSpPr>
            <a:spLocks noGrp="1"/>
          </p:cNvSpPr>
          <p:nvPr>
            <p:ph type="sldNum" sz="quarter" idx="12"/>
          </p:nvPr>
        </p:nvSpPr>
        <p:spPr/>
        <p:txBody>
          <a:bodyPr/>
          <a:lstStyle/>
          <a:p>
            <a:fld id="{B4BE085C-131E-4871-906D-CE6CA8D2EB1A}" type="slidenum">
              <a:rPr lang="es-MX" smtClean="0"/>
              <a:t>33</a:t>
            </a:fld>
            <a:endParaRPr lang="es-MX" dirty="0"/>
          </a:p>
        </p:txBody>
      </p:sp>
    </p:spTree>
    <p:extLst>
      <p:ext uri="{BB962C8B-B14F-4D97-AF65-F5344CB8AC3E}">
        <p14:creationId xmlns:p14="http://schemas.microsoft.com/office/powerpoint/2010/main" val="37061880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5D37A-E3A9-8229-9AE7-CFD50C6D87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E6E7CC-4BF7-B248-B44A-B80DBAA2C5FF}"/>
              </a:ext>
            </a:extLst>
          </p:cNvPr>
          <p:cNvSpPr>
            <a:spLocks noGrp="1"/>
          </p:cNvSpPr>
          <p:nvPr>
            <p:ph type="title"/>
          </p:nvPr>
        </p:nvSpPr>
        <p:spPr/>
        <p:txBody>
          <a:bodyPr/>
          <a:lstStyle/>
          <a:p>
            <a:r>
              <a:rPr lang="en-US" b="1" dirty="0" err="1"/>
              <a:t>Aprendizaje</a:t>
            </a:r>
            <a:r>
              <a:rPr lang="en-US" b="1" dirty="0"/>
              <a:t> </a:t>
            </a:r>
            <a:r>
              <a:rPr lang="en-US" b="1" dirty="0" err="1"/>
              <a:t>recurrente</a:t>
            </a:r>
            <a:r>
              <a:rPr lang="en-US" b="1" dirty="0"/>
              <a:t> </a:t>
            </a:r>
            <a:r>
              <a:rPr lang="en-US" b="1" dirty="0" err="1"/>
              <a:t>en</a:t>
            </a:r>
            <a:r>
              <a:rPr lang="en-US" b="1" dirty="0"/>
              <a:t> </a:t>
            </a:r>
            <a:r>
              <a:rPr lang="en-US" b="1" dirty="0" err="1"/>
              <a:t>tiempo</a:t>
            </a:r>
            <a:r>
              <a:rPr lang="en-US" b="1" dirty="0"/>
              <a:t> real o RTRL</a:t>
            </a:r>
            <a:endParaRPr lang="en-US" dirty="0"/>
          </a:p>
        </p:txBody>
      </p:sp>
      <p:sp>
        <p:nvSpPr>
          <p:cNvPr id="3" name="Content Placeholder 2">
            <a:extLst>
              <a:ext uri="{FF2B5EF4-FFF2-40B4-BE49-F238E27FC236}">
                <a16:creationId xmlns:a16="http://schemas.microsoft.com/office/drawing/2014/main" id="{D1A5CB3D-3A83-1EF1-4A1B-C13D775CA7C2}"/>
              </a:ext>
            </a:extLst>
          </p:cNvPr>
          <p:cNvSpPr>
            <a:spLocks noGrp="1"/>
          </p:cNvSpPr>
          <p:nvPr>
            <p:ph idx="1"/>
          </p:nvPr>
        </p:nvSpPr>
        <p:spPr>
          <a:xfrm>
            <a:off x="838200" y="1690688"/>
            <a:ext cx="10811933" cy="4095332"/>
          </a:xfrm>
        </p:spPr>
        <p:txBody>
          <a:bodyPr>
            <a:normAutofit/>
          </a:bodyPr>
          <a:lstStyle/>
          <a:p>
            <a:r>
              <a:rPr lang="en-US" dirty="0"/>
              <a:t>La </a:t>
            </a:r>
            <a:r>
              <a:rPr lang="en-US" dirty="0" err="1"/>
              <a:t>capacidad</a:t>
            </a:r>
            <a:r>
              <a:rPr lang="en-US" dirty="0"/>
              <a:t> de </a:t>
            </a:r>
            <a:r>
              <a:rPr lang="en-US" dirty="0" err="1"/>
              <a:t>modificar</a:t>
            </a:r>
            <a:r>
              <a:rPr lang="en-US" dirty="0"/>
              <a:t> </a:t>
            </a:r>
            <a:r>
              <a:rPr lang="en-US" dirty="0" err="1"/>
              <a:t>los</a:t>
            </a:r>
            <a:r>
              <a:rPr lang="en-US" dirty="0"/>
              <a:t> pesos </a:t>
            </a:r>
            <a:r>
              <a:rPr lang="en-US" dirty="0" err="1"/>
              <a:t>mientras</a:t>
            </a:r>
            <a:r>
              <a:rPr lang="en-US" dirty="0"/>
              <a:t> la red </a:t>
            </a:r>
            <a:r>
              <a:rPr lang="en-US" dirty="0" err="1"/>
              <a:t>está</a:t>
            </a:r>
            <a:r>
              <a:rPr lang="en-US" dirty="0"/>
              <a:t> </a:t>
            </a:r>
            <a:r>
              <a:rPr lang="en-US" dirty="0" err="1"/>
              <a:t>en</a:t>
            </a:r>
            <a:r>
              <a:rPr lang="en-US" dirty="0"/>
              <a:t> </a:t>
            </a:r>
            <a:r>
              <a:rPr lang="en-US" dirty="0" err="1"/>
              <a:t>funcionamiento</a:t>
            </a:r>
            <a:r>
              <a:rPr lang="en-US" dirty="0"/>
              <a:t>, </a:t>
            </a:r>
            <a:r>
              <a:rPr lang="en-US" dirty="0" err="1"/>
              <a:t>en</a:t>
            </a:r>
            <a:r>
              <a:rPr lang="en-US" dirty="0"/>
              <a:t> </a:t>
            </a:r>
            <a:r>
              <a:rPr lang="en-US" dirty="0" err="1"/>
              <a:t>lugar</a:t>
            </a:r>
            <a:r>
              <a:rPr lang="en-US" dirty="0"/>
              <a:t> de </a:t>
            </a:r>
            <a:r>
              <a:rPr lang="en-US" dirty="0" err="1"/>
              <a:t>esperar</a:t>
            </a:r>
            <a:r>
              <a:rPr lang="en-US" dirty="0"/>
              <a:t> a </a:t>
            </a:r>
            <a:r>
              <a:rPr lang="en-US" dirty="0" err="1"/>
              <a:t>que</a:t>
            </a:r>
            <a:r>
              <a:rPr lang="en-US" dirty="0"/>
              <a:t> </a:t>
            </a:r>
            <a:r>
              <a:rPr lang="en-US" dirty="0" err="1"/>
              <a:t>finalice</a:t>
            </a:r>
            <a:r>
              <a:rPr lang="en-US" dirty="0"/>
              <a:t> un </a:t>
            </a:r>
            <a:r>
              <a:rPr lang="en-US" dirty="0" err="1"/>
              <a:t>intervalo</a:t>
            </a:r>
            <a:r>
              <a:rPr lang="en-US" dirty="0"/>
              <a:t> de </a:t>
            </a:r>
            <a:r>
              <a:rPr lang="en-US" dirty="0" err="1"/>
              <a:t>entrenamiento</a:t>
            </a:r>
            <a:r>
              <a:rPr lang="en-US" dirty="0"/>
              <a:t> o "</a:t>
            </a:r>
            <a:r>
              <a:rPr lang="en-US" dirty="0" err="1"/>
              <a:t>época</a:t>
            </a:r>
            <a:r>
              <a:rPr lang="en-US" dirty="0"/>
              <a:t>" </a:t>
            </a:r>
            <a:r>
              <a:rPr lang="en-US" dirty="0" err="1"/>
              <a:t>definido</a:t>
            </a:r>
            <a:r>
              <a:rPr lang="en-US" dirty="0"/>
              <a:t> con </a:t>
            </a:r>
            <a:r>
              <a:rPr lang="en-US" dirty="0" err="1"/>
              <a:t>precisión</a:t>
            </a:r>
            <a:r>
              <a:rPr lang="en-US" dirty="0"/>
              <a:t>.</a:t>
            </a:r>
          </a:p>
          <a:p>
            <a:r>
              <a:rPr lang="en-US" dirty="0"/>
              <a:t>Los pesos se </a:t>
            </a:r>
            <a:r>
              <a:rPr lang="en-US" dirty="0" err="1"/>
              <a:t>incrementan</a:t>
            </a:r>
            <a:r>
              <a:rPr lang="en-US" dirty="0"/>
              <a:t> </a:t>
            </a:r>
            <a:r>
              <a:rPr lang="en-US" dirty="0" err="1"/>
              <a:t>en</a:t>
            </a:r>
            <a:r>
              <a:rPr lang="en-US" dirty="0"/>
              <a:t> </a:t>
            </a:r>
            <a:r>
              <a:rPr lang="en-US" dirty="0" err="1"/>
              <a:t>cada</a:t>
            </a:r>
            <a:r>
              <a:rPr lang="en-US" dirty="0"/>
              <a:t> paso de </a:t>
            </a:r>
            <a:r>
              <a:rPr lang="en-US" dirty="0" err="1"/>
              <a:t>tiempo</a:t>
            </a:r>
            <a:r>
              <a:rPr lang="en-US" dirty="0"/>
              <a:t> </a:t>
            </a:r>
            <a:r>
              <a:rPr lang="en-US" dirty="0" err="1"/>
              <a:t>en</a:t>
            </a:r>
            <a:r>
              <a:rPr lang="en-US" dirty="0"/>
              <a:t> </a:t>
            </a:r>
            <a:r>
              <a:rPr lang="en-US" dirty="0" err="1"/>
              <a:t>función</a:t>
            </a:r>
            <a:r>
              <a:rPr lang="en-US" dirty="0"/>
              <a:t> de las </a:t>
            </a:r>
            <a:r>
              <a:rPr lang="en-US" dirty="0" err="1"/>
              <a:t>discrepancias</a:t>
            </a:r>
            <a:r>
              <a:rPr lang="en-US" dirty="0"/>
              <a:t> entre </a:t>
            </a:r>
            <a:r>
              <a:rPr lang="en-US" dirty="0" err="1"/>
              <a:t>los</a:t>
            </a:r>
            <a:r>
              <a:rPr lang="en-US" dirty="0"/>
              <a:t> </a:t>
            </a:r>
            <a:r>
              <a:rPr lang="en-US" dirty="0" err="1"/>
              <a:t>resultados</a:t>
            </a:r>
            <a:r>
              <a:rPr lang="en-US" dirty="0"/>
              <a:t> </a:t>
            </a:r>
            <a:r>
              <a:rPr lang="en-US" dirty="0" err="1"/>
              <a:t>deseados</a:t>
            </a:r>
            <a:r>
              <a:rPr lang="en-US" dirty="0"/>
              <a:t> y </a:t>
            </a:r>
            <a:r>
              <a:rPr lang="en-US" dirty="0" err="1"/>
              <a:t>los</a:t>
            </a:r>
            <a:r>
              <a:rPr lang="en-US" dirty="0"/>
              <a:t> reales.</a:t>
            </a:r>
          </a:p>
          <a:p>
            <a:r>
              <a:rPr lang="en-US" dirty="0" err="1"/>
              <a:t>Permite</a:t>
            </a:r>
            <a:r>
              <a:rPr lang="en-US" dirty="0"/>
              <a:t> </a:t>
            </a:r>
            <a:r>
              <a:rPr lang="en-US" dirty="0" err="1"/>
              <a:t>entrenar</a:t>
            </a:r>
            <a:r>
              <a:rPr lang="en-US" dirty="0"/>
              <a:t> </a:t>
            </a:r>
            <a:r>
              <a:rPr lang="en-US" dirty="0" err="1"/>
              <a:t>comportamientos</a:t>
            </a:r>
            <a:r>
              <a:rPr lang="en-US" dirty="0"/>
              <a:t> de </a:t>
            </a:r>
            <a:r>
              <a:rPr lang="en-US" dirty="0" err="1"/>
              <a:t>duración</a:t>
            </a:r>
            <a:r>
              <a:rPr lang="en-US" dirty="0"/>
              <a:t> </a:t>
            </a:r>
            <a:r>
              <a:rPr lang="en-US" dirty="0" err="1"/>
              <a:t>indefinida</a:t>
            </a:r>
            <a:r>
              <a:rPr lang="en-US" dirty="0"/>
              <a:t>.</a:t>
            </a:r>
          </a:p>
        </p:txBody>
      </p:sp>
      <p:sp>
        <p:nvSpPr>
          <p:cNvPr id="4" name="Slide Number Placeholder 3">
            <a:extLst>
              <a:ext uri="{FF2B5EF4-FFF2-40B4-BE49-F238E27FC236}">
                <a16:creationId xmlns:a16="http://schemas.microsoft.com/office/drawing/2014/main" id="{136C2405-8BFD-AC0D-866B-39D11AE03411}"/>
              </a:ext>
            </a:extLst>
          </p:cNvPr>
          <p:cNvSpPr>
            <a:spLocks noGrp="1"/>
          </p:cNvSpPr>
          <p:nvPr>
            <p:ph type="sldNum" sz="quarter" idx="12"/>
          </p:nvPr>
        </p:nvSpPr>
        <p:spPr/>
        <p:txBody>
          <a:bodyPr/>
          <a:lstStyle/>
          <a:p>
            <a:fld id="{B4BE085C-131E-4871-906D-CE6CA8D2EB1A}" type="slidenum">
              <a:rPr lang="es-MX" smtClean="0"/>
              <a:t>34</a:t>
            </a:fld>
            <a:endParaRPr lang="es-MX" dirty="0"/>
          </a:p>
        </p:txBody>
      </p:sp>
    </p:spTree>
    <p:extLst>
      <p:ext uri="{BB962C8B-B14F-4D97-AF65-F5344CB8AC3E}">
        <p14:creationId xmlns:p14="http://schemas.microsoft.com/office/powerpoint/2010/main" val="3553399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EEA51DD-8E06-7E38-1CFD-B6695822AF2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9E3FD27F-1699-8282-E6CF-061598A85D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A7EF0CF-81B7-B94C-0B1D-1F059C70F59F}"/>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7400" b="1" dirty="0"/>
              <a:t>4. </a:t>
            </a:r>
            <a:r>
              <a:rPr lang="en-US" sz="7400" b="1" dirty="0" err="1"/>
              <a:t>Identificación</a:t>
            </a:r>
            <a:r>
              <a:rPr lang="en-US" sz="7400" b="1" dirty="0"/>
              <a:t> de </a:t>
            </a:r>
            <a:r>
              <a:rPr lang="en-US" sz="7400" b="1" dirty="0" err="1"/>
              <a:t>sistemas</a:t>
            </a:r>
            <a:r>
              <a:rPr lang="en-US" sz="7400" b="1" dirty="0"/>
              <a:t> </a:t>
            </a:r>
            <a:r>
              <a:rPr lang="en-US" sz="7400" b="1" dirty="0" err="1"/>
              <a:t>caóticos</a:t>
            </a:r>
            <a:r>
              <a:rPr lang="en-US" sz="7400" b="1" dirty="0"/>
              <a:t> con RNN</a:t>
            </a:r>
            <a:endParaRPr lang="en-US" sz="74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F3EB8C04-47A2-A6FE-4B55-105A38899D32}"/>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AA72AA5C-0378-84D1-B2A3-235CB40F6C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D213AD51-FA69-4319-F1AF-BC521E4E9F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28F3AD88-9838-0855-AD5E-15848D62CC14}"/>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35</a:t>
            </a:fld>
            <a:endParaRPr lang="en-US">
              <a:solidFill>
                <a:schemeClr val="tx1">
                  <a:lumMod val="50000"/>
                  <a:lumOff val="50000"/>
                </a:schemeClr>
              </a:solidFill>
            </a:endParaRPr>
          </a:p>
        </p:txBody>
      </p:sp>
    </p:spTree>
    <p:extLst>
      <p:ext uri="{BB962C8B-B14F-4D97-AF65-F5344CB8AC3E}">
        <p14:creationId xmlns:p14="http://schemas.microsoft.com/office/powerpoint/2010/main" val="819962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arcador de número de diapositiva 3"/>
          <p:cNvSpPr>
            <a:spLocks noGrp="1"/>
          </p:cNvSpPr>
          <p:nvPr>
            <p:ph type="sldNum" sz="quarter" idx="12"/>
          </p:nvPr>
        </p:nvSpPr>
        <p:spPr/>
        <p:txBody>
          <a:bodyPr/>
          <a:lstStyle/>
          <a:p>
            <a:fld id="{B4BE085C-131E-4871-906D-CE6CA8D2EB1A}" type="slidenum">
              <a:rPr lang="es-MX" sz="2000" smtClean="0"/>
              <a:t>36</a:t>
            </a:fld>
            <a:endParaRPr lang="es-MX" sz="2000" dirty="0"/>
          </a:p>
        </p:txBody>
      </p:sp>
      <p:pic>
        <p:nvPicPr>
          <p:cNvPr id="5" name="Imagen 5">
            <a:extLst>
              <a:ext uri="{FF2B5EF4-FFF2-40B4-BE49-F238E27FC236}">
                <a16:creationId xmlns:a16="http://schemas.microsoft.com/office/drawing/2014/main" id="{97C9AAB8-8C8E-C34E-A550-C0B9C0972A2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295999" y="-6350"/>
            <a:ext cx="5600001" cy="6858000"/>
          </a:xfrm>
          <a:prstGeom prst="rect">
            <a:avLst/>
          </a:prstGeom>
        </p:spPr>
      </p:pic>
    </p:spTree>
    <p:extLst>
      <p:ext uri="{BB962C8B-B14F-4D97-AF65-F5344CB8AC3E}">
        <p14:creationId xmlns:p14="http://schemas.microsoft.com/office/powerpoint/2010/main" val="4761773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1ED8E-00FE-BF4B-B7E7-E4D1DFB66602}"/>
              </a:ext>
            </a:extLst>
          </p:cNvPr>
          <p:cNvSpPr>
            <a:spLocks noGrp="1"/>
          </p:cNvSpPr>
          <p:nvPr>
            <p:ph type="title"/>
          </p:nvPr>
        </p:nvSpPr>
        <p:spPr/>
        <p:txBody>
          <a:bodyPr/>
          <a:lstStyle/>
          <a:p>
            <a:r>
              <a:rPr lang="en-US" dirty="0"/>
              <a:t>Red neuronal </a:t>
            </a:r>
            <a:r>
              <a:rPr lang="en-US" dirty="0" err="1"/>
              <a:t>recurrente</a:t>
            </a:r>
            <a:r>
              <a:rPr lang="en-US" dirty="0"/>
              <a:t> de primer </a:t>
            </a:r>
            <a:r>
              <a:rPr lang="en-US" dirty="0" err="1"/>
              <a:t>orden</a:t>
            </a:r>
            <a:r>
              <a:rPr lang="en-US" dirty="0"/>
              <a:t> </a:t>
            </a:r>
            <a:r>
              <a:rPr lang="en-US" dirty="0" err="1"/>
              <a:t>basada</a:t>
            </a:r>
            <a:r>
              <a:rPr lang="en-US" dirty="0"/>
              <a:t> </a:t>
            </a:r>
            <a:r>
              <a:rPr lang="en-US" dirty="0" err="1"/>
              <a:t>en</a:t>
            </a:r>
            <a:r>
              <a:rPr lang="en-US" dirty="0"/>
              <a:t> </a:t>
            </a:r>
            <a:r>
              <a:rPr lang="en-US" dirty="0" err="1"/>
              <a:t>ondículas</a:t>
            </a:r>
            <a:r>
              <a:rPr lang="en-US" dirty="0"/>
              <a:t> (RWFONN)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C3AD812-09A8-744A-91DD-A6F158BCE280}"/>
                  </a:ext>
                </a:extLst>
              </p:cNvPr>
              <p:cNvSpPr>
                <a:spLocks noGrp="1"/>
              </p:cNvSpPr>
              <p:nvPr>
                <p:ph idx="1"/>
              </p:nvPr>
            </p:nvSpPr>
            <p:spPr/>
            <p:txBody>
              <a:bodyPr>
                <a:normAutofit fontScale="85000" lnSpcReduction="20000"/>
              </a:bodyPr>
              <a:lstStyle/>
              <a:p>
                <a:pPr marL="0" indent="0">
                  <a:lnSpc>
                    <a:spcPct val="150000"/>
                  </a:lnSpc>
                  <a:buNone/>
                </a:pPr>
                <a:r>
                  <a:rPr lang="en-US" sz="2200" dirty="0"/>
                  <a:t>La </a:t>
                </a:r>
                <a:r>
                  <a:rPr lang="en-US" sz="2200" dirty="0" err="1"/>
                  <a:t>estructura</a:t>
                </a:r>
                <a:r>
                  <a:rPr lang="en-US" sz="2200" dirty="0"/>
                  <a:t> general del Sistema es: </a:t>
                </a:r>
              </a:p>
              <a:p>
                <a:pPr marL="2743200" lvl="6" indent="0">
                  <a:lnSpc>
                    <a:spcPct val="150000"/>
                  </a:lnSpc>
                  <a:buNone/>
                </a:pPr>
                <a14:m>
                  <m:oMath xmlns:m="http://schemas.openxmlformats.org/officeDocument/2006/math">
                    <m:sSup>
                      <m:sSupPr>
                        <m:ctrlPr>
                          <a:rPr lang="en-US" sz="2400" i="1" smtClean="0">
                            <a:latin typeface="Cambria Math" panose="02040503050406030204" pitchFamily="18" charset="0"/>
                          </a:rPr>
                        </m:ctrlPr>
                      </m:sSupPr>
                      <m:e>
                        <m:acc>
                          <m:accPr>
                            <m:chr m:val="̇"/>
                            <m:ctrlPr>
                              <a:rPr lang="en-US" sz="2400" i="1" smtClean="0">
                                <a:latin typeface="Cambria Math" panose="02040503050406030204" pitchFamily="18" charset="0"/>
                              </a:rPr>
                            </m:ctrlPr>
                          </m:accPr>
                          <m:e>
                            <m:sSub>
                              <m:sSubPr>
                                <m:ctrlPr>
                                  <a:rPr lang="es-ES" sz="2400" b="0" i="1" smtClean="0">
                                    <a:latin typeface="Cambria Math" panose="02040503050406030204" pitchFamily="18" charset="0"/>
                                  </a:rPr>
                                </m:ctrlPr>
                              </m:sSubPr>
                              <m:e>
                                <m:r>
                                  <a:rPr lang="es-ES" sz="2400" b="0" i="1" smtClean="0">
                                    <a:latin typeface="Cambria Math" panose="02040503050406030204" pitchFamily="18" charset="0"/>
                                  </a:rPr>
                                  <m:t>𝑦</m:t>
                                </m:r>
                              </m:e>
                              <m:sub>
                                <m:r>
                                  <a:rPr lang="es-ES" sz="2400" b="0" i="1" smtClean="0">
                                    <a:latin typeface="Cambria Math" panose="02040503050406030204" pitchFamily="18" charset="0"/>
                                  </a:rPr>
                                  <m:t>𝑗</m:t>
                                </m:r>
                              </m:sub>
                            </m:sSub>
                          </m:e>
                        </m:acc>
                      </m:e>
                      <m:sup>
                        <m:r>
                          <a:rPr lang="es-ES" sz="2400" b="0" i="1" smtClean="0">
                            <a:latin typeface="Cambria Math" panose="02040503050406030204" pitchFamily="18" charset="0"/>
                          </a:rPr>
                          <m:t>𝑖</m:t>
                        </m:r>
                      </m:sup>
                    </m:sSup>
                    <m:r>
                      <a:rPr lang="es-ES" sz="2400" b="0" i="1" smtClean="0">
                        <a:latin typeface="Cambria Math" panose="02040503050406030204" pitchFamily="18" charset="0"/>
                      </a:rPr>
                      <m:t>=−</m:t>
                    </m:r>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𝛼</m:t>
                        </m:r>
                      </m:e>
                      <m:sub>
                        <m:r>
                          <a:rPr lang="es-ES" sz="2400" b="0" i="1" smtClean="0">
                            <a:latin typeface="Cambria Math" panose="02040503050406030204" pitchFamily="18" charset="0"/>
                          </a:rPr>
                          <m:t>𝑗</m:t>
                        </m:r>
                      </m:sub>
                      <m:sup>
                        <m:r>
                          <a:rPr lang="es-ES" sz="2400" b="0" i="1" smtClean="0">
                            <a:latin typeface="Cambria Math" panose="02040503050406030204" pitchFamily="18" charset="0"/>
                          </a:rPr>
                          <m:t>𝑖</m:t>
                        </m:r>
                      </m:sup>
                    </m:sSubSup>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𝑦</m:t>
                        </m:r>
                      </m:e>
                      <m:sub>
                        <m:r>
                          <a:rPr lang="es-ES" sz="2400" b="0" i="1" smtClean="0">
                            <a:latin typeface="Cambria Math" panose="02040503050406030204" pitchFamily="18" charset="0"/>
                          </a:rPr>
                          <m:t>𝑗</m:t>
                        </m:r>
                      </m:sub>
                      <m:sup>
                        <m:r>
                          <a:rPr lang="es-ES" sz="2400" b="0" i="1" smtClean="0">
                            <a:latin typeface="Cambria Math" panose="02040503050406030204" pitchFamily="18" charset="0"/>
                          </a:rPr>
                          <m:t>𝑖</m:t>
                        </m:r>
                      </m:sup>
                    </m:sSubSup>
                    <m:r>
                      <a:rPr lang="es-ES" sz="2400" b="0" i="1" smtClean="0">
                        <a:latin typeface="Cambria Math" panose="02040503050406030204" pitchFamily="18" charset="0"/>
                      </a:rPr>
                      <m:t>+</m:t>
                    </m:r>
                    <m:sSup>
                      <m:sSupPr>
                        <m:ctrlPr>
                          <a:rPr lang="es-ES" sz="2400" b="0" i="1" smtClean="0">
                            <a:latin typeface="Cambria Math" panose="02040503050406030204" pitchFamily="18" charset="0"/>
                          </a:rPr>
                        </m:ctrlPr>
                      </m:sSupPr>
                      <m:e>
                        <m:d>
                          <m:dPr>
                            <m:ctrlPr>
                              <a:rPr lang="es-ES" sz="2400" b="0" i="1" smtClean="0">
                                <a:latin typeface="Cambria Math" panose="02040503050406030204" pitchFamily="18" charset="0"/>
                              </a:rPr>
                            </m:ctrlPr>
                          </m:dPr>
                          <m:e>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𝜔</m:t>
                                </m:r>
                              </m:e>
                              <m:sub>
                                <m:r>
                                  <a:rPr lang="es-ES" sz="2400" b="0" i="1" smtClean="0">
                                    <a:latin typeface="Cambria Math" panose="02040503050406030204" pitchFamily="18" charset="0"/>
                                  </a:rPr>
                                  <m:t>𝑗𝑘</m:t>
                                </m:r>
                              </m:sub>
                              <m:sup>
                                <m:r>
                                  <a:rPr lang="es-ES" sz="2400" b="0" i="1" smtClean="0">
                                    <a:latin typeface="Cambria Math" panose="02040503050406030204" pitchFamily="18" charset="0"/>
                                  </a:rPr>
                                  <m:t>𝑖</m:t>
                                </m:r>
                              </m:sup>
                            </m:sSubSup>
                          </m:e>
                        </m:d>
                      </m:e>
                      <m:sup>
                        <m:r>
                          <a:rPr lang="es-ES" sz="2400" b="0" i="1" smtClean="0">
                            <a:latin typeface="Cambria Math" panose="02040503050406030204" pitchFamily="18" charset="0"/>
                          </a:rPr>
                          <m:t>⊤</m:t>
                        </m:r>
                      </m:sup>
                    </m:sSup>
                    <m:sSubSup>
                      <m:sSubSupPr>
                        <m:ctrlPr>
                          <a:rPr lang="es-ES" sz="2400" b="0" i="1" smtClean="0">
                            <a:latin typeface="Cambria Math" panose="02040503050406030204" pitchFamily="18" charset="0"/>
                          </a:rPr>
                        </m:ctrlPr>
                      </m:sSubSupPr>
                      <m:e>
                        <m:r>
                          <a:rPr lang="es-ES" sz="2400" b="0" i="1" smtClean="0">
                            <a:latin typeface="Cambria Math" panose="02040503050406030204" pitchFamily="18" charset="0"/>
                          </a:rPr>
                          <m:t>𝜓</m:t>
                        </m:r>
                      </m:e>
                      <m:sub>
                        <m:r>
                          <a:rPr lang="es-ES" sz="2400" b="0" i="1" smtClean="0">
                            <a:latin typeface="Cambria Math" panose="02040503050406030204" pitchFamily="18" charset="0"/>
                          </a:rPr>
                          <m:t>𝑗𝑘</m:t>
                        </m:r>
                      </m:sub>
                      <m:sup>
                        <m:r>
                          <a:rPr lang="es-ES" sz="2400" b="0" i="1" smtClean="0">
                            <a:latin typeface="Cambria Math" panose="02040503050406030204" pitchFamily="18" charset="0"/>
                          </a:rPr>
                          <m:t>𝑖</m:t>
                        </m:r>
                        <m:r>
                          <a:rPr lang="es-ES" sz="2400" b="0" i="1" smtClean="0">
                            <a:latin typeface="Cambria Math" panose="02040503050406030204" pitchFamily="18" charset="0"/>
                          </a:rPr>
                          <m:t> </m:t>
                        </m:r>
                      </m:sup>
                    </m:sSubSup>
                  </m:oMath>
                </a14:m>
                <a:r>
                  <a:rPr lang="en-US" sz="2400" dirty="0"/>
                  <a:t>  				(1) </a:t>
                </a:r>
              </a:p>
              <a:p>
                <a:pPr marL="2743200" lvl="6" indent="0">
                  <a:lnSpc>
                    <a:spcPct val="150000"/>
                  </a:lnSpc>
                  <a:buNone/>
                </a:pPr>
                <a14:m>
                  <m:oMath xmlns:m="http://schemas.openxmlformats.org/officeDocument/2006/math">
                    <m:sSubSup>
                      <m:sSubSupPr>
                        <m:ctrlPr>
                          <a:rPr lang="es-ES" sz="2400" i="1">
                            <a:latin typeface="Cambria Math" panose="02040503050406030204" pitchFamily="18" charset="0"/>
                          </a:rPr>
                        </m:ctrlPr>
                      </m:sSubSupPr>
                      <m:e>
                        <m:acc>
                          <m:accPr>
                            <m:chr m:val="̇"/>
                            <m:ctrlPr>
                              <a:rPr lang="en-US" sz="2400" i="1">
                                <a:latin typeface="Cambria Math" panose="02040503050406030204" pitchFamily="18" charset="0"/>
                              </a:rPr>
                            </m:ctrlPr>
                          </m:accPr>
                          <m:e>
                            <m:r>
                              <a:rPr lang="es-ES" sz="2400" i="1">
                                <a:latin typeface="Cambria Math" panose="02040503050406030204" pitchFamily="18" charset="0"/>
                              </a:rPr>
                              <m:t>𝜔</m:t>
                            </m:r>
                          </m:e>
                        </m:acc>
                      </m:e>
                      <m:sub>
                        <m:r>
                          <a:rPr lang="es-ES" sz="2400" i="1">
                            <a:latin typeface="Cambria Math" panose="02040503050406030204" pitchFamily="18" charset="0"/>
                          </a:rPr>
                          <m:t>𝑗𝑘</m:t>
                        </m:r>
                      </m:sub>
                      <m:sup>
                        <m:r>
                          <a:rPr lang="es-ES" sz="2400" i="1">
                            <a:latin typeface="Cambria Math" panose="02040503050406030204" pitchFamily="18" charset="0"/>
                          </a:rPr>
                          <m:t>𝑖</m:t>
                        </m:r>
                      </m:sup>
                    </m:sSubSup>
                    <m:r>
                      <a:rPr lang="es-ES" sz="2400">
                        <a:latin typeface="Cambria Math" panose="02040503050406030204" pitchFamily="18" charset="0"/>
                      </a:rPr>
                      <m:t>=−</m:t>
                    </m:r>
                    <m:sSubSup>
                      <m:sSubSupPr>
                        <m:ctrlPr>
                          <a:rPr lang="es-ES" sz="2400" i="1">
                            <a:latin typeface="Cambria Math" panose="02040503050406030204" pitchFamily="18" charset="0"/>
                          </a:rPr>
                        </m:ctrlPr>
                      </m:sSubSupPr>
                      <m:e>
                        <m:r>
                          <a:rPr lang="es-ES" sz="2400" i="1">
                            <a:latin typeface="Cambria Math" panose="02040503050406030204" pitchFamily="18" charset="0"/>
                          </a:rPr>
                          <m:t>𝛾</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ES" sz="2400" i="1">
                            <a:latin typeface="Cambria Math" panose="02040503050406030204" pitchFamily="18" charset="0"/>
                          </a:rPr>
                          <m:t>𝜓</m:t>
                        </m:r>
                      </m:e>
                      <m:sub>
                        <m:r>
                          <a:rPr lang="es-ES" sz="2400" i="1">
                            <a:latin typeface="Cambria Math" panose="02040503050406030204" pitchFamily="18" charset="0"/>
                          </a:rPr>
                          <m:t>𝑗𝑘</m:t>
                        </m:r>
                      </m:sub>
                      <m:sup>
                        <m:r>
                          <a:rPr lang="es-ES" sz="2400" i="1">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ES" sz="2400" i="1">
                            <a:latin typeface="Cambria Math" panose="02040503050406030204" pitchFamily="18" charset="0"/>
                          </a:rPr>
                          <m:t>𝜉</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oMath>
                </a14:m>
                <a:r>
                  <a:rPr lang="en-US" sz="2400" dirty="0"/>
                  <a:t>  					(2)</a:t>
                </a:r>
              </a:p>
              <a:p>
                <a:pPr marL="0" indent="0">
                  <a:lnSpc>
                    <a:spcPct val="150000"/>
                  </a:lnSpc>
                  <a:buNone/>
                </a:pPr>
                <a:r>
                  <a:rPr lang="en-US" sz="2200" dirty="0" err="1"/>
                  <a:t>donde</a:t>
                </a:r>
                <a:r>
                  <a:rPr lang="en-US" sz="2200" dirty="0"/>
                  <a:t>: </a:t>
                </a:r>
              </a:p>
              <a:p>
                <a:pPr marL="0" indent="0">
                  <a:lnSpc>
                    <a:spcPct val="100000"/>
                  </a:lnSpc>
                  <a:buNone/>
                </a:pPr>
                <a14:m>
                  <m:oMath xmlns:m="http://schemas.openxmlformats.org/officeDocument/2006/math">
                    <m:sSubSup>
                      <m:sSubSupPr>
                        <m:ctrlPr>
                          <a:rPr lang="es-ES" sz="2200" i="1">
                            <a:latin typeface="Cambria Math" panose="02040503050406030204" pitchFamily="18" charset="0"/>
                          </a:rPr>
                        </m:ctrlPr>
                      </m:sSubSupPr>
                      <m:e>
                        <m:r>
                          <a:rPr lang="es-ES" sz="2200" i="1">
                            <a:latin typeface="Cambria Math" panose="02040503050406030204" pitchFamily="18" charset="0"/>
                          </a:rPr>
                          <m:t>𝑦</m:t>
                        </m:r>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es </a:t>
                </a:r>
                <a:r>
                  <a:rPr lang="en-US" sz="2200" dirty="0" err="1"/>
                  <a:t>el</a:t>
                </a:r>
                <a:r>
                  <a:rPr lang="en-US" sz="2200" dirty="0"/>
                  <a:t> </a:t>
                </a:r>
                <a:r>
                  <a:rPr lang="en-US" sz="2200" dirty="0" err="1"/>
                  <a:t>estado</a:t>
                </a:r>
                <a:r>
                  <a:rPr lang="en-US" sz="2200" dirty="0"/>
                  <a:t> de la </a:t>
                </a:r>
                <a14:m>
                  <m:oMath xmlns:m="http://schemas.openxmlformats.org/officeDocument/2006/math">
                    <m:r>
                      <a:rPr lang="en-US" sz="2200" i="1" dirty="0" smtClean="0">
                        <a:latin typeface="Cambria Math" panose="02040503050406030204" pitchFamily="18" charset="0"/>
                      </a:rPr>
                      <m:t>𝑖</m:t>
                    </m:r>
                  </m:oMath>
                </a14:m>
                <a:r>
                  <a:rPr lang="en-US" sz="2200" dirty="0"/>
                  <a:t>-</a:t>
                </a:r>
                <a:r>
                  <a:rPr lang="en-US" sz="2200" dirty="0" err="1"/>
                  <a:t>ésima</a:t>
                </a:r>
                <a:r>
                  <a:rPr lang="en-US" sz="2200" dirty="0"/>
                  <a:t> </a:t>
                </a:r>
                <a:r>
                  <a:rPr lang="en-US" sz="2200" dirty="0" err="1"/>
                  <a:t>nerona</a:t>
                </a:r>
                <a:r>
                  <a:rPr lang="en-US" sz="2200" dirty="0"/>
                  <a:t>.</a:t>
                </a:r>
              </a:p>
              <a:p>
                <a:pPr marL="0" indent="0">
                  <a:lnSpc>
                    <a:spcPct val="100000"/>
                  </a:lnSpc>
                  <a:buNone/>
                </a:pPr>
                <a14:m>
                  <m:oMath xmlns:m="http://schemas.openxmlformats.org/officeDocument/2006/math">
                    <m:sSubSup>
                      <m:sSubSupPr>
                        <m:ctrlPr>
                          <a:rPr lang="es-ES" sz="2200" b="0" i="1" smtClean="0">
                            <a:latin typeface="Cambria Math" panose="02040503050406030204" pitchFamily="18" charset="0"/>
                          </a:rPr>
                        </m:ctrlPr>
                      </m:sSubSupPr>
                      <m:e>
                        <m:r>
                          <a:rPr lang="es-ES" sz="2200" b="0" i="1" smtClean="0">
                            <a:latin typeface="Cambria Math" panose="02040503050406030204" pitchFamily="18" charset="0"/>
                          </a:rPr>
                          <m:t>𝛼</m:t>
                        </m:r>
                      </m:e>
                      <m:sub>
                        <m:r>
                          <a:rPr lang="es-ES" sz="2200" b="0" i="1" smtClean="0">
                            <a:latin typeface="Cambria Math" panose="02040503050406030204" pitchFamily="18" charset="0"/>
                          </a:rPr>
                          <m:t>𝑗</m:t>
                        </m:r>
                      </m:sub>
                      <m:sup>
                        <m:r>
                          <a:rPr lang="es-ES" sz="2200" b="0" i="1" smtClean="0">
                            <a:latin typeface="Cambria Math" panose="02040503050406030204" pitchFamily="18" charset="0"/>
                          </a:rPr>
                          <m:t>𝑖</m:t>
                        </m:r>
                      </m:sup>
                    </m:sSubSup>
                    <m:sSubSup>
                      <m:sSubSupPr>
                        <m:ctrlPr>
                          <a:rPr lang="es-ES" sz="2400" i="1">
                            <a:latin typeface="Cambria Math" panose="02040503050406030204" pitchFamily="18" charset="0"/>
                          </a:rPr>
                        </m:ctrlPr>
                      </m:sSubSupPr>
                      <m:e>
                        <m:r>
                          <a:rPr lang="es-419" sz="2400" b="0" i="1" smtClean="0">
                            <a:latin typeface="Cambria Math" panose="02040503050406030204" pitchFamily="18" charset="0"/>
                          </a:rPr>
                          <m:t>,</m:t>
                        </m:r>
                        <m:r>
                          <a:rPr lang="es-ES" sz="2400" i="1">
                            <a:latin typeface="Cambria Math" panose="02040503050406030204" pitchFamily="18" charset="0"/>
                          </a:rPr>
                          <m:t>𝛾</m:t>
                        </m:r>
                      </m:e>
                      <m:sub>
                        <m:r>
                          <a:rPr lang="es-ES" sz="2400" i="1">
                            <a:latin typeface="Cambria Math" panose="02040503050406030204" pitchFamily="18" charset="0"/>
                          </a:rPr>
                          <m:t>𝑗</m:t>
                        </m:r>
                      </m:sub>
                      <m:sup>
                        <m:r>
                          <a:rPr lang="es-ES" sz="2400" i="1">
                            <a:latin typeface="Cambria Math" panose="02040503050406030204" pitchFamily="18" charset="0"/>
                          </a:rPr>
                          <m:t>𝑖</m:t>
                        </m:r>
                      </m:sup>
                    </m:sSubSup>
                    <m:r>
                      <a:rPr lang="es-419" sz="2400" b="0" i="1" smtClean="0">
                        <a:latin typeface="Cambria Math" panose="02040503050406030204" pitchFamily="18" charset="0"/>
                      </a:rPr>
                      <m:t>,</m:t>
                    </m:r>
                    <m:sSubSup>
                      <m:sSubSupPr>
                        <m:ctrlPr>
                          <a:rPr lang="es-ES" sz="2000" i="1">
                            <a:latin typeface="Cambria Math" panose="02040503050406030204" pitchFamily="18" charset="0"/>
                          </a:rPr>
                        </m:ctrlPr>
                      </m:sSubSupPr>
                      <m:e>
                        <m:r>
                          <a:rPr lang="es-419" sz="2000" i="1">
                            <a:latin typeface="Cambria Math" panose="02040503050406030204" pitchFamily="18" charset="0"/>
                          </a:rPr>
                          <m:t>𝛿</m:t>
                        </m:r>
                      </m:e>
                      <m:sub>
                        <m:r>
                          <a:rPr lang="es-ES" sz="2000" i="1">
                            <a:latin typeface="Cambria Math" panose="02040503050406030204" pitchFamily="18" charset="0"/>
                          </a:rPr>
                          <m:t>𝑗</m:t>
                        </m:r>
                      </m:sub>
                      <m:sup>
                        <m:r>
                          <a:rPr lang="es-ES" sz="2000" i="1">
                            <a:latin typeface="Cambria Math" panose="02040503050406030204" pitchFamily="18" charset="0"/>
                          </a:rPr>
                          <m:t>𝑖</m:t>
                        </m:r>
                      </m:sup>
                    </m:sSubSup>
                    <m:r>
                      <a:rPr lang="es-ES" sz="2200" b="0" i="1" smtClean="0">
                        <a:latin typeface="Cambria Math" panose="02040503050406030204" pitchFamily="18" charset="0"/>
                      </a:rPr>
                      <m:t>&gt;0</m:t>
                    </m:r>
                  </m:oMath>
                </a14:m>
                <a:r>
                  <a:rPr lang="en-US" sz="2200" dirty="0"/>
                  <a:t> son </a:t>
                </a:r>
                <a:r>
                  <a:rPr lang="en-US" sz="2200" dirty="0" err="1"/>
                  <a:t>parámetros</a:t>
                </a:r>
                <a:r>
                  <a:rPr lang="en-US" sz="2200" dirty="0"/>
                  <a:t> </a:t>
                </a:r>
                <a:r>
                  <a:rPr lang="en-US" sz="2200" dirty="0" err="1"/>
                  <a:t>fijos</a:t>
                </a:r>
                <a:r>
                  <a:rPr lang="en-US" sz="2200" dirty="0"/>
                  <a:t> de </a:t>
                </a:r>
                <a:r>
                  <a:rPr lang="en-US" sz="2200" dirty="0" err="1"/>
                  <a:t>entrenamiento</a:t>
                </a:r>
                <a:endParaRPr lang="en-US" sz="2200" dirty="0"/>
              </a:p>
              <a:p>
                <a:pPr marL="0" indent="0">
                  <a:lnSpc>
                    <a:spcPct val="100000"/>
                  </a:lnSpc>
                  <a:buNone/>
                </a:pPr>
                <a14:m>
                  <m:oMath xmlns:m="http://schemas.openxmlformats.org/officeDocument/2006/math">
                    <m:sSubSup>
                      <m:sSubSupPr>
                        <m:ctrlPr>
                          <a:rPr lang="es-ES" sz="2000" i="1">
                            <a:latin typeface="Cambria Math" panose="02040503050406030204" pitchFamily="18" charset="0"/>
                          </a:rPr>
                        </m:ctrlPr>
                      </m:sSubSupPr>
                      <m:e>
                        <m:r>
                          <a:rPr lang="es-419" sz="2000" b="0" i="1" smtClean="0">
                            <a:latin typeface="Cambria Math" panose="02040503050406030204" pitchFamily="18" charset="0"/>
                          </a:rPr>
                          <m:t>𝜓</m:t>
                        </m:r>
                      </m:e>
                      <m:sub>
                        <m:r>
                          <a:rPr lang="es-ES" sz="2000" i="1">
                            <a:latin typeface="Cambria Math" panose="02040503050406030204" pitchFamily="18" charset="0"/>
                          </a:rPr>
                          <m:t>𝑗</m:t>
                        </m:r>
                        <m:r>
                          <a:rPr lang="es-419" sz="2000" b="0" i="1" smtClean="0">
                            <a:latin typeface="Cambria Math" panose="02040503050406030204" pitchFamily="18" charset="0"/>
                          </a:rPr>
                          <m:t>𝑘</m:t>
                        </m:r>
                      </m:sub>
                      <m:sup>
                        <m:r>
                          <a:rPr lang="es-ES" sz="2000" i="1">
                            <a:latin typeface="Cambria Math" panose="02040503050406030204" pitchFamily="18" charset="0"/>
                          </a:rPr>
                          <m:t>𝑖</m:t>
                        </m:r>
                      </m:sup>
                    </m:sSubSup>
                  </m:oMath>
                </a14:m>
                <a:r>
                  <a:rPr lang="en-US" sz="2200" dirty="0"/>
                  <a:t> es la </a:t>
                </a:r>
                <a:r>
                  <a:rPr lang="en-US" sz="2200" dirty="0" err="1"/>
                  <a:t>función</a:t>
                </a:r>
                <a:r>
                  <a:rPr lang="en-US" sz="2200" dirty="0"/>
                  <a:t> de </a:t>
                </a:r>
                <a:r>
                  <a:rPr lang="en-US" sz="2200" dirty="0" err="1"/>
                  <a:t>activación</a:t>
                </a:r>
                <a:endParaRPr lang="en-US" sz="2200" dirty="0"/>
              </a:p>
              <a:p>
                <a:pPr marL="0" indent="0">
                  <a:lnSpc>
                    <a:spcPct val="100000"/>
                  </a:lnSpc>
                  <a:buNone/>
                </a:pPr>
                <a14:m>
                  <m:oMath xmlns:m="http://schemas.openxmlformats.org/officeDocument/2006/math">
                    <m:sSubSup>
                      <m:sSubSupPr>
                        <m:ctrlPr>
                          <a:rPr lang="es-ES" sz="2200" b="0" i="1" smtClean="0">
                            <a:latin typeface="Cambria Math" panose="02040503050406030204" pitchFamily="18" charset="0"/>
                          </a:rPr>
                        </m:ctrlPr>
                      </m:sSubSupPr>
                      <m:e>
                        <m:r>
                          <a:rPr lang="es-ES" sz="2200" b="0" i="1" smtClean="0">
                            <a:latin typeface="Cambria Math" panose="02040503050406030204" pitchFamily="18" charset="0"/>
                          </a:rPr>
                          <m:t>𝜔</m:t>
                        </m:r>
                      </m:e>
                      <m:sub>
                        <m:r>
                          <a:rPr lang="es-ES" sz="2200" b="0" i="1" smtClean="0">
                            <a:latin typeface="Cambria Math" panose="02040503050406030204" pitchFamily="18" charset="0"/>
                          </a:rPr>
                          <m:t>𝑗𝑘</m:t>
                        </m:r>
                      </m:sub>
                      <m:sup>
                        <m:r>
                          <a:rPr lang="es-ES" sz="2200" b="0" i="1" smtClean="0">
                            <a:latin typeface="Cambria Math" panose="02040503050406030204" pitchFamily="18" charset="0"/>
                          </a:rPr>
                          <m:t>𝑖</m:t>
                        </m:r>
                      </m:sup>
                    </m:sSubSup>
                  </m:oMath>
                </a14:m>
                <a:r>
                  <a:rPr lang="en-US" sz="2200" dirty="0"/>
                  <a:t> son </a:t>
                </a:r>
                <a:r>
                  <a:rPr lang="en-US" sz="2200" dirty="0" err="1"/>
                  <a:t>los</a:t>
                </a:r>
                <a:r>
                  <a:rPr lang="en-US" sz="2200" dirty="0"/>
                  <a:t> pesos </a:t>
                </a:r>
                <a:r>
                  <a:rPr lang="en-US" sz="2200" dirty="0" err="1"/>
                  <a:t>sinápticos</a:t>
                </a:r>
                <a:endParaRPr lang="en-US" sz="2200" dirty="0"/>
              </a:p>
              <a:p>
                <a:pPr marL="0" indent="0">
                  <a:lnSpc>
                    <a:spcPct val="100000"/>
                  </a:lnSpc>
                  <a:buNone/>
                </a:pPr>
                <a14:m>
                  <m:oMath xmlns:m="http://schemas.openxmlformats.org/officeDocument/2006/math">
                    <m:sSubSup>
                      <m:sSubSupPr>
                        <m:ctrlPr>
                          <a:rPr lang="es-ES" sz="2200" i="1">
                            <a:latin typeface="Cambria Math" panose="02040503050406030204" pitchFamily="18" charset="0"/>
                          </a:rPr>
                        </m:ctrlPr>
                      </m:sSubSupPr>
                      <m:e>
                        <m:acc>
                          <m:accPr>
                            <m:chr m:val="̇"/>
                            <m:ctrlPr>
                              <a:rPr lang="es-ES" sz="2200" i="1">
                                <a:latin typeface="Cambria Math" panose="02040503050406030204" pitchFamily="18" charset="0"/>
                              </a:rPr>
                            </m:ctrlPr>
                          </m:accPr>
                          <m:e>
                            <m:r>
                              <a:rPr lang="es-ES" sz="2200" i="1">
                                <a:latin typeface="Cambria Math" panose="02040503050406030204" pitchFamily="18" charset="0"/>
                              </a:rPr>
                              <m:t>𝜉</m:t>
                            </m:r>
                          </m:e>
                        </m:acc>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a:t>
                </a:r>
                <a14:m>
                  <m:oMath xmlns:m="http://schemas.openxmlformats.org/officeDocument/2006/math">
                    <m:sSup>
                      <m:sSupPr>
                        <m:ctrlPr>
                          <a:rPr lang="en-US" sz="2200" i="1">
                            <a:latin typeface="Cambria Math" panose="02040503050406030204" pitchFamily="18" charset="0"/>
                          </a:rPr>
                        </m:ctrlPr>
                      </m:sSupPr>
                      <m:e>
                        <m:r>
                          <a:rPr lang="es-ES" sz="2200" i="1">
                            <a:latin typeface="Cambria Math" panose="02040503050406030204" pitchFamily="18" charset="0"/>
                          </a:rPr>
                          <m:t>=</m:t>
                        </m:r>
                        <m:acc>
                          <m:accPr>
                            <m:chr m:val="̇"/>
                            <m:ctrlPr>
                              <a:rPr lang="en-US" sz="2200" i="1">
                                <a:latin typeface="Cambria Math" panose="02040503050406030204" pitchFamily="18" charset="0"/>
                              </a:rPr>
                            </m:ctrlPr>
                          </m:accPr>
                          <m:e>
                            <m:sSub>
                              <m:sSubPr>
                                <m:ctrlPr>
                                  <a:rPr lang="es-ES" sz="2200" i="1">
                                    <a:latin typeface="Cambria Math" panose="02040503050406030204" pitchFamily="18" charset="0"/>
                                  </a:rPr>
                                </m:ctrlPr>
                              </m:sSubPr>
                              <m:e>
                                <m:r>
                                  <a:rPr lang="es-ES" sz="2200" i="1">
                                    <a:latin typeface="Cambria Math" panose="02040503050406030204" pitchFamily="18" charset="0"/>
                                  </a:rPr>
                                  <m:t>𝑦</m:t>
                                </m:r>
                              </m:e>
                              <m:sub>
                                <m:r>
                                  <a:rPr lang="es-ES" sz="2200" i="1">
                                    <a:latin typeface="Cambria Math" panose="02040503050406030204" pitchFamily="18" charset="0"/>
                                  </a:rPr>
                                  <m:t>𝑗</m:t>
                                </m:r>
                              </m:sub>
                            </m:sSub>
                          </m:e>
                        </m:acc>
                      </m:e>
                      <m:sup>
                        <m:r>
                          <a:rPr lang="es-ES" sz="2200" i="1">
                            <a:latin typeface="Cambria Math" panose="02040503050406030204" pitchFamily="18" charset="0"/>
                          </a:rPr>
                          <m:t>𝑖</m:t>
                        </m:r>
                      </m:sup>
                    </m:sSup>
                    <m:r>
                      <a:rPr lang="es-ES" sz="2200" i="1">
                        <a:latin typeface="Cambria Math" panose="02040503050406030204" pitchFamily="18" charset="0"/>
                      </a:rPr>
                      <m:t>−</m:t>
                    </m:r>
                    <m:sSubSup>
                      <m:sSubSupPr>
                        <m:ctrlPr>
                          <a:rPr lang="es-ES" sz="2200" i="1">
                            <a:latin typeface="Cambria Math" panose="02040503050406030204" pitchFamily="18" charset="0"/>
                          </a:rPr>
                        </m:ctrlPr>
                      </m:sSubSupPr>
                      <m:e>
                        <m:acc>
                          <m:accPr>
                            <m:chr m:val="̇"/>
                            <m:ctrlPr>
                              <a:rPr lang="es-ES" sz="2200" i="1">
                                <a:latin typeface="Cambria Math" panose="02040503050406030204" pitchFamily="18" charset="0"/>
                              </a:rPr>
                            </m:ctrlPr>
                          </m:accPr>
                          <m:e>
                            <m:r>
                              <a:rPr lang="es-ES" sz="2200" i="1">
                                <a:latin typeface="Cambria Math" panose="02040503050406030204" pitchFamily="18" charset="0"/>
                              </a:rPr>
                              <m:t>𝜒</m:t>
                            </m:r>
                          </m:e>
                        </m:acc>
                      </m:e>
                      <m:sub>
                        <m:r>
                          <a:rPr lang="es-ES" sz="2200" i="1">
                            <a:latin typeface="Cambria Math" panose="02040503050406030204" pitchFamily="18" charset="0"/>
                          </a:rPr>
                          <m:t>𝑗</m:t>
                        </m:r>
                      </m:sub>
                      <m:sup>
                        <m:r>
                          <a:rPr lang="es-ES" sz="2200" i="1">
                            <a:latin typeface="Cambria Math" panose="02040503050406030204" pitchFamily="18" charset="0"/>
                          </a:rPr>
                          <m:t>𝑖</m:t>
                        </m:r>
                      </m:sup>
                    </m:sSubSup>
                  </m:oMath>
                </a14:m>
                <a:r>
                  <a:rPr lang="en-US" sz="2200" dirty="0"/>
                  <a:t> es </a:t>
                </a:r>
                <a:r>
                  <a:rPr lang="en-US" sz="2200" dirty="0" err="1"/>
                  <a:t>el</a:t>
                </a:r>
                <a:r>
                  <a:rPr lang="en-US" sz="2200" dirty="0"/>
                  <a:t> error de </a:t>
                </a:r>
                <a:r>
                  <a:rPr lang="en-US" sz="2200" dirty="0" err="1"/>
                  <a:t>identificación</a:t>
                </a:r>
                <a:endParaRPr lang="en-US" sz="2200" dirty="0"/>
              </a:p>
              <a:p>
                <a:pPr marL="0" indent="0">
                  <a:lnSpc>
                    <a:spcPct val="100000"/>
                  </a:lnSpc>
                  <a:buNone/>
                </a:pPr>
                <a:endParaRPr lang="en-US" dirty="0"/>
              </a:p>
            </p:txBody>
          </p:sp>
        </mc:Choice>
        <mc:Fallback xmlns="">
          <p:sp>
            <p:nvSpPr>
              <p:cNvPr id="3" name="Content Placeholder 2">
                <a:extLst>
                  <a:ext uri="{FF2B5EF4-FFF2-40B4-BE49-F238E27FC236}">
                    <a16:creationId xmlns:a16="http://schemas.microsoft.com/office/drawing/2014/main" id="{6C3AD812-09A8-744A-91DD-A6F158BCE280}"/>
                  </a:ext>
                </a:extLst>
              </p:cNvPr>
              <p:cNvSpPr>
                <a:spLocks noGrp="1" noRot="1" noChangeAspect="1" noMove="1" noResize="1" noEditPoints="1" noAdjustHandles="1" noChangeArrowheads="1" noChangeShapeType="1" noTextEdit="1"/>
              </p:cNvSpPr>
              <p:nvPr>
                <p:ph idx="1"/>
              </p:nvPr>
            </p:nvSpPr>
            <p:spPr>
              <a:blipFill>
                <a:blip r:embed="rId2"/>
                <a:stretch>
                  <a:fillRect l="-603"/>
                </a:stretch>
              </a:blipFill>
            </p:spPr>
            <p:txBody>
              <a:bodyPr/>
              <a:lstStyle/>
              <a:p>
                <a:r>
                  <a:rPr lang="en-MX">
                    <a:noFill/>
                  </a:rPr>
                  <a:t> </a:t>
                </a:r>
              </a:p>
            </p:txBody>
          </p:sp>
        </mc:Fallback>
      </mc:AlternateContent>
      <p:sp>
        <p:nvSpPr>
          <p:cNvPr id="4" name="Slide Number Placeholder 3">
            <a:extLst>
              <a:ext uri="{FF2B5EF4-FFF2-40B4-BE49-F238E27FC236}">
                <a16:creationId xmlns:a16="http://schemas.microsoft.com/office/drawing/2014/main" id="{B74465B4-B78A-C84D-82FC-F4257A9A31DA}"/>
              </a:ext>
            </a:extLst>
          </p:cNvPr>
          <p:cNvSpPr>
            <a:spLocks noGrp="1"/>
          </p:cNvSpPr>
          <p:nvPr>
            <p:ph type="sldNum" sz="quarter" idx="12"/>
          </p:nvPr>
        </p:nvSpPr>
        <p:spPr/>
        <p:txBody>
          <a:bodyPr/>
          <a:lstStyle/>
          <a:p>
            <a:fld id="{B4BE085C-131E-4871-906D-CE6CA8D2EB1A}" type="slidenum">
              <a:rPr lang="es-MX" smtClean="0"/>
              <a:t>37</a:t>
            </a:fld>
            <a:endParaRPr lang="es-MX"/>
          </a:p>
        </p:txBody>
      </p:sp>
      <p:sp>
        <p:nvSpPr>
          <p:cNvPr id="5" name="TextBox 4">
            <a:extLst>
              <a:ext uri="{FF2B5EF4-FFF2-40B4-BE49-F238E27FC236}">
                <a16:creationId xmlns:a16="http://schemas.microsoft.com/office/drawing/2014/main" id="{5766E3C0-5302-0D4C-A1A3-03A75437F217}"/>
              </a:ext>
            </a:extLst>
          </p:cNvPr>
          <p:cNvSpPr txBox="1"/>
          <p:nvPr/>
        </p:nvSpPr>
        <p:spPr>
          <a:xfrm>
            <a:off x="838200" y="6198255"/>
            <a:ext cx="10290048" cy="523220"/>
          </a:xfrm>
          <a:prstGeom prst="rect">
            <a:avLst/>
          </a:prstGeom>
          <a:noFill/>
        </p:spPr>
        <p:txBody>
          <a:bodyPr wrap="square" rtlCol="0">
            <a:spAutoFit/>
          </a:bodyPr>
          <a:lstStyle/>
          <a:p>
            <a:r>
              <a:rPr lang="en-US" sz="1400" dirty="0">
                <a:solidFill>
                  <a:srgbClr val="1A1A1A"/>
                </a:solidFill>
                <a:latin typeface="ArialMT"/>
              </a:rPr>
              <a:t>Identification of Chaotic Dynamics in Jerky-Based Systems by Recurrent Wavelet First-Order Neural Networks with a </a:t>
            </a:r>
            <a:r>
              <a:rPr lang="en-US" sz="1400" dirty="0" err="1">
                <a:solidFill>
                  <a:srgbClr val="1A1A1A"/>
                </a:solidFill>
                <a:latin typeface="ArialMT"/>
              </a:rPr>
              <a:t>Morlet</a:t>
            </a:r>
            <a:r>
              <a:rPr lang="en-US" sz="1400" dirty="0">
                <a:solidFill>
                  <a:srgbClr val="1A1A1A"/>
                </a:solidFill>
                <a:latin typeface="ArialMT"/>
              </a:rPr>
              <a:t> Wavelet Activation Function. </a:t>
            </a:r>
            <a:r>
              <a:rPr lang="en-US" sz="1400" i="1" dirty="0">
                <a:solidFill>
                  <a:srgbClr val="1A1A1A"/>
                </a:solidFill>
                <a:latin typeface="Arial-ItalicMT"/>
              </a:rPr>
              <a:t>Axioms</a:t>
            </a:r>
            <a:r>
              <a:rPr lang="en-US" sz="1400" i="0" dirty="0">
                <a:solidFill>
                  <a:srgbClr val="1A1A1A"/>
                </a:solidFill>
                <a:latin typeface="ArialMT"/>
              </a:rPr>
              <a:t>, </a:t>
            </a:r>
            <a:r>
              <a:rPr lang="en-US" sz="1400" i="1" dirty="0">
                <a:solidFill>
                  <a:srgbClr val="1A1A1A"/>
                </a:solidFill>
                <a:latin typeface="Arial-ItalicMT"/>
              </a:rPr>
              <a:t>12</a:t>
            </a:r>
            <a:r>
              <a:rPr lang="en-US" sz="1400" i="0" dirty="0">
                <a:solidFill>
                  <a:srgbClr val="1A1A1A"/>
                </a:solidFill>
                <a:latin typeface="ArialMT"/>
              </a:rPr>
              <a:t>(2), 200.</a:t>
            </a:r>
            <a:endParaRPr lang="en-US" sz="1400" dirty="0"/>
          </a:p>
        </p:txBody>
      </p:sp>
      <p:pic>
        <p:nvPicPr>
          <p:cNvPr id="6" name="Picture 5">
            <a:extLst>
              <a:ext uri="{FF2B5EF4-FFF2-40B4-BE49-F238E27FC236}">
                <a16:creationId xmlns:a16="http://schemas.microsoft.com/office/drawing/2014/main" id="{E654C6A6-9DC8-C720-2FC8-BDD8880B983F}"/>
              </a:ext>
            </a:extLst>
          </p:cNvPr>
          <p:cNvPicPr>
            <a:picLocks noChangeAspect="1"/>
          </p:cNvPicPr>
          <p:nvPr/>
        </p:nvPicPr>
        <p:blipFill>
          <a:blip r:embed="rId3"/>
          <a:stretch>
            <a:fillRect/>
          </a:stretch>
        </p:blipFill>
        <p:spPr>
          <a:xfrm>
            <a:off x="3540048" y="2298179"/>
            <a:ext cx="3849579" cy="689590"/>
          </a:xfrm>
          <a:prstGeom prst="rect">
            <a:avLst/>
          </a:prstGeom>
        </p:spPr>
      </p:pic>
    </p:spTree>
    <p:extLst>
      <p:ext uri="{BB962C8B-B14F-4D97-AF65-F5344CB8AC3E}">
        <p14:creationId xmlns:p14="http://schemas.microsoft.com/office/powerpoint/2010/main" val="139627928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E672B7-41BA-2E4C-A307-EFA942B871AF}"/>
              </a:ext>
            </a:extLst>
          </p:cNvPr>
          <p:cNvSpPr>
            <a:spLocks noGrp="1"/>
          </p:cNvSpPr>
          <p:nvPr>
            <p:ph type="title"/>
          </p:nvPr>
        </p:nvSpPr>
        <p:spPr/>
        <p:txBody>
          <a:bodyPr/>
          <a:lstStyle/>
          <a:p>
            <a:r>
              <a:rPr lang="en-US" dirty="0" err="1"/>
              <a:t>Función</a:t>
            </a:r>
            <a:r>
              <a:rPr lang="en-US" dirty="0"/>
              <a:t> de </a:t>
            </a:r>
            <a:r>
              <a:rPr lang="en-US" dirty="0" err="1"/>
              <a:t>activación</a:t>
            </a:r>
            <a:r>
              <a:rPr lang="en-US" dirty="0"/>
              <a:t> de Wavelets de Morlet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49010A5-449E-6240-A11A-B36837F80F8D}"/>
                  </a:ext>
                </a:extLst>
              </p:cNvPr>
              <p:cNvSpPr>
                <a:spLocks noGrp="1"/>
              </p:cNvSpPr>
              <p:nvPr>
                <p:ph idx="1"/>
              </p:nvPr>
            </p:nvSpPr>
            <p:spPr/>
            <p:txBody>
              <a:bodyPr/>
              <a:lstStyle/>
              <a:p>
                <a:pPr marL="0" indent="0">
                  <a:lnSpc>
                    <a:spcPct val="150000"/>
                  </a:lnSpc>
                  <a:buNone/>
                </a:pPr>
                <a14:m>
                  <m:oMath xmlns:m="http://schemas.openxmlformats.org/officeDocument/2006/math">
                    <m:sSubSup>
                      <m:sSubSupPr>
                        <m:ctrlPr>
                          <a:rPr lang="es-ES" b="0" i="1" smtClean="0">
                            <a:latin typeface="Cambria Math" panose="02040503050406030204" pitchFamily="18" charset="0"/>
                          </a:rPr>
                        </m:ctrlPr>
                      </m:sSubSupPr>
                      <m:e>
                        <m:r>
                          <a:rPr lang="es-ES" b="0" i="1" smtClean="0">
                            <a:latin typeface="Cambria Math" panose="02040503050406030204" pitchFamily="18" charset="0"/>
                          </a:rPr>
                          <m:t>𝜓</m:t>
                        </m:r>
                      </m:e>
                      <m:sub>
                        <m:r>
                          <a:rPr lang="es-ES" b="0" i="1" smtClean="0">
                            <a:latin typeface="Cambria Math" panose="02040503050406030204" pitchFamily="18" charset="0"/>
                          </a:rPr>
                          <m:t>𝑗𝑘</m:t>
                        </m:r>
                      </m:sub>
                      <m:sup>
                        <m:r>
                          <a:rPr lang="es-ES" b="0" i="1" smtClean="0">
                            <a:latin typeface="Cambria Math" panose="02040503050406030204" pitchFamily="18" charset="0"/>
                          </a:rPr>
                          <m:t>𝑖</m:t>
                        </m:r>
                        <m:r>
                          <a:rPr lang="es-ES" b="0" i="1" smtClean="0">
                            <a:latin typeface="Cambria Math" panose="02040503050406030204" pitchFamily="18" charset="0"/>
                          </a:rPr>
                          <m:t> </m:t>
                        </m:r>
                      </m:sup>
                    </m:sSubSup>
                  </m:oMath>
                </a14:m>
                <a:r>
                  <a:rPr lang="en-US" dirty="0"/>
                  <a:t> se define </a:t>
                </a:r>
                <a:r>
                  <a:rPr lang="en-US" dirty="0" err="1"/>
                  <a:t>como</a:t>
                </a:r>
                <a:r>
                  <a:rPr lang="en-US" dirty="0"/>
                  <a:t>:</a:t>
                </a:r>
              </a:p>
              <a:p>
                <a:pPr marL="0" indent="0" algn="r">
                  <a:lnSpc>
                    <a:spcPct val="150000"/>
                  </a:lnSpc>
                  <a:buNone/>
                </a:pPr>
                <a14:m>
                  <m:oMath xmlns:m="http://schemas.openxmlformats.org/officeDocument/2006/math">
                    <m:r>
                      <a:rPr lang="es-ES" b="0" i="1" smtClean="0">
                        <a:latin typeface="Cambria Math" panose="02040503050406030204" pitchFamily="18" charset="0"/>
                      </a:rPr>
                      <m:t>𝜓</m:t>
                    </m:r>
                    <m:d>
                      <m:dPr>
                        <m:ctrlPr>
                          <a:rPr lang="es-ES" b="0" i="1" smtClean="0">
                            <a:latin typeface="Cambria Math" panose="02040503050406030204" pitchFamily="18" charset="0"/>
                          </a:rPr>
                        </m:ctrlPr>
                      </m:dPr>
                      <m:e>
                        <m:r>
                          <m:rPr>
                            <m:lit/>
                          </m:rPr>
                          <a:rPr lang="es-ES" b="0" i="1" smtClean="0">
                            <a:latin typeface="Cambria Math" panose="02040503050406030204" pitchFamily="18" charset="0"/>
                          </a:rPr>
                          <m:t> </m:t>
                        </m:r>
                        <m:r>
                          <a:rPr lang="es-ES" b="0" i="1" smtClean="0">
                            <a:latin typeface="Cambria Math" panose="02040503050406030204" pitchFamily="18" charset="0"/>
                          </a:rPr>
                          <m:t>𝜒</m:t>
                        </m:r>
                      </m:e>
                    </m:d>
                    <m:r>
                      <a:rPr lang="es-ES" b="0" i="1" smtClean="0">
                        <a:latin typeface="Cambria Math" panose="02040503050406030204" pitchFamily="18" charset="0"/>
                      </a:rPr>
                      <m:t>=</m:t>
                    </m:r>
                    <m:sSup>
                      <m:sSupPr>
                        <m:ctrlPr>
                          <a:rPr lang="es-ES" b="0" i="1" smtClean="0">
                            <a:latin typeface="Cambria Math" panose="02040503050406030204" pitchFamily="18" charset="0"/>
                          </a:rPr>
                        </m:ctrlPr>
                      </m:sSupPr>
                      <m:e>
                        <m:r>
                          <a:rPr lang="es-ES" b="0" i="1" smtClean="0">
                            <a:latin typeface="Cambria Math" panose="02040503050406030204" pitchFamily="18" charset="0"/>
                          </a:rPr>
                          <m:t>𝑒</m:t>
                        </m:r>
                      </m:e>
                      <m:sup>
                        <m:r>
                          <a:rPr lang="es-ES" i="1">
                            <a:latin typeface="Cambria Math" panose="02040503050406030204" pitchFamily="18" charset="0"/>
                          </a:rPr>
                          <m:t>(−</m:t>
                        </m:r>
                        <m:sSup>
                          <m:sSupPr>
                            <m:ctrlPr>
                              <a:rPr lang="es-ES" i="1">
                                <a:latin typeface="Cambria Math" panose="02040503050406030204" pitchFamily="18" charset="0"/>
                              </a:rPr>
                            </m:ctrlPr>
                          </m:sSupPr>
                          <m:e>
                            <m:r>
                              <a:rPr lang="es-ES" i="1">
                                <a:latin typeface="Cambria Math" panose="02040503050406030204" pitchFamily="18" charset="0"/>
                              </a:rPr>
                              <m:t>𝜒</m:t>
                            </m:r>
                          </m:e>
                          <m:sup>
                            <m:r>
                              <a:rPr lang="es-ES" i="1">
                                <a:latin typeface="Cambria Math" panose="02040503050406030204" pitchFamily="18" charset="0"/>
                              </a:rPr>
                              <m:t>2</m:t>
                            </m:r>
                          </m:sup>
                        </m:sSup>
                        <m:r>
                          <a:rPr lang="es-ES" i="1">
                            <a:latin typeface="Cambria Math" panose="02040503050406030204" pitchFamily="18" charset="0"/>
                          </a:rPr>
                          <m:t>/</m:t>
                        </m:r>
                        <m:r>
                          <a:rPr lang="es-ES" i="1">
                            <a:latin typeface="Cambria Math" panose="02040503050406030204" pitchFamily="18" charset="0"/>
                          </a:rPr>
                          <m:t>𝛽</m:t>
                        </m:r>
                        <m:r>
                          <a:rPr lang="es-ES" b="0" i="1" smtClean="0">
                            <a:latin typeface="Cambria Math" panose="02040503050406030204" pitchFamily="18" charset="0"/>
                          </a:rPr>
                          <m:t>)</m:t>
                        </m:r>
                      </m:sup>
                    </m:sSup>
                    <m:r>
                      <m:rPr>
                        <m:sty m:val="p"/>
                      </m:rPr>
                      <a:rPr lang="es-ES" b="0" i="0" smtClean="0">
                        <a:latin typeface="Cambria Math" panose="02040503050406030204" pitchFamily="18" charset="0"/>
                      </a:rPr>
                      <m:t>cos</m:t>
                    </m:r>
                    <m:r>
                      <a:rPr lang="es-ES" b="0" i="1" smtClean="0">
                        <a:latin typeface="Cambria Math" panose="02040503050406030204" pitchFamily="18" charset="0"/>
                      </a:rPr>
                      <m:t>⁡(</m:t>
                    </m:r>
                    <m:r>
                      <a:rPr lang="es-ES" b="0" i="1" smtClean="0">
                        <a:latin typeface="Cambria Math" panose="02040503050406030204" pitchFamily="18" charset="0"/>
                      </a:rPr>
                      <m:t>𝜇𝜒</m:t>
                    </m:r>
                    <m:r>
                      <a:rPr lang="es-ES" b="0" i="1" smtClean="0">
                        <a:latin typeface="Cambria Math" panose="02040503050406030204" pitchFamily="18" charset="0"/>
                      </a:rPr>
                      <m:t>) </m:t>
                    </m:r>
                  </m:oMath>
                </a14:m>
                <a:r>
                  <a:rPr lang="en-US" dirty="0"/>
                  <a:t>                                      </a:t>
                </a:r>
                <a:r>
                  <a:rPr lang="en-US" sz="2000" dirty="0"/>
                  <a:t>(3)</a:t>
                </a:r>
              </a:p>
              <a:p>
                <a:pPr marL="0" indent="0">
                  <a:lnSpc>
                    <a:spcPct val="150000"/>
                  </a:lnSpc>
                  <a:buNone/>
                </a:pPr>
                <a:r>
                  <a:rPr lang="en-US" dirty="0" err="1"/>
                  <a:t>donde</a:t>
                </a:r>
                <a:r>
                  <a:rPr lang="en-US" dirty="0"/>
                  <a:t>:</a:t>
                </a:r>
              </a:p>
              <a:p>
                <a:pPr marL="0" indent="0">
                  <a:buNone/>
                </a:pPr>
                <a14:m>
                  <m:oMath xmlns:m="http://schemas.openxmlformats.org/officeDocument/2006/math">
                    <m:r>
                      <a:rPr lang="es-ES" b="0" i="1" smtClean="0">
                        <a:latin typeface="Cambria Math" panose="02040503050406030204" pitchFamily="18" charset="0"/>
                      </a:rPr>
                      <m:t>𝜒</m:t>
                    </m:r>
                  </m:oMath>
                </a14:m>
                <a:r>
                  <a:rPr lang="en-US" dirty="0"/>
                  <a:t> es </a:t>
                </a:r>
                <a:r>
                  <a:rPr lang="en-US" dirty="0" err="1"/>
                  <a:t>el</a:t>
                </a:r>
                <a:r>
                  <a:rPr lang="en-US" dirty="0"/>
                  <a:t> </a:t>
                </a:r>
                <a:r>
                  <a:rPr lang="en-US" dirty="0" err="1"/>
                  <a:t>estado</a:t>
                </a:r>
                <a:r>
                  <a:rPr lang="en-US" dirty="0"/>
                  <a:t> del </a:t>
                </a:r>
                <a:r>
                  <a:rPr lang="en-US" dirty="0" err="1"/>
                  <a:t>sistema</a:t>
                </a:r>
                <a:r>
                  <a:rPr lang="en-US" dirty="0"/>
                  <a:t> a </a:t>
                </a:r>
                <a:r>
                  <a:rPr lang="en-US" dirty="0" err="1"/>
                  <a:t>identificar</a:t>
                </a:r>
                <a:endParaRPr lang="en-US" dirty="0"/>
              </a:p>
              <a:p>
                <a:pPr marL="0" indent="0">
                  <a:buNone/>
                </a:pPr>
                <a14:m>
                  <m:oMath xmlns:m="http://schemas.openxmlformats.org/officeDocument/2006/math">
                    <m:r>
                      <a:rPr lang="es-ES" i="1" smtClean="0">
                        <a:latin typeface="Cambria Math" panose="02040503050406030204" pitchFamily="18" charset="0"/>
                      </a:rPr>
                      <m:t>𝛽</m:t>
                    </m:r>
                    <m:r>
                      <a:rPr lang="es-ES" b="0" i="1" smtClean="0">
                        <a:latin typeface="Cambria Math" panose="02040503050406030204" pitchFamily="18" charset="0"/>
                      </a:rPr>
                      <m:t>,</m:t>
                    </m:r>
                    <m:r>
                      <a:rPr lang="es-ES" b="0" i="1" smtClean="0">
                        <a:latin typeface="Cambria Math" panose="02040503050406030204" pitchFamily="18" charset="0"/>
                      </a:rPr>
                      <m:t>𝜇</m:t>
                    </m:r>
                  </m:oMath>
                </a14:m>
                <a:r>
                  <a:rPr lang="en-US" dirty="0"/>
                  <a:t> son términos de expansión y </a:t>
                </a:r>
                <a:r>
                  <a:rPr lang="en-US" dirty="0" err="1"/>
                  <a:t>dilatación</a:t>
                </a:r>
                <a:endParaRPr lang="en-US" dirty="0"/>
              </a:p>
            </p:txBody>
          </p:sp>
        </mc:Choice>
        <mc:Fallback xmlns="">
          <p:sp>
            <p:nvSpPr>
              <p:cNvPr id="3" name="Content Placeholder 2">
                <a:extLst>
                  <a:ext uri="{FF2B5EF4-FFF2-40B4-BE49-F238E27FC236}">
                    <a16:creationId xmlns:a16="http://schemas.microsoft.com/office/drawing/2014/main" id="{049010A5-449E-6240-A11A-B36837F80F8D}"/>
                  </a:ext>
                </a:extLst>
              </p:cNvPr>
              <p:cNvSpPr>
                <a:spLocks noGrp="1" noRot="1" noChangeAspect="1" noMove="1" noResize="1" noEditPoints="1" noAdjustHandles="1" noChangeArrowheads="1" noChangeShapeType="1" noTextEdit="1"/>
              </p:cNvSpPr>
              <p:nvPr>
                <p:ph idx="1"/>
              </p:nvPr>
            </p:nvSpPr>
            <p:spPr>
              <a:blipFill>
                <a:blip r:embed="rId2"/>
                <a:stretch>
                  <a:fillRect l="-1217" r="-580"/>
                </a:stretch>
              </a:blipFill>
            </p:spPr>
            <p:txBody>
              <a:bodyPr/>
              <a:lstStyle/>
              <a:p>
                <a:r>
                  <a:rPr lang="es-MX">
                    <a:noFill/>
                  </a:rPr>
                  <a:t> </a:t>
                </a:r>
              </a:p>
            </p:txBody>
          </p:sp>
        </mc:Fallback>
      </mc:AlternateContent>
      <p:sp>
        <p:nvSpPr>
          <p:cNvPr id="4" name="Slide Number Placeholder 3">
            <a:extLst>
              <a:ext uri="{FF2B5EF4-FFF2-40B4-BE49-F238E27FC236}">
                <a16:creationId xmlns:a16="http://schemas.microsoft.com/office/drawing/2014/main" id="{0FD572DD-721F-A442-9AD4-B86A586E3B45}"/>
              </a:ext>
            </a:extLst>
          </p:cNvPr>
          <p:cNvSpPr>
            <a:spLocks noGrp="1"/>
          </p:cNvSpPr>
          <p:nvPr>
            <p:ph type="sldNum" sz="quarter" idx="12"/>
          </p:nvPr>
        </p:nvSpPr>
        <p:spPr/>
        <p:txBody>
          <a:bodyPr/>
          <a:lstStyle/>
          <a:p>
            <a:fld id="{B4BE085C-131E-4871-906D-CE6CA8D2EB1A}" type="slidenum">
              <a:rPr lang="es-MX" smtClean="0"/>
              <a:t>38</a:t>
            </a:fld>
            <a:endParaRPr lang="es-MX"/>
          </a:p>
        </p:txBody>
      </p:sp>
      <p:sp>
        <p:nvSpPr>
          <p:cNvPr id="5" name="TextBox 4">
            <a:extLst>
              <a:ext uri="{FF2B5EF4-FFF2-40B4-BE49-F238E27FC236}">
                <a16:creationId xmlns:a16="http://schemas.microsoft.com/office/drawing/2014/main" id="{8D2043F9-09DC-9B4B-8370-B8D5247C42BC}"/>
              </a:ext>
            </a:extLst>
          </p:cNvPr>
          <p:cNvSpPr txBox="1"/>
          <p:nvPr/>
        </p:nvSpPr>
        <p:spPr>
          <a:xfrm>
            <a:off x="838200" y="6198255"/>
            <a:ext cx="10290048" cy="523220"/>
          </a:xfrm>
          <a:prstGeom prst="rect">
            <a:avLst/>
          </a:prstGeom>
          <a:noFill/>
        </p:spPr>
        <p:txBody>
          <a:bodyPr wrap="square" rtlCol="0">
            <a:spAutoFit/>
          </a:bodyPr>
          <a:lstStyle/>
          <a:p>
            <a:r>
              <a:rPr lang="en-US" sz="1400" dirty="0">
                <a:solidFill>
                  <a:srgbClr val="1A1A1A"/>
                </a:solidFill>
                <a:latin typeface="ArialMT"/>
              </a:rPr>
              <a:t>Identification of Chaotic Dynamics in Jerky-Based Systems by Recurrent Wavelet First-Order Neural Networks with a </a:t>
            </a:r>
            <a:r>
              <a:rPr lang="en-US" sz="1400" dirty="0" err="1">
                <a:solidFill>
                  <a:srgbClr val="1A1A1A"/>
                </a:solidFill>
                <a:latin typeface="ArialMT"/>
              </a:rPr>
              <a:t>Morlet</a:t>
            </a:r>
            <a:r>
              <a:rPr lang="en-US" sz="1400" dirty="0">
                <a:solidFill>
                  <a:srgbClr val="1A1A1A"/>
                </a:solidFill>
                <a:latin typeface="ArialMT"/>
              </a:rPr>
              <a:t> Wavelet Activation Function. </a:t>
            </a:r>
            <a:r>
              <a:rPr lang="en-US" sz="1400" i="1" dirty="0">
                <a:solidFill>
                  <a:srgbClr val="1A1A1A"/>
                </a:solidFill>
                <a:latin typeface="Arial-ItalicMT"/>
              </a:rPr>
              <a:t>Axioms</a:t>
            </a:r>
            <a:r>
              <a:rPr lang="en-US" sz="1400" i="0" dirty="0">
                <a:solidFill>
                  <a:srgbClr val="1A1A1A"/>
                </a:solidFill>
                <a:latin typeface="ArialMT"/>
              </a:rPr>
              <a:t>, </a:t>
            </a:r>
            <a:r>
              <a:rPr lang="en-US" sz="1400" i="1" dirty="0">
                <a:solidFill>
                  <a:srgbClr val="1A1A1A"/>
                </a:solidFill>
                <a:latin typeface="Arial-ItalicMT"/>
              </a:rPr>
              <a:t>12</a:t>
            </a:r>
            <a:r>
              <a:rPr lang="en-US" sz="1400" i="0" dirty="0">
                <a:solidFill>
                  <a:srgbClr val="1A1A1A"/>
                </a:solidFill>
                <a:latin typeface="ArialMT"/>
              </a:rPr>
              <a:t>(2), 200.</a:t>
            </a:r>
            <a:endParaRPr lang="en-US" sz="1400" dirty="0"/>
          </a:p>
        </p:txBody>
      </p:sp>
    </p:spTree>
    <p:extLst>
      <p:ext uri="{BB962C8B-B14F-4D97-AF65-F5344CB8AC3E}">
        <p14:creationId xmlns:p14="http://schemas.microsoft.com/office/powerpoint/2010/main" val="998350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5EE9D-CB96-304E-8879-709ACB8CE8B9}"/>
              </a:ext>
            </a:extLst>
          </p:cNvPr>
          <p:cNvSpPr>
            <a:spLocks noGrp="1"/>
          </p:cNvSpPr>
          <p:nvPr>
            <p:ph type="title"/>
          </p:nvPr>
        </p:nvSpPr>
        <p:spPr/>
        <p:txBody>
          <a:bodyPr/>
          <a:lstStyle/>
          <a:p>
            <a:r>
              <a:rPr lang="en-US" dirty="0" err="1"/>
              <a:t>Descripción</a:t>
            </a:r>
            <a:r>
              <a:rPr lang="en-US" dirty="0"/>
              <a:t> de Morlet wavelet</a:t>
            </a:r>
          </a:p>
        </p:txBody>
      </p:sp>
      <p:pic>
        <p:nvPicPr>
          <p:cNvPr id="5" name="Content Placeholder 4">
            <a:extLst>
              <a:ext uri="{FF2B5EF4-FFF2-40B4-BE49-F238E27FC236}">
                <a16:creationId xmlns:a16="http://schemas.microsoft.com/office/drawing/2014/main" id="{71C40C62-C578-EA49-BB8A-3986B6BF693E}"/>
              </a:ext>
            </a:extLst>
          </p:cNvPr>
          <p:cNvPicPr>
            <a:picLocks noGrp="1" noChangeAspect="1"/>
          </p:cNvPicPr>
          <p:nvPr>
            <p:ph idx="1"/>
          </p:nvPr>
        </p:nvPicPr>
        <p:blipFill>
          <a:blip r:embed="rId2"/>
          <a:stretch>
            <a:fillRect/>
          </a:stretch>
        </p:blipFill>
        <p:spPr>
          <a:xfrm>
            <a:off x="294216" y="1847850"/>
            <a:ext cx="5801784" cy="4351338"/>
          </a:xfrm>
          <a:prstGeom prst="rect">
            <a:avLst/>
          </a:prstGeom>
        </p:spPr>
      </p:pic>
      <p:sp>
        <p:nvSpPr>
          <p:cNvPr id="4" name="Slide Number Placeholder 3">
            <a:extLst>
              <a:ext uri="{FF2B5EF4-FFF2-40B4-BE49-F238E27FC236}">
                <a16:creationId xmlns:a16="http://schemas.microsoft.com/office/drawing/2014/main" id="{2ACA63FE-96B4-334D-8203-CB246B7B2387}"/>
              </a:ext>
            </a:extLst>
          </p:cNvPr>
          <p:cNvSpPr>
            <a:spLocks noGrp="1"/>
          </p:cNvSpPr>
          <p:nvPr>
            <p:ph type="sldNum" sz="quarter" idx="12"/>
          </p:nvPr>
        </p:nvSpPr>
        <p:spPr/>
        <p:txBody>
          <a:bodyPr/>
          <a:lstStyle/>
          <a:p>
            <a:fld id="{B4BE085C-131E-4871-906D-CE6CA8D2EB1A}" type="slidenum">
              <a:rPr lang="es-MX" smtClean="0"/>
              <a:t>39</a:t>
            </a:fld>
            <a:endParaRPr lang="es-MX"/>
          </a:p>
        </p:txBody>
      </p:sp>
      <p:pic>
        <p:nvPicPr>
          <p:cNvPr id="3" name="Picture 2">
            <a:extLst>
              <a:ext uri="{FF2B5EF4-FFF2-40B4-BE49-F238E27FC236}">
                <a16:creationId xmlns:a16="http://schemas.microsoft.com/office/drawing/2014/main" id="{9BF9B7C4-08C3-351D-5378-6F480833AD97}"/>
              </a:ext>
            </a:extLst>
          </p:cNvPr>
          <p:cNvPicPr>
            <a:picLocks noChangeAspect="1"/>
          </p:cNvPicPr>
          <p:nvPr/>
        </p:nvPicPr>
        <p:blipFill>
          <a:blip r:embed="rId3"/>
          <a:srcRect t="7577"/>
          <a:stretch>
            <a:fillRect/>
          </a:stretch>
        </p:blipFill>
        <p:spPr>
          <a:xfrm>
            <a:off x="5766576" y="2179675"/>
            <a:ext cx="5688047" cy="3901962"/>
          </a:xfrm>
          <a:prstGeom prst="rect">
            <a:avLst/>
          </a:prstGeom>
        </p:spPr>
      </p:pic>
    </p:spTree>
    <p:extLst>
      <p:ext uri="{BB962C8B-B14F-4D97-AF65-F5344CB8AC3E}">
        <p14:creationId xmlns:p14="http://schemas.microsoft.com/office/powerpoint/2010/main" val="179721715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n 3">
            <a:extLst>
              <a:ext uri="{FF2B5EF4-FFF2-40B4-BE49-F238E27FC236}">
                <a16:creationId xmlns:a16="http://schemas.microsoft.com/office/drawing/2014/main" id="{06D6E68E-46A8-4121-9B9D-77CA49909112}"/>
              </a:ext>
            </a:extLst>
          </p:cNvPr>
          <p:cNvPicPr>
            <a:picLocks noChangeAspect="1"/>
          </p:cNvPicPr>
          <p:nvPr/>
        </p:nvPicPr>
        <p:blipFill>
          <a:blip r:embed="rId3"/>
          <a:stretch>
            <a:fillRect/>
          </a:stretch>
        </p:blipFill>
        <p:spPr>
          <a:xfrm>
            <a:off x="3654287" y="1309111"/>
            <a:ext cx="4883426" cy="1567691"/>
          </a:xfrm>
          <a:prstGeom prst="rect">
            <a:avLst/>
          </a:prstGeom>
        </p:spPr>
      </p:pic>
      <p:graphicFrame>
        <p:nvGraphicFramePr>
          <p:cNvPr id="5" name="Tabla 4">
            <a:extLst>
              <a:ext uri="{FF2B5EF4-FFF2-40B4-BE49-F238E27FC236}">
                <a16:creationId xmlns:a16="http://schemas.microsoft.com/office/drawing/2014/main" id="{BC38193D-FFAA-403E-B313-60C807B76443}"/>
              </a:ext>
            </a:extLst>
          </p:cNvPr>
          <p:cNvGraphicFramePr>
            <a:graphicFrameLocks noGrp="1"/>
          </p:cNvGraphicFramePr>
          <p:nvPr>
            <p:extLst>
              <p:ext uri="{D42A27DB-BD31-4B8C-83A1-F6EECF244321}">
                <p14:modId xmlns:p14="http://schemas.microsoft.com/office/powerpoint/2010/main" val="2123562663"/>
              </p:ext>
            </p:extLst>
          </p:nvPr>
        </p:nvGraphicFramePr>
        <p:xfrm>
          <a:off x="1466531" y="5137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b="0" i="0" dirty="0">
                          <a:solidFill>
                            <a:srgbClr val="000000"/>
                          </a:solidFill>
                          <a:effectLst/>
                          <a:latin typeface="URWPalladioL-Ital"/>
                        </a:rPr>
                        <a:t>Red neuronal </a:t>
                      </a:r>
                      <a:r>
                        <a:rPr lang="en-US" sz="2400" b="0" i="0" dirty="0" err="1">
                          <a:solidFill>
                            <a:srgbClr val="000000"/>
                          </a:solidFill>
                          <a:effectLst/>
                          <a:latin typeface="URWPalladioL-Ital"/>
                        </a:rPr>
                        <a:t>recurrente</a:t>
                      </a:r>
                      <a:r>
                        <a:rPr lang="en-US" sz="2400" b="0" i="0" dirty="0">
                          <a:solidFill>
                            <a:srgbClr val="000000"/>
                          </a:solidFill>
                          <a:effectLst/>
                          <a:latin typeface="URWPalladioL-Ital"/>
                        </a:rPr>
                        <a:t> de primer </a:t>
                      </a:r>
                      <a:r>
                        <a:rPr lang="en-US" sz="2400" b="0" i="0" dirty="0" err="1">
                          <a:solidFill>
                            <a:srgbClr val="000000"/>
                          </a:solidFill>
                          <a:effectLst/>
                          <a:latin typeface="URWPalladioL-Ital"/>
                        </a:rPr>
                        <a:t>orden</a:t>
                      </a:r>
                      <a:r>
                        <a:rPr lang="en-US" sz="2400" b="0" i="0" dirty="0">
                          <a:solidFill>
                            <a:srgbClr val="000000"/>
                          </a:solidFill>
                          <a:effectLst/>
                          <a:latin typeface="URWPalladioL-Ital"/>
                        </a:rPr>
                        <a:t> </a:t>
                      </a:r>
                      <a:r>
                        <a:rPr lang="en-US" sz="2400" b="0" i="0" dirty="0" err="1">
                          <a:solidFill>
                            <a:srgbClr val="000000"/>
                          </a:solidFill>
                          <a:effectLst/>
                          <a:latin typeface="URWPalladioL-Ital"/>
                        </a:rPr>
                        <a:t>basada</a:t>
                      </a:r>
                      <a:r>
                        <a:rPr lang="en-US" sz="2400" b="0" i="0" dirty="0">
                          <a:solidFill>
                            <a:srgbClr val="000000"/>
                          </a:solidFill>
                          <a:effectLst/>
                          <a:latin typeface="URWPalladioL-Ital"/>
                        </a:rPr>
                        <a:t> </a:t>
                      </a:r>
                      <a:r>
                        <a:rPr lang="en-US" sz="2400" b="0" i="0" dirty="0" err="1">
                          <a:solidFill>
                            <a:srgbClr val="000000"/>
                          </a:solidFill>
                          <a:effectLst/>
                          <a:latin typeface="URWPalladioL-Ital"/>
                        </a:rPr>
                        <a:t>en</a:t>
                      </a:r>
                      <a:r>
                        <a:rPr lang="en-US" sz="2400" b="0" i="0" dirty="0">
                          <a:solidFill>
                            <a:srgbClr val="000000"/>
                          </a:solidFill>
                          <a:effectLst/>
                          <a:latin typeface="URWPalladioL-Ital"/>
                        </a:rPr>
                        <a:t> </a:t>
                      </a:r>
                      <a:r>
                        <a:rPr lang="en-US" sz="2400" b="0" i="0" dirty="0" err="1">
                          <a:solidFill>
                            <a:srgbClr val="000000"/>
                          </a:solidFill>
                          <a:effectLst/>
                          <a:latin typeface="URWPalladioL-Ital"/>
                        </a:rPr>
                        <a:t>ondículas</a:t>
                      </a:r>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AlternateContent xmlns:mc="http://schemas.openxmlformats.org/markup-compatibility/2006" xmlns:a14="http://schemas.microsoft.com/office/drawing/2010/main">
        <mc:Choice Requires="a14">
          <p:graphicFrame>
            <p:nvGraphicFramePr>
              <p:cNvPr id="9" name="Tabla 8">
                <a:extLst>
                  <a:ext uri="{FF2B5EF4-FFF2-40B4-BE49-F238E27FC236}">
                    <a16:creationId xmlns:a16="http://schemas.microsoft.com/office/drawing/2014/main" id="{7A82ED20-CCE9-4718-8ADB-1E3C3A6A2EF0}"/>
                  </a:ext>
                </a:extLst>
              </p:cNvPr>
              <p:cNvGraphicFramePr>
                <a:graphicFrameLocks noGrp="1"/>
              </p:cNvGraphicFramePr>
              <p:nvPr>
                <p:extLst>
                  <p:ext uri="{D42A27DB-BD31-4B8C-83A1-F6EECF244321}">
                    <p14:modId xmlns:p14="http://schemas.microsoft.com/office/powerpoint/2010/main" val="171865691"/>
                  </p:ext>
                </p:extLst>
              </p:nvPr>
            </p:nvGraphicFramePr>
            <p:xfrm>
              <a:off x="1466530" y="3186398"/>
              <a:ext cx="9258937" cy="1920240"/>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i="0" dirty="0">
                              <a:effectLst/>
                            </a:rPr>
                            <a:t>Algoritmo de error filtrado</a:t>
                          </a: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1</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1</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1</m:t>
                                    </m:r>
                                  </m:sub>
                                </m:sSub>
                                <m:d>
                                  <m:dPr>
                                    <m:ctrlPr>
                                      <a:rPr lang="es-419" sz="2400" b="0" i="1" smtClean="0">
                                        <a:effectLst/>
                                        <a:latin typeface="Cambria Math" panose="02040503050406030204" pitchFamily="18" charset="0"/>
                                      </a:rPr>
                                    </m:ctrlPr>
                                  </m:dPr>
                                  <m:e>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1</m:t>
                                        </m:r>
                                      </m:sub>
                                    </m:sSub>
                                  </m:e>
                                </m:d>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1</m:t>
                                    </m:r>
                                  </m:sub>
                                </m:sSub>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2</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2</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2</m:t>
                                    </m:r>
                                  </m:sub>
                                </m:sSub>
                                <m:d>
                                  <m:dPr>
                                    <m:ctrlPr>
                                      <a:rPr lang="es-419" sz="2400" b="0" i="1" smtClean="0">
                                        <a:effectLst/>
                                        <a:latin typeface="Cambria Math" panose="02040503050406030204" pitchFamily="18" charset="0"/>
                                      </a:rPr>
                                    </m:ctrlPr>
                                  </m:dPr>
                                  <m:e>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2</m:t>
                                        </m:r>
                                      </m:sub>
                                    </m:sSub>
                                  </m:e>
                                </m:d>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2</m:t>
                                    </m:r>
                                  </m:sub>
                                </m:sSub>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acc>
                                      <m:accPr>
                                        <m:chr m:val="̇"/>
                                        <m:ctrlPr>
                                          <a:rPr lang="en-US" sz="2400" i="1" smtClean="0">
                                            <a:effectLst/>
                                            <a:latin typeface="Cambria Math" panose="02040503050406030204" pitchFamily="18" charset="0"/>
                                          </a:rPr>
                                        </m:ctrlPr>
                                      </m:accPr>
                                      <m:e>
                                        <m:r>
                                          <a:rPr lang="es-419" sz="2400" b="0" i="1" smtClean="0">
                                            <a:effectLst/>
                                            <a:latin typeface="Cambria Math" panose="02040503050406030204" pitchFamily="18" charset="0"/>
                                          </a:rPr>
                                          <m:t>𝜔</m:t>
                                        </m:r>
                                      </m:e>
                                    </m:acc>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𝛾</m:t>
                                    </m:r>
                                  </m:e>
                                  <m:sub>
                                    <m:r>
                                      <a:rPr lang="es-419" sz="2400" b="0" i="1" smtClean="0">
                                        <a:effectLst/>
                                        <a:latin typeface="Cambria Math" panose="02040503050406030204" pitchFamily="18" charset="0"/>
                                      </a:rPr>
                                      <m:t>3</m:t>
                                    </m:r>
                                  </m:sub>
                                </m:sSub>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𝜓</m:t>
                                    </m:r>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3</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3</m:t>
                                    </m:r>
                                  </m:sub>
                                </m:sSub>
                              </m:oMath>
                            </m:oMathPara>
                          </a14:m>
                          <a:endParaRPr lang="es-419" sz="2400" b="0" i="0" dirty="0">
                            <a:effectLst/>
                          </a:endParaRPr>
                        </a:p>
                        <a:p>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Choice>
        <mc:Fallback xmlns="">
          <p:graphicFrame>
            <p:nvGraphicFramePr>
              <p:cNvPr id="9" name="Tabla 8">
                <a:extLst>
                  <a:ext uri="{FF2B5EF4-FFF2-40B4-BE49-F238E27FC236}">
                    <a16:creationId xmlns:a16="http://schemas.microsoft.com/office/drawing/2014/main" id="{7A82ED20-CCE9-4718-8ADB-1E3C3A6A2EF0}"/>
                  </a:ext>
                </a:extLst>
              </p:cNvPr>
              <p:cNvGraphicFramePr>
                <a:graphicFrameLocks noGrp="1"/>
              </p:cNvGraphicFramePr>
              <p:nvPr>
                <p:extLst>
                  <p:ext uri="{D42A27DB-BD31-4B8C-83A1-F6EECF244321}">
                    <p14:modId xmlns:p14="http://schemas.microsoft.com/office/powerpoint/2010/main" val="171865691"/>
                  </p:ext>
                </p:extLst>
              </p:nvPr>
            </p:nvGraphicFramePr>
            <p:xfrm>
              <a:off x="1466530" y="3186398"/>
              <a:ext cx="9258937" cy="1920240"/>
            </p:xfrm>
            <a:graphic>
              <a:graphicData uri="http://schemas.openxmlformats.org/drawingml/2006/table">
                <a:tbl>
                  <a:tblPr/>
                  <a:tblGrid>
                    <a:gridCol w="9258937">
                      <a:extLst>
                        <a:ext uri="{9D8B030D-6E8A-4147-A177-3AD203B41FA5}">
                          <a16:colId xmlns:a16="http://schemas.microsoft.com/office/drawing/2014/main" val="1619628593"/>
                        </a:ext>
                      </a:extLst>
                    </a:gridCol>
                  </a:tblGrid>
                  <a:tr h="1920240">
                    <a:tc>
                      <a:txBody>
                        <a:bodyPr/>
                        <a:lstStyle/>
                        <a:p>
                          <a:endParaRPr lang="en-MX"/>
                        </a:p>
                      </a:txBody>
                      <a:tcPr anchor="ctr">
                        <a:lnL>
                          <a:noFill/>
                        </a:lnL>
                        <a:lnR>
                          <a:noFill/>
                        </a:lnR>
                        <a:lnT>
                          <a:noFill/>
                        </a:lnT>
                        <a:lnB>
                          <a:noFill/>
                        </a:lnB>
                        <a:blipFill>
                          <a:blip r:embed="rId4"/>
                          <a:stretch>
                            <a:fillRect t="-1961"/>
                          </a:stretch>
                        </a:blipFill>
                      </a:tcPr>
                    </a:tc>
                    <a:extLst>
                      <a:ext uri="{0D108BD9-81ED-4DB2-BD59-A6C34878D82A}">
                        <a16:rowId xmlns:a16="http://schemas.microsoft.com/office/drawing/2014/main" val="2958747072"/>
                      </a:ext>
                    </a:extLst>
                  </a:tr>
                </a:tbl>
              </a:graphicData>
            </a:graphic>
          </p:graphicFrame>
        </mc:Fallback>
      </mc:AlternateContent>
      <p:graphicFrame>
        <p:nvGraphicFramePr>
          <p:cNvPr id="10" name="Tabla 9">
            <a:extLst>
              <a:ext uri="{FF2B5EF4-FFF2-40B4-BE49-F238E27FC236}">
                <a16:creationId xmlns:a16="http://schemas.microsoft.com/office/drawing/2014/main" id="{916938C2-74BA-4401-AF03-24163EC6322C}"/>
              </a:ext>
            </a:extLst>
          </p:cNvPr>
          <p:cNvGraphicFramePr>
            <a:graphicFrameLocks noGrp="1"/>
          </p:cNvGraphicFramePr>
          <p:nvPr/>
        </p:nvGraphicFramePr>
        <p:xfrm>
          <a:off x="10359676" y="1710450"/>
          <a:ext cx="630835" cy="771660"/>
        </p:xfrm>
        <a:graphic>
          <a:graphicData uri="http://schemas.openxmlformats.org/drawingml/2006/table">
            <a:tbl>
              <a:tblPr/>
              <a:tblGrid>
                <a:gridCol w="630835">
                  <a:extLst>
                    <a:ext uri="{9D8B030D-6E8A-4147-A177-3AD203B41FA5}">
                      <a16:colId xmlns:a16="http://schemas.microsoft.com/office/drawing/2014/main" val="1619628593"/>
                    </a:ext>
                  </a:extLst>
                </a:gridCol>
              </a:tblGrid>
              <a:tr h="771660">
                <a:tc>
                  <a:txBody>
                    <a:bodyPr/>
                    <a:lstStyle/>
                    <a:p>
                      <a:r>
                        <a:rPr lang="es-MX" sz="2400" kern="1200" dirty="0">
                          <a:solidFill>
                            <a:srgbClr val="000000"/>
                          </a:solidFill>
                          <a:latin typeface="URWPalladioL-Roma"/>
                          <a:ea typeface="+mn-ea"/>
                          <a:cs typeface="+mn-cs"/>
                        </a:rPr>
                        <a:t>(4)</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1" name="Tabla 10">
            <a:extLst>
              <a:ext uri="{FF2B5EF4-FFF2-40B4-BE49-F238E27FC236}">
                <a16:creationId xmlns:a16="http://schemas.microsoft.com/office/drawing/2014/main" id="{32C4FC34-0163-4F3C-89D5-FA9610C2C9F1}"/>
              </a:ext>
            </a:extLst>
          </p:cNvPr>
          <p:cNvGraphicFramePr>
            <a:graphicFrameLocks noGrp="1"/>
          </p:cNvGraphicFramePr>
          <p:nvPr/>
        </p:nvGraphicFramePr>
        <p:xfrm>
          <a:off x="10312106" y="3342012"/>
          <a:ext cx="678405" cy="771660"/>
        </p:xfrm>
        <a:graphic>
          <a:graphicData uri="http://schemas.openxmlformats.org/drawingml/2006/table">
            <a:tbl>
              <a:tblPr/>
              <a:tblGrid>
                <a:gridCol w="678405">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2" name="Tabla 11">
            <a:extLst>
              <a:ext uri="{FF2B5EF4-FFF2-40B4-BE49-F238E27FC236}">
                <a16:creationId xmlns:a16="http://schemas.microsoft.com/office/drawing/2014/main" id="{A23FAF1B-C8F7-4698-94F1-457EF2CCC717}"/>
              </a:ext>
            </a:extLst>
          </p:cNvPr>
          <p:cNvGraphicFramePr>
            <a:graphicFrameLocks noGrp="1"/>
          </p:cNvGraphicFramePr>
          <p:nvPr/>
        </p:nvGraphicFramePr>
        <p:xfrm>
          <a:off x="10317393" y="4891332"/>
          <a:ext cx="673118" cy="771660"/>
        </p:xfrm>
        <a:graphic>
          <a:graphicData uri="http://schemas.openxmlformats.org/drawingml/2006/table">
            <a:tbl>
              <a:tblPr/>
              <a:tblGrid>
                <a:gridCol w="673118">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15" name="Marcador de número de diapositiva 14">
            <a:extLst>
              <a:ext uri="{FF2B5EF4-FFF2-40B4-BE49-F238E27FC236}">
                <a16:creationId xmlns:a16="http://schemas.microsoft.com/office/drawing/2014/main" id="{5AA9B69C-9F88-4E36-B647-BFFB3BA01C25}"/>
              </a:ext>
            </a:extLst>
          </p:cNvPr>
          <p:cNvSpPr>
            <a:spLocks noGrp="1"/>
          </p:cNvSpPr>
          <p:nvPr>
            <p:ph type="sldNum" sz="quarter" idx="12"/>
          </p:nvPr>
        </p:nvSpPr>
        <p:spPr/>
        <p:txBody>
          <a:bodyPr/>
          <a:lstStyle/>
          <a:p>
            <a:fld id="{B4BE085C-131E-4871-906D-CE6CA8D2EB1A}" type="slidenum">
              <a:rPr lang="es-MX" sz="2000" b="1" smtClean="0"/>
              <a:t>40</a:t>
            </a:fld>
            <a:endParaRPr lang="es-MX" sz="2000" b="1" dirty="0"/>
          </a:p>
        </p:txBody>
      </p:sp>
      <mc:AlternateContent xmlns:mc="http://schemas.openxmlformats.org/markup-compatibility/2006" xmlns:a14="http://schemas.microsoft.com/office/drawing/2010/main">
        <mc:Choice Requires="a14">
          <p:graphicFrame>
            <p:nvGraphicFramePr>
              <p:cNvPr id="14" name="Tabla 8">
                <a:extLst>
                  <a:ext uri="{FF2B5EF4-FFF2-40B4-BE49-F238E27FC236}">
                    <a16:creationId xmlns:a16="http://schemas.microsoft.com/office/drawing/2014/main" id="{3DC7BC50-96E7-2C42-AF00-309D29EEE178}"/>
                  </a:ext>
                </a:extLst>
              </p:cNvPr>
              <p:cNvGraphicFramePr>
                <a:graphicFrameLocks noGrp="1"/>
              </p:cNvGraphicFramePr>
              <p:nvPr>
                <p:extLst>
                  <p:ext uri="{D42A27DB-BD31-4B8C-83A1-F6EECF244321}">
                    <p14:modId xmlns:p14="http://schemas.microsoft.com/office/powerpoint/2010/main" val="4126162598"/>
                  </p:ext>
                </p:extLst>
              </p:nvPr>
            </p:nvGraphicFramePr>
            <p:xfrm>
              <a:off x="1466530" y="56935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14:m>
                            <m:oMathPara xmlns:m="http://schemas.openxmlformats.org/officeDocument/2006/math">
                              <m:oMathParaPr>
                                <m:jc m:val="centerGroup"/>
                              </m:oMathParaPr>
                              <m:oMath xmlns:m="http://schemas.openxmlformats.org/officeDocument/2006/math">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𝛼</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𝛿</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=5;</m:t>
                                </m:r>
                                <m:r>
                                  <a:rPr lang="es-419" sz="2400" b="0" i="1" dirty="0" smtClean="0">
                                    <a:effectLst/>
                                    <a:latin typeface="Cambria Math" panose="02040503050406030204" pitchFamily="18" charset="0"/>
                                  </a:rPr>
                                  <m:t> </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𝛾</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=5</m:t>
                                </m:r>
                                <m:r>
                                  <a:rPr lang="es-ES" sz="2400" b="0" i="1" dirty="0" smtClean="0">
                                    <a:effectLst/>
                                    <a:latin typeface="Cambria Math" panose="02040503050406030204" pitchFamily="18" charset="0"/>
                                  </a:rPr>
                                  <m:t>𝑒</m:t>
                                </m:r>
                                <m:r>
                                  <a:rPr lang="es-ES" sz="2400" b="0" i="1" dirty="0" smtClean="0">
                                    <a:effectLst/>
                                    <a:latin typeface="Cambria Math" panose="02040503050406030204" pitchFamily="18" charset="0"/>
                                  </a:rPr>
                                  <m:t>3; </m:t>
                                </m:r>
                                <m:sSub>
                                  <m:sSubPr>
                                    <m:ctrlPr>
                                      <a:rPr lang="es-ES" sz="2400" b="0" i="1" dirty="0" smtClean="0">
                                        <a:effectLst/>
                                        <a:latin typeface="Cambria Math" panose="02040503050406030204" pitchFamily="18" charset="0"/>
                                      </a:rPr>
                                    </m:ctrlPr>
                                  </m:sSubPr>
                                  <m:e>
                                    <m:r>
                                      <a:rPr lang="es-ES" sz="2400" b="0" i="1" dirty="0" smtClean="0">
                                        <a:effectLst/>
                                        <a:latin typeface="Cambria Math" panose="02040503050406030204" pitchFamily="18" charset="0"/>
                                      </a:rPr>
                                      <m:t>𝜇</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=1</m:t>
                                </m:r>
                                <m:r>
                                  <a:rPr lang="es-ES" sz="2400" b="0" i="1" dirty="0" smtClean="0">
                                    <a:effectLst/>
                                    <a:latin typeface="Cambria Math" panose="02040503050406030204" pitchFamily="18" charset="0"/>
                                  </a:rPr>
                                  <m:t>𝑒</m:t>
                                </m:r>
                                <m:r>
                                  <a:rPr lang="es-ES" sz="2400" b="0" i="1" dirty="0" smtClean="0">
                                    <a:effectLst/>
                                    <a:latin typeface="Cambria Math" panose="02040503050406030204" pitchFamily="18" charset="0"/>
                                  </a:rPr>
                                  <m:t>−2; </m:t>
                                </m:r>
                                <m:sSub>
                                  <m:sSubPr>
                                    <m:ctrlPr>
                                      <a:rPr lang="es-ES" sz="2400" b="0" i="1" dirty="0" smtClean="0">
                                        <a:effectLst/>
                                        <a:latin typeface="Cambria Math" panose="02040503050406030204" pitchFamily="18" charset="0"/>
                                      </a:rPr>
                                    </m:ctrlPr>
                                  </m:sSubPr>
                                  <m:e>
                                    <m:r>
                                      <a:rPr lang="es-419" sz="2400" b="0" i="1" dirty="0" smtClean="0">
                                        <a:effectLst/>
                                        <a:latin typeface="Cambria Math" panose="02040503050406030204" pitchFamily="18" charset="0"/>
                                      </a:rPr>
                                      <m:t> </m:t>
                                    </m:r>
                                    <m:r>
                                      <a:rPr lang="es-ES" sz="2400" b="0" i="1" dirty="0" smtClean="0">
                                        <a:effectLst/>
                                        <a:latin typeface="Cambria Math" panose="02040503050406030204" pitchFamily="18" charset="0"/>
                                      </a:rPr>
                                      <m:t>𝛽</m:t>
                                    </m:r>
                                  </m:e>
                                  <m:sub>
                                    <m:r>
                                      <a:rPr lang="es-ES" sz="2400" b="0" i="1" dirty="0" smtClean="0">
                                        <a:effectLst/>
                                        <a:latin typeface="Cambria Math" panose="02040503050406030204" pitchFamily="18" charset="0"/>
                                      </a:rPr>
                                      <m:t>1,2,3</m:t>
                                    </m:r>
                                  </m:sub>
                                </m:sSub>
                                <m:r>
                                  <a:rPr lang="es-ES" sz="2400" b="0" i="1" dirty="0" smtClean="0">
                                    <a:effectLst/>
                                    <a:latin typeface="Cambria Math" panose="02040503050406030204" pitchFamily="18" charset="0"/>
                                  </a:rPr>
                                  <m:t>=100</m:t>
                                </m:r>
                              </m:oMath>
                            </m:oMathPara>
                          </a14:m>
                          <a:endParaRPr lang="es-419" sz="2400" b="0" i="0" dirty="0">
                            <a:effectLst/>
                          </a:endParaRPr>
                        </a:p>
                        <a:p>
                          <a:pPr/>
                          <a14:m>
                            <m:oMathPara xmlns:m="http://schemas.openxmlformats.org/officeDocument/2006/math">
                              <m:oMathParaPr>
                                <m:jc m:val="centerGroup"/>
                              </m:oMathParaPr>
                              <m:oMath xmlns:m="http://schemas.openxmlformats.org/officeDocument/2006/math">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𝜉</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𝑦</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sSub>
                                  <m:sSubPr>
                                    <m:ctrlPr>
                                      <a:rPr lang="es-419" sz="2400" b="0" i="1" smtClean="0">
                                        <a:effectLst/>
                                        <a:latin typeface="Cambria Math" panose="02040503050406030204" pitchFamily="18" charset="0"/>
                                      </a:rPr>
                                    </m:ctrlPr>
                                  </m:sSubPr>
                                  <m:e>
                                    <m:r>
                                      <a:rPr lang="es-419" sz="2400" b="0" i="1" smtClean="0">
                                        <a:effectLst/>
                                        <a:latin typeface="Cambria Math" panose="02040503050406030204" pitchFamily="18" charset="0"/>
                                      </a:rPr>
                                      <m:t>𝜒</m:t>
                                    </m:r>
                                  </m:e>
                                  <m:sub>
                                    <m:r>
                                      <a:rPr lang="es-419" sz="2400" b="0" i="1" smtClean="0">
                                        <a:effectLst/>
                                        <a:latin typeface="Cambria Math" panose="02040503050406030204" pitchFamily="18" charset="0"/>
                                      </a:rPr>
                                      <m:t>𝑗</m:t>
                                    </m:r>
                                  </m:sub>
                                </m:sSub>
                                <m:r>
                                  <a:rPr lang="es-419" sz="2400" b="0" i="1" smtClean="0">
                                    <a:effectLst/>
                                    <a:latin typeface="Cambria Math" panose="02040503050406030204" pitchFamily="18" charset="0"/>
                                  </a:rPr>
                                  <m:t>)</m:t>
                                </m:r>
                              </m:oMath>
                            </m:oMathPara>
                          </a14:m>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mc:Choice>
        <mc:Fallback xmlns="">
          <p:graphicFrame>
            <p:nvGraphicFramePr>
              <p:cNvPr id="14" name="Tabla 8">
                <a:extLst>
                  <a:ext uri="{FF2B5EF4-FFF2-40B4-BE49-F238E27FC236}">
                    <a16:creationId xmlns:a16="http://schemas.microsoft.com/office/drawing/2014/main" id="{3DC7BC50-96E7-2C42-AF00-309D29EEE178}"/>
                  </a:ext>
                </a:extLst>
              </p:cNvPr>
              <p:cNvGraphicFramePr>
                <a:graphicFrameLocks noGrp="1"/>
              </p:cNvGraphicFramePr>
              <p:nvPr>
                <p:extLst>
                  <p:ext uri="{D42A27DB-BD31-4B8C-83A1-F6EECF244321}">
                    <p14:modId xmlns:p14="http://schemas.microsoft.com/office/powerpoint/2010/main" val="4126162598"/>
                  </p:ext>
                </p:extLst>
              </p:nvPr>
            </p:nvGraphicFramePr>
            <p:xfrm>
              <a:off x="1466530" y="56935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endParaRPr lang="en-MX"/>
                        </a:p>
                      </a:txBody>
                      <a:tcPr anchor="ctr">
                        <a:lnL>
                          <a:noFill/>
                        </a:lnL>
                        <a:lnR>
                          <a:noFill/>
                        </a:lnR>
                        <a:lnT>
                          <a:noFill/>
                        </a:lnT>
                        <a:lnB>
                          <a:noFill/>
                        </a:lnB>
                        <a:blipFill>
                          <a:blip r:embed="rId5"/>
                          <a:stretch>
                            <a:fillRect t="-1408" b="-5634"/>
                          </a:stretch>
                        </a:blipFill>
                      </a:tcPr>
                    </a:tc>
                    <a:extLst>
                      <a:ext uri="{0D108BD9-81ED-4DB2-BD59-A6C34878D82A}">
                        <a16:rowId xmlns:a16="http://schemas.microsoft.com/office/drawing/2014/main" val="2958747072"/>
                      </a:ext>
                    </a:extLst>
                  </a:tr>
                </a:tbl>
              </a:graphicData>
            </a:graphic>
          </p:graphicFrame>
        </mc:Fallback>
      </mc:AlternateContent>
    </p:spTree>
    <p:extLst>
      <p:ext uri="{BB962C8B-B14F-4D97-AF65-F5344CB8AC3E}">
        <p14:creationId xmlns:p14="http://schemas.microsoft.com/office/powerpoint/2010/main" val="239153479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BECB6-9FFF-EED3-CED1-83E8416A0CD4}"/>
            </a:ext>
          </a:extLst>
        </p:cNvPr>
        <p:cNvGrpSpPr/>
        <p:nvPr/>
      </p:nvGrpSpPr>
      <p:grpSpPr>
        <a:xfrm>
          <a:off x="0" y="0"/>
          <a:ext cx="0" cy="0"/>
          <a:chOff x="0" y="0"/>
          <a:chExt cx="0" cy="0"/>
        </a:xfrm>
      </p:grpSpPr>
      <p:graphicFrame>
        <p:nvGraphicFramePr>
          <p:cNvPr id="5" name="Tabla 4">
            <a:extLst>
              <a:ext uri="{FF2B5EF4-FFF2-40B4-BE49-F238E27FC236}">
                <a16:creationId xmlns:a16="http://schemas.microsoft.com/office/drawing/2014/main" id="{864AABD0-8075-86B3-D06C-121A4032B2FC}"/>
              </a:ext>
            </a:extLst>
          </p:cNvPr>
          <p:cNvGraphicFramePr>
            <a:graphicFrameLocks noGrp="1"/>
          </p:cNvGraphicFramePr>
          <p:nvPr>
            <p:extLst>
              <p:ext uri="{D42A27DB-BD31-4B8C-83A1-F6EECF244321}">
                <p14:modId xmlns:p14="http://schemas.microsoft.com/office/powerpoint/2010/main" val="3307634316"/>
              </p:ext>
            </p:extLst>
          </p:nvPr>
        </p:nvGraphicFramePr>
        <p:xfrm>
          <a:off x="1466531" y="513799"/>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r>
                        <a:rPr lang="en-US" sz="2400" b="0" i="0" dirty="0">
                          <a:solidFill>
                            <a:srgbClr val="000000"/>
                          </a:solidFill>
                          <a:effectLst/>
                          <a:latin typeface="URWPalladioL-Ital"/>
                        </a:rPr>
                        <a:t>Red neuronal </a:t>
                      </a:r>
                      <a:r>
                        <a:rPr lang="en-US" sz="2400" b="0" i="0" dirty="0" err="1">
                          <a:solidFill>
                            <a:srgbClr val="000000"/>
                          </a:solidFill>
                          <a:effectLst/>
                          <a:latin typeface="URWPalladioL-Ital"/>
                        </a:rPr>
                        <a:t>recurrente</a:t>
                      </a:r>
                      <a:r>
                        <a:rPr lang="en-US" sz="2400" b="0" i="0" dirty="0">
                          <a:solidFill>
                            <a:srgbClr val="000000"/>
                          </a:solidFill>
                          <a:effectLst/>
                          <a:latin typeface="URWPalladioL-Ital"/>
                        </a:rPr>
                        <a:t> de primer </a:t>
                      </a:r>
                      <a:r>
                        <a:rPr lang="en-US" sz="2400" b="0" i="0" dirty="0" err="1">
                          <a:solidFill>
                            <a:srgbClr val="000000"/>
                          </a:solidFill>
                          <a:effectLst/>
                          <a:latin typeface="URWPalladioL-Ital"/>
                        </a:rPr>
                        <a:t>orden</a:t>
                      </a:r>
                      <a:r>
                        <a:rPr lang="en-US" sz="2400" b="0" i="0" dirty="0">
                          <a:solidFill>
                            <a:srgbClr val="000000"/>
                          </a:solidFill>
                          <a:effectLst/>
                          <a:latin typeface="URWPalladioL-Ital"/>
                        </a:rPr>
                        <a:t> </a:t>
                      </a:r>
                      <a:r>
                        <a:rPr lang="en-US" sz="2400" b="0" i="0" dirty="0" err="1">
                          <a:solidFill>
                            <a:srgbClr val="000000"/>
                          </a:solidFill>
                          <a:effectLst/>
                          <a:latin typeface="URWPalladioL-Ital"/>
                        </a:rPr>
                        <a:t>basada</a:t>
                      </a:r>
                      <a:r>
                        <a:rPr lang="en-US" sz="2400" b="0" i="0" dirty="0">
                          <a:solidFill>
                            <a:srgbClr val="000000"/>
                          </a:solidFill>
                          <a:effectLst/>
                          <a:latin typeface="URWPalladioL-Ital"/>
                        </a:rPr>
                        <a:t> </a:t>
                      </a:r>
                      <a:r>
                        <a:rPr lang="en-US" sz="2400" b="0" i="0" dirty="0" err="1">
                          <a:solidFill>
                            <a:srgbClr val="000000"/>
                          </a:solidFill>
                          <a:effectLst/>
                          <a:latin typeface="URWPalladioL-Ital"/>
                        </a:rPr>
                        <a:t>en</a:t>
                      </a:r>
                      <a:r>
                        <a:rPr lang="en-US" sz="2400" b="0" i="0" dirty="0">
                          <a:solidFill>
                            <a:srgbClr val="000000"/>
                          </a:solidFill>
                          <a:effectLst/>
                          <a:latin typeface="URWPalladioL-Ital"/>
                        </a:rPr>
                        <a:t> </a:t>
                      </a:r>
                      <a:r>
                        <a:rPr lang="en-US" sz="2400" b="0" i="0" dirty="0" err="1">
                          <a:solidFill>
                            <a:srgbClr val="000000"/>
                          </a:solidFill>
                          <a:effectLst/>
                          <a:latin typeface="URWPalladioL-Ital"/>
                        </a:rPr>
                        <a:t>ondículas</a:t>
                      </a:r>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9" name="Tabla 8">
            <a:extLst>
              <a:ext uri="{FF2B5EF4-FFF2-40B4-BE49-F238E27FC236}">
                <a16:creationId xmlns:a16="http://schemas.microsoft.com/office/drawing/2014/main" id="{EAE67621-E180-E1CF-19E3-8A28F1B71798}"/>
              </a:ext>
            </a:extLst>
          </p:cNvPr>
          <p:cNvGraphicFramePr>
            <a:graphicFrameLocks noGrp="1"/>
          </p:cNvGraphicFramePr>
          <p:nvPr>
            <p:extLst>
              <p:ext uri="{D42A27DB-BD31-4B8C-83A1-F6EECF244321}">
                <p14:modId xmlns:p14="http://schemas.microsoft.com/office/powerpoint/2010/main" val="1667086525"/>
              </p:ext>
            </p:extLst>
          </p:nvPr>
        </p:nvGraphicFramePr>
        <p:xfrm>
          <a:off x="1466530" y="4135354"/>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endParaRPr lang="en-US" sz="2400" i="0" dirty="0">
                        <a:effectLst/>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0" name="Tabla 9">
            <a:extLst>
              <a:ext uri="{FF2B5EF4-FFF2-40B4-BE49-F238E27FC236}">
                <a16:creationId xmlns:a16="http://schemas.microsoft.com/office/drawing/2014/main" id="{B3837288-4A51-519F-7B1B-74E139B0B527}"/>
              </a:ext>
            </a:extLst>
          </p:cNvPr>
          <p:cNvGraphicFramePr>
            <a:graphicFrameLocks noGrp="1"/>
          </p:cNvGraphicFramePr>
          <p:nvPr>
            <p:extLst>
              <p:ext uri="{D42A27DB-BD31-4B8C-83A1-F6EECF244321}">
                <p14:modId xmlns:p14="http://schemas.microsoft.com/office/powerpoint/2010/main" val="2254111390"/>
              </p:ext>
            </p:extLst>
          </p:nvPr>
        </p:nvGraphicFramePr>
        <p:xfrm>
          <a:off x="10359676" y="1710450"/>
          <a:ext cx="630835" cy="771660"/>
        </p:xfrm>
        <a:graphic>
          <a:graphicData uri="http://schemas.openxmlformats.org/drawingml/2006/table">
            <a:tbl>
              <a:tblPr/>
              <a:tblGrid>
                <a:gridCol w="630835">
                  <a:extLst>
                    <a:ext uri="{9D8B030D-6E8A-4147-A177-3AD203B41FA5}">
                      <a16:colId xmlns:a16="http://schemas.microsoft.com/office/drawing/2014/main" val="1619628593"/>
                    </a:ext>
                  </a:extLst>
                </a:gridCol>
              </a:tblGrid>
              <a:tr h="771660">
                <a:tc>
                  <a:txBody>
                    <a:bodyPr/>
                    <a:lstStyle/>
                    <a:p>
                      <a:r>
                        <a:rPr lang="es-MX" sz="2400" kern="1200" dirty="0">
                          <a:solidFill>
                            <a:srgbClr val="000000"/>
                          </a:solidFill>
                          <a:latin typeface="URWPalladioL-Roma"/>
                          <a:ea typeface="+mn-ea"/>
                          <a:cs typeface="+mn-cs"/>
                        </a:rPr>
                        <a:t>(5)</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1" name="Tabla 10">
            <a:extLst>
              <a:ext uri="{FF2B5EF4-FFF2-40B4-BE49-F238E27FC236}">
                <a16:creationId xmlns:a16="http://schemas.microsoft.com/office/drawing/2014/main" id="{769D1CD1-7EBB-B930-F4AF-7BC80387E380}"/>
              </a:ext>
            </a:extLst>
          </p:cNvPr>
          <p:cNvGraphicFramePr>
            <a:graphicFrameLocks noGrp="1"/>
          </p:cNvGraphicFramePr>
          <p:nvPr/>
        </p:nvGraphicFramePr>
        <p:xfrm>
          <a:off x="10312106" y="3342012"/>
          <a:ext cx="678405" cy="771660"/>
        </p:xfrm>
        <a:graphic>
          <a:graphicData uri="http://schemas.openxmlformats.org/drawingml/2006/table">
            <a:tbl>
              <a:tblPr/>
              <a:tblGrid>
                <a:gridCol w="678405">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graphicFrame>
        <p:nvGraphicFramePr>
          <p:cNvPr id="12" name="Tabla 11">
            <a:extLst>
              <a:ext uri="{FF2B5EF4-FFF2-40B4-BE49-F238E27FC236}">
                <a16:creationId xmlns:a16="http://schemas.microsoft.com/office/drawing/2014/main" id="{3530B786-DC21-A5AA-BFD9-5CF212BBCB0F}"/>
              </a:ext>
            </a:extLst>
          </p:cNvPr>
          <p:cNvGraphicFramePr>
            <a:graphicFrameLocks noGrp="1"/>
          </p:cNvGraphicFramePr>
          <p:nvPr/>
        </p:nvGraphicFramePr>
        <p:xfrm>
          <a:off x="10317393" y="4891332"/>
          <a:ext cx="673118" cy="771660"/>
        </p:xfrm>
        <a:graphic>
          <a:graphicData uri="http://schemas.openxmlformats.org/drawingml/2006/table">
            <a:tbl>
              <a:tblPr/>
              <a:tblGrid>
                <a:gridCol w="673118">
                  <a:extLst>
                    <a:ext uri="{9D8B030D-6E8A-4147-A177-3AD203B41FA5}">
                      <a16:colId xmlns:a16="http://schemas.microsoft.com/office/drawing/2014/main" val="1619628593"/>
                    </a:ext>
                  </a:extLst>
                </a:gridCol>
              </a:tblGrid>
              <a:tr h="771660">
                <a:tc>
                  <a:txBody>
                    <a:bodyPr/>
                    <a:lstStyle/>
                    <a:p>
                      <a:endParaRPr lang="es-MX" sz="2400" kern="1200" dirty="0">
                        <a:solidFill>
                          <a:srgbClr val="000000"/>
                        </a:solidFill>
                        <a:latin typeface="URWPalladioL-Roma"/>
                        <a:ea typeface="+mn-ea"/>
                        <a:cs typeface="+mn-cs"/>
                      </a:endParaRP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15" name="Marcador de número de diapositiva 14">
            <a:extLst>
              <a:ext uri="{FF2B5EF4-FFF2-40B4-BE49-F238E27FC236}">
                <a16:creationId xmlns:a16="http://schemas.microsoft.com/office/drawing/2014/main" id="{EF5C7739-EFBD-8FDC-3F77-ECC5303E8153}"/>
              </a:ext>
            </a:extLst>
          </p:cNvPr>
          <p:cNvSpPr>
            <a:spLocks noGrp="1"/>
          </p:cNvSpPr>
          <p:nvPr>
            <p:ph type="sldNum" sz="quarter" idx="12"/>
          </p:nvPr>
        </p:nvSpPr>
        <p:spPr/>
        <p:txBody>
          <a:bodyPr/>
          <a:lstStyle/>
          <a:p>
            <a:fld id="{B4BE085C-131E-4871-906D-CE6CA8D2EB1A}" type="slidenum">
              <a:rPr lang="es-MX" sz="2000" b="1" smtClean="0"/>
              <a:t>41</a:t>
            </a:fld>
            <a:endParaRPr lang="es-MX" sz="2000" b="1" dirty="0"/>
          </a:p>
        </p:txBody>
      </p:sp>
      <p:pic>
        <p:nvPicPr>
          <p:cNvPr id="2" name="Picture 1">
            <a:extLst>
              <a:ext uri="{FF2B5EF4-FFF2-40B4-BE49-F238E27FC236}">
                <a16:creationId xmlns:a16="http://schemas.microsoft.com/office/drawing/2014/main" id="{5CD252CC-8E25-29C7-A242-80BE04378140}"/>
              </a:ext>
            </a:extLst>
          </p:cNvPr>
          <p:cNvPicPr>
            <a:picLocks noChangeAspect="1"/>
          </p:cNvPicPr>
          <p:nvPr/>
        </p:nvPicPr>
        <p:blipFill>
          <a:blip r:embed="rId3"/>
          <a:stretch>
            <a:fillRect/>
          </a:stretch>
        </p:blipFill>
        <p:spPr>
          <a:xfrm>
            <a:off x="2274662" y="2883908"/>
            <a:ext cx="7772400" cy="3837567"/>
          </a:xfrm>
          <a:prstGeom prst="rect">
            <a:avLst/>
          </a:prstGeom>
        </p:spPr>
      </p:pic>
      <p:pic>
        <p:nvPicPr>
          <p:cNvPr id="3" name="Picture 2">
            <a:extLst>
              <a:ext uri="{FF2B5EF4-FFF2-40B4-BE49-F238E27FC236}">
                <a16:creationId xmlns:a16="http://schemas.microsoft.com/office/drawing/2014/main" id="{C9CB5D2D-F604-C1A6-79E0-0EAF1F41D90D}"/>
              </a:ext>
            </a:extLst>
          </p:cNvPr>
          <p:cNvPicPr>
            <a:picLocks noChangeAspect="1"/>
          </p:cNvPicPr>
          <p:nvPr/>
        </p:nvPicPr>
        <p:blipFill>
          <a:blip r:embed="rId4"/>
          <a:stretch>
            <a:fillRect/>
          </a:stretch>
        </p:blipFill>
        <p:spPr>
          <a:xfrm>
            <a:off x="2870198" y="1564531"/>
            <a:ext cx="6451600" cy="1155700"/>
          </a:xfrm>
          <a:prstGeom prst="rect">
            <a:avLst/>
          </a:prstGeom>
        </p:spPr>
      </p:pic>
    </p:spTree>
    <p:extLst>
      <p:ext uri="{BB962C8B-B14F-4D97-AF65-F5344CB8AC3E}">
        <p14:creationId xmlns:p14="http://schemas.microsoft.com/office/powerpoint/2010/main" val="1735762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2BC05C-4647-0C41-BC26-AABA3D308896}"/>
              </a:ext>
            </a:extLst>
          </p:cNvPr>
          <p:cNvSpPr>
            <a:spLocks noGrp="1"/>
          </p:cNvSpPr>
          <p:nvPr>
            <p:ph type="title"/>
          </p:nvPr>
        </p:nvSpPr>
        <p:spPr/>
        <p:txBody>
          <a:bodyPr/>
          <a:lstStyle/>
          <a:p>
            <a:r>
              <a:rPr lang="en-US" dirty="0"/>
              <a:t>Sistema </a:t>
            </a:r>
            <a:r>
              <a:rPr lang="en-US" dirty="0" err="1"/>
              <a:t>disipativo</a:t>
            </a:r>
            <a:r>
              <a:rPr lang="en-US" dirty="0"/>
              <a:t> </a:t>
            </a:r>
            <a:r>
              <a:rPr lang="en-US" dirty="0" err="1"/>
              <a:t>inestable</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179762C-0FCB-4F46-BF58-AAF9C2B5F1BD}"/>
                  </a:ext>
                </a:extLst>
              </p:cNvPr>
              <p:cNvSpPr>
                <a:spLocks noGrp="1"/>
              </p:cNvSpPr>
              <p:nvPr>
                <p:ph idx="1"/>
              </p:nvPr>
            </p:nvSpPr>
            <p:spPr/>
            <p:txBody>
              <a:bodyPr>
                <a:normAutofit lnSpcReduction="10000"/>
              </a:bodyPr>
              <a:lstStyle/>
              <a:p>
                <a:pPr marL="0" indent="0">
                  <a:buNone/>
                </a:pPr>
                <a:r>
                  <a:rPr lang="en-US" dirty="0"/>
                  <a:t>El </a:t>
                </a:r>
                <a:r>
                  <a:rPr lang="en-US" dirty="0" err="1"/>
                  <a:t>sistema</a:t>
                </a:r>
                <a:r>
                  <a:rPr lang="en-US" dirty="0"/>
                  <a:t> se describe </a:t>
                </a:r>
                <a:r>
                  <a:rPr lang="en-US" dirty="0" err="1"/>
                  <a:t>como</a:t>
                </a:r>
                <a:r>
                  <a:rPr lang="en-US" dirty="0"/>
                  <a:t>:</a:t>
                </a:r>
              </a:p>
              <a:p>
                <a:pPr marL="0" indent="0" algn="r">
                  <a:buNone/>
                </a:pPr>
                <a14:m>
                  <m:oMath xmlns:m="http://schemas.openxmlformats.org/officeDocument/2006/math">
                    <m:m>
                      <m:mPr>
                        <m:mcs>
                          <m:mc>
                            <m:mcPr>
                              <m:count m:val="3"/>
                              <m:mcJc m:val="center"/>
                            </m:mcPr>
                          </m:mc>
                        </m:mcs>
                        <m:ctrlPr>
                          <a:rPr lang="en-US" i="1" smtClean="0">
                            <a:latin typeface="Cambria Math" panose="02040503050406030204" pitchFamily="18" charset="0"/>
                          </a:rPr>
                        </m:ctrlPr>
                      </m:mPr>
                      <m:mr>
                        <m:e>
                          <m:sSub>
                            <m:sSubPr>
                              <m:ctrlPr>
                                <a:rPr lang="es-ES" b="0" i="1" smtClean="0">
                                  <a:latin typeface="Cambria Math" panose="02040503050406030204" pitchFamily="18" charset="0"/>
                                </a:rPr>
                              </m:ctrlPr>
                            </m:sSubPr>
                            <m:e>
                              <m:acc>
                                <m:accPr>
                                  <m:chr m:val="̇"/>
                                  <m:ctrlPr>
                                    <a:rPr lang="en-US" i="1" smtClean="0">
                                      <a:latin typeface="Cambria Math" panose="02040503050406030204" pitchFamily="18" charset="0"/>
                                    </a:rPr>
                                  </m:ctrlPr>
                                </m:accPr>
                                <m:e>
                                  <m:r>
                                    <a:rPr lang="es-ES" b="0" i="1" smtClean="0">
                                      <a:latin typeface="Cambria Math" panose="02040503050406030204" pitchFamily="18" charset="0"/>
                                    </a:rPr>
                                    <m:t>𝑥</m:t>
                                  </m:r>
                                </m:e>
                              </m:acc>
                            </m:e>
                            <m:sub>
                              <m:r>
                                <m:rPr>
                                  <m:brk m:alnAt="7"/>
                                </m:rPr>
                                <a:rPr lang="es-ES" b="0" i="1" smtClean="0">
                                  <a:latin typeface="Cambria Math" panose="02040503050406030204" pitchFamily="18" charset="0"/>
                                </a:rPr>
                                <m:t>1</m:t>
                              </m:r>
                            </m:sub>
                          </m:sSub>
                        </m:e>
                        <m:e>
                          <m:r>
                            <a:rPr lang="es-ES" b="0" i="1" smtClean="0">
                              <a:latin typeface="Cambria Math" panose="02040503050406030204" pitchFamily="18" charset="0"/>
                            </a:rPr>
                            <m:t>=</m:t>
                          </m:r>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e>
                      </m:mr>
                      <m:mr>
                        <m:e>
                          <m:sSub>
                            <m:sSubPr>
                              <m:ctrlPr>
                                <a:rPr lang="es-ES" i="1">
                                  <a:latin typeface="Cambria Math" panose="02040503050406030204" pitchFamily="18" charset="0"/>
                                </a:rPr>
                              </m:ctrlPr>
                            </m:sSubPr>
                            <m:e>
                              <m:acc>
                                <m:accPr>
                                  <m:chr m:val="̇"/>
                                  <m:ctrlPr>
                                    <a:rPr lang="en-US" i="1">
                                      <a:latin typeface="Cambria Math" panose="02040503050406030204" pitchFamily="18" charset="0"/>
                                    </a:rPr>
                                  </m:ctrlPr>
                                </m:accPr>
                                <m:e>
                                  <m:r>
                                    <a:rPr lang="es-ES" i="1">
                                      <a:latin typeface="Cambria Math" panose="02040503050406030204" pitchFamily="18" charset="0"/>
                                    </a:rPr>
                                    <m:t>𝑥</m:t>
                                  </m:r>
                                </m:e>
                              </m:acc>
                            </m:e>
                            <m:sub>
                              <m:r>
                                <a:rPr lang="es-ES" b="0" i="1" smtClean="0">
                                  <a:latin typeface="Cambria Math" panose="02040503050406030204" pitchFamily="18" charset="0"/>
                                </a:rPr>
                                <m:t>2</m:t>
                              </m:r>
                            </m:sub>
                          </m:sSub>
                        </m:e>
                        <m:e>
                          <m:r>
                            <a:rPr lang="es-ES" b="0" i="1" smtClean="0">
                              <a:latin typeface="Cambria Math" panose="02040503050406030204" pitchFamily="18" charset="0"/>
                            </a:rPr>
                            <m:t>=</m:t>
                          </m:r>
                        </m:e>
                        <m:e>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e>
                      </m:mr>
                      <m:mr>
                        <m:e>
                          <m:sSub>
                            <m:sSubPr>
                              <m:ctrlPr>
                                <a:rPr lang="es-ES" i="1">
                                  <a:latin typeface="Cambria Math" panose="02040503050406030204" pitchFamily="18" charset="0"/>
                                </a:rPr>
                              </m:ctrlPr>
                            </m:sSubPr>
                            <m:e>
                              <m:acc>
                                <m:accPr>
                                  <m:chr m:val="̇"/>
                                  <m:ctrlPr>
                                    <a:rPr lang="en-US" i="1">
                                      <a:latin typeface="Cambria Math" panose="02040503050406030204" pitchFamily="18" charset="0"/>
                                    </a:rPr>
                                  </m:ctrlPr>
                                </m:accPr>
                                <m:e>
                                  <m:r>
                                    <a:rPr lang="es-ES" i="1">
                                      <a:latin typeface="Cambria Math" panose="02040503050406030204" pitchFamily="18" charset="0"/>
                                    </a:rPr>
                                    <m:t>𝑥</m:t>
                                  </m:r>
                                </m:e>
                              </m:acc>
                            </m:e>
                            <m:sub>
                              <m:r>
                                <a:rPr lang="es-ES" b="0" i="1" smtClean="0">
                                  <a:latin typeface="Cambria Math" panose="02040503050406030204" pitchFamily="18" charset="0"/>
                                </a:rPr>
                                <m:t>3</m:t>
                              </m:r>
                            </m:sub>
                          </m:sSub>
                        </m:e>
                        <m:e>
                          <m:r>
                            <a:rPr lang="es-ES" b="0" i="1" smtClean="0">
                              <a:latin typeface="Cambria Math" panose="02040503050406030204" pitchFamily="18" charset="0"/>
                            </a:rPr>
                            <m:t>=</m:t>
                          </m:r>
                        </m:e>
                        <m:e>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1</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2</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3</m:t>
                              </m:r>
                            </m:sub>
                          </m:sSub>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3</m:t>
                              </m:r>
                            </m:sub>
                          </m:sSub>
                          <m:r>
                            <a:rPr lang="es-ES" b="0" i="1" smtClean="0">
                              <a:latin typeface="Cambria Math" panose="02040503050406030204" pitchFamily="18" charset="0"/>
                            </a:rPr>
                            <m:t> +</m:t>
                          </m:r>
                          <m:r>
                            <a:rPr lang="es-ES" b="0" i="1" smtClean="0">
                              <a:latin typeface="Cambria Math" panose="02040503050406030204" pitchFamily="18" charset="0"/>
                            </a:rPr>
                            <m:t>𝑏</m:t>
                          </m:r>
                        </m:e>
                      </m:mr>
                    </m:m>
                  </m:oMath>
                </a14:m>
                <a:r>
                  <a:rPr lang="en-US" dirty="0"/>
                  <a:t>                              (6)</a:t>
                </a:r>
              </a:p>
              <a:p>
                <a:pPr marL="0" indent="0">
                  <a:buNone/>
                </a:pPr>
                <a:r>
                  <a:rPr lang="en-US" dirty="0" err="1"/>
                  <a:t>donde</a:t>
                </a:r>
                <a:r>
                  <a:rPr lang="en-US" dirty="0"/>
                  <a:t>:</a:t>
                </a:r>
              </a:p>
              <a:p>
                <a:pPr marL="0" indent="0">
                  <a:buNone/>
                </a:pPr>
                <a14:m>
                  <m:oMathPara xmlns:m="http://schemas.openxmlformats.org/officeDocument/2006/math">
                    <m:oMathParaPr>
                      <m:jc m:val="centerGroup"/>
                    </m:oMathParaPr>
                    <m:oMath xmlns:m="http://schemas.openxmlformats.org/officeDocument/2006/math">
                      <m:m>
                        <m:mPr>
                          <m:mcs>
                            <m:mc>
                              <m:mcPr>
                                <m:count m:val="3"/>
                                <m:mcJc m:val="center"/>
                              </m:mcPr>
                            </m:mc>
                          </m:mcs>
                          <m:ctrlPr>
                            <a:rPr lang="en-US" i="1" smtClean="0">
                              <a:latin typeface="Cambria Math" panose="02040503050406030204" pitchFamily="18" charset="0"/>
                            </a:rPr>
                          </m:ctrlPr>
                        </m:mPr>
                        <m:mr>
                          <m:e>
                            <m:r>
                              <m:rPr>
                                <m:brk m:alnAt="7"/>
                              </m:rPr>
                              <a:rPr lang="es-ES" b="0" i="1" smtClean="0">
                                <a:latin typeface="Cambria Math" panose="02040503050406030204" pitchFamily="18" charset="0"/>
                              </a:rPr>
                              <m:t>𝑏</m:t>
                            </m:r>
                          </m:e>
                          <m:e>
                            <m:r>
                              <a:rPr lang="es-ES" b="0" i="1" smtClean="0">
                                <a:latin typeface="Cambria Math" panose="02040503050406030204" pitchFamily="18" charset="0"/>
                              </a:rPr>
                              <m:t>=</m:t>
                            </m:r>
                          </m:e>
                          <m:e>
                            <m:d>
                              <m:dPr>
                                <m:begChr m:val="{"/>
                                <m:endChr m:val=""/>
                                <m:ctrlPr>
                                  <a:rPr lang="en-US" i="1" smtClean="0">
                                    <a:latin typeface="Cambria Math" panose="02040503050406030204" pitchFamily="18" charset="0"/>
                                  </a:rPr>
                                </m:ctrlPr>
                              </m:dPr>
                              <m:e>
                                <m:m>
                                  <m:mPr>
                                    <m:mcs>
                                      <m:mc>
                                        <m:mcPr>
                                          <m:count m:val="1"/>
                                          <m:mcJc m:val="center"/>
                                        </m:mcPr>
                                      </m:mc>
                                    </m:mcs>
                                    <m:ctrlPr>
                                      <a:rPr lang="en-US" i="1" smtClean="0">
                                        <a:latin typeface="Cambria Math" panose="02040503050406030204" pitchFamily="18" charset="0"/>
                                      </a:rPr>
                                    </m:ctrlPr>
                                  </m:mPr>
                                  <m:mr>
                                    <m:e>
                                      <m:m>
                                        <m:mPr>
                                          <m:mcs>
                                            <m:mc>
                                              <m:mcPr>
                                                <m:count m:val="1"/>
                                                <m:mcJc m:val="center"/>
                                              </m:mcPr>
                                            </m:mc>
                                          </m:mcs>
                                          <m:ctrlPr>
                                            <a:rPr lang="en-US" i="1" smtClean="0">
                                              <a:latin typeface="Cambria Math" panose="02040503050406030204" pitchFamily="18" charset="0"/>
                                            </a:rPr>
                                          </m:ctrlPr>
                                        </m:mPr>
                                        <m:mr>
                                          <m:e>
                                            <m:r>
                                              <m:rPr>
                                                <m:brk m:alnAt="7"/>
                                              </m:rPr>
                                              <a:rPr lang="es-ES" b="0" i="1" smtClean="0">
                                                <a:latin typeface="Cambria Math" panose="02040503050406030204" pitchFamily="18" charset="0"/>
                                              </a:rPr>
                                              <m:t>1</m:t>
                                            </m:r>
                                            <m:r>
                                              <a:rPr lang="es-ES" b="0" i="1" smtClean="0">
                                                <a:latin typeface="Cambria Math" panose="02040503050406030204" pitchFamily="18" charset="0"/>
                                              </a:rPr>
                                              <m:t>.8,              </m:t>
                                            </m:r>
                                            <m:r>
                                              <a:rPr lang="es-ES" b="0" i="1" smtClean="0">
                                                <a:latin typeface="Cambria Math" panose="02040503050406030204" pitchFamily="18" charset="0"/>
                                              </a:rPr>
                                              <m:t>𝑖𝑓</m:t>
                                            </m:r>
                                            <m:r>
                                              <a:rPr lang="es-ES" b="0" i="1" smtClean="0">
                                                <a:latin typeface="Cambria Math" panose="02040503050406030204" pitchFamily="18" charset="0"/>
                                              </a:rPr>
                                              <m:t> </m:t>
                                            </m:r>
                                            <m:sSub>
                                              <m:sSubPr>
                                                <m:ctrlPr>
                                                  <a:rPr lang="es-ES" b="0" i="1" smtClean="0">
                                                    <a:latin typeface="Cambria Math" panose="02040503050406030204" pitchFamily="18" charset="0"/>
                                                  </a:rPr>
                                                </m:ctrlPr>
                                              </m:sSubPr>
                                              <m:e>
                                                <m:r>
                                                  <m:rPr>
                                                    <m:brk m:alnAt="7"/>
                                                  </m:rPr>
                                                  <a:rPr lang="es-ES" b="0" i="1" smtClean="0">
                                                    <a:latin typeface="Cambria Math" panose="02040503050406030204" pitchFamily="18" charset="0"/>
                                                  </a:rPr>
                                                  <m:t>𝑥</m:t>
                                                </m:r>
                                              </m:e>
                                              <m:sub>
                                                <m:r>
                                                  <m:rPr>
                                                    <m:brk m:alnAt="7"/>
                                                  </m:rPr>
                                                  <a:rPr lang="es-ES" b="0" i="1" smtClean="0">
                                                    <a:latin typeface="Cambria Math" panose="02040503050406030204" pitchFamily="18" charset="0"/>
                                                  </a:rPr>
                                                  <m:t>1</m:t>
                                                </m:r>
                                              </m:sub>
                                            </m:sSub>
                                            <m:r>
                                              <a:rPr lang="es-ES" b="0" i="1" smtClean="0">
                                                <a:latin typeface="Cambria Math" panose="02040503050406030204" pitchFamily="18" charset="0"/>
                                              </a:rPr>
                                              <m:t>≥0.9;</m:t>
                                            </m:r>
                                          </m:e>
                                        </m:mr>
                                        <m:mr>
                                          <m:e>
                                            <m:r>
                                              <a:rPr lang="es-ES" b="0" i="1" smtClean="0">
                                                <a:latin typeface="Cambria Math" panose="02040503050406030204" pitchFamily="18" charset="0"/>
                                              </a:rPr>
                                              <m:t>0.9,  </m:t>
                                            </m:r>
                                            <m:r>
                                              <a:rPr lang="es-ES" b="0" i="1" smtClean="0">
                                                <a:latin typeface="Cambria Math" panose="02040503050406030204" pitchFamily="18" charset="0"/>
                                              </a:rPr>
                                              <m:t>𝑖𝑓</m:t>
                                            </m:r>
                                            <m:r>
                                              <a:rPr lang="es-ES" b="0" i="1" smtClean="0">
                                                <a:latin typeface="Cambria Math" panose="02040503050406030204" pitchFamily="18" charset="0"/>
                                              </a:rPr>
                                              <m:t> 0.3≤</m:t>
                                            </m:r>
                                            <m:sSub>
                                              <m:sSubPr>
                                                <m:ctrlPr>
                                                  <a:rPr lang="es-ES" b="0" i="1" smtClean="0">
                                                    <a:latin typeface="Cambria Math" panose="02040503050406030204" pitchFamily="18" charset="0"/>
                                                  </a:rPr>
                                                </m:ctrlPr>
                                              </m:sSubPr>
                                              <m:e>
                                                <m:r>
                                                  <a:rPr lang="es-ES" b="0" i="1" smtClean="0">
                                                    <a:latin typeface="Cambria Math" panose="02040503050406030204" pitchFamily="18" charset="0"/>
                                                  </a:rPr>
                                                  <m:t>𝑥</m:t>
                                                </m:r>
                                              </m:e>
                                              <m:sub>
                                                <m:r>
                                                  <a:rPr lang="es-ES" b="0" i="1" smtClean="0">
                                                    <a:latin typeface="Cambria Math" panose="02040503050406030204" pitchFamily="18" charset="0"/>
                                                  </a:rPr>
                                                  <m:t>1</m:t>
                                                </m:r>
                                              </m:sub>
                                            </m:sSub>
                                            <m:r>
                                              <a:rPr lang="es-ES" b="0" i="1" smtClean="0">
                                                <a:latin typeface="Cambria Math" panose="02040503050406030204" pitchFamily="18" charset="0"/>
                                              </a:rPr>
                                              <m:t>&lt;0.9;</m:t>
                                            </m:r>
                                          </m:e>
                                        </m:mr>
                                        <m:mr>
                                          <m:e>
                                            <m:r>
                                              <a:rPr lang="es-ES" b="0" i="1" smtClean="0">
                                                <a:latin typeface="Cambria Math" panose="02040503050406030204" pitchFamily="18" charset="0"/>
                                              </a:rPr>
                                              <m:t>0,  </m:t>
                                            </m:r>
                                            <m:r>
                                              <a:rPr lang="es-ES" b="0" i="1" smtClean="0">
                                                <a:latin typeface="Cambria Math" panose="02040503050406030204" pitchFamily="18" charset="0"/>
                                              </a:rPr>
                                              <m:t>𝑖𝑓</m:t>
                                            </m:r>
                                            <m:r>
                                              <a:rPr lang="es-ES" b="0" i="1" smtClean="0">
                                                <a:latin typeface="Cambria Math" panose="02040503050406030204" pitchFamily="18" charset="0"/>
                                              </a:rPr>
                                              <m:t> −0.3</m:t>
                                            </m:r>
                                            <m:r>
                                              <m:rPr>
                                                <m:brk m:alnAt="7"/>
                                              </m:rPr>
                                              <a:rPr lang="es-ES" b="0" i="1" smtClean="0">
                                                <a:latin typeface="Cambria Math" panose="02040503050406030204" pitchFamily="18" charset="0"/>
                                              </a:rPr>
                                              <m:t>≤</m:t>
                                            </m:r>
                                            <m:sSub>
                                              <m:sSubPr>
                                                <m:ctrlPr>
                                                  <a:rPr lang="es-ES" b="0" i="1" smtClean="0">
                                                    <a:latin typeface="Cambria Math" panose="02040503050406030204" pitchFamily="18" charset="0"/>
                                                  </a:rPr>
                                                </m:ctrlPr>
                                              </m:sSubPr>
                                              <m:e>
                                                <m:r>
                                                  <m:rPr>
                                                    <m:brk m:alnAt="7"/>
                                                  </m:rPr>
                                                  <a:rPr lang="es-ES" b="0" i="1" smtClean="0">
                                                    <a:latin typeface="Cambria Math" panose="02040503050406030204" pitchFamily="18" charset="0"/>
                                                  </a:rPr>
                                                  <m:t>𝑥</m:t>
                                                </m:r>
                                              </m:e>
                                              <m:sub>
                                                <m:r>
                                                  <m:rPr>
                                                    <m:brk m:alnAt="7"/>
                                                  </m:rPr>
                                                  <a:rPr lang="es-ES" b="0" i="1" smtClean="0">
                                                    <a:latin typeface="Cambria Math" panose="02040503050406030204" pitchFamily="18" charset="0"/>
                                                  </a:rPr>
                                                  <m:t>1</m:t>
                                                </m:r>
                                              </m:sub>
                                            </m:sSub>
                                            <m:r>
                                              <m:rPr>
                                                <m:brk m:alnAt="7"/>
                                              </m:rPr>
                                              <a:rPr lang="es-ES" b="0" i="1" smtClean="0">
                                                <a:latin typeface="Cambria Math" panose="02040503050406030204" pitchFamily="18" charset="0"/>
                                              </a:rPr>
                                              <m:t>&lt;</m:t>
                                            </m:r>
                                            <m:r>
                                              <a:rPr lang="es-ES" b="0" i="1" smtClean="0">
                                                <a:latin typeface="Cambria Math" panose="02040503050406030204" pitchFamily="18" charset="0"/>
                                              </a:rPr>
                                              <m:t>0.3;</m:t>
                                            </m:r>
                                          </m:e>
                                        </m:mr>
                                      </m:m>
                                    </m:e>
                                  </m:mr>
                                  <m:mr>
                                    <m:e>
                                      <m:r>
                                        <a:rPr lang="es-ES" b="0" i="1" smtClean="0">
                                          <a:latin typeface="Cambria Math" panose="02040503050406030204" pitchFamily="18" charset="0"/>
                                        </a:rPr>
                                        <m:t>−0.9,              </m:t>
                                      </m:r>
                                      <m:r>
                                        <a:rPr lang="es-419" b="0" i="1" smtClean="0">
                                          <a:latin typeface="Cambria Math" panose="02040503050406030204" pitchFamily="18" charset="0"/>
                                        </a:rPr>
                                        <m:t>𝑠𝑖</m:t>
                                      </m:r>
                                      <m:r>
                                        <a:rPr lang="es-419" b="0" i="1" smtClean="0">
                                          <a:latin typeface="Cambria Math" panose="02040503050406030204" pitchFamily="18" charset="0"/>
                                        </a:rPr>
                                        <m:t> </m:t>
                                      </m:r>
                                      <m:r>
                                        <a:rPr lang="es-419" b="0" i="1" smtClean="0">
                                          <a:latin typeface="Cambria Math" panose="02040503050406030204" pitchFamily="18" charset="0"/>
                                        </a:rPr>
                                        <m:t>𝑛𝑜</m:t>
                                      </m:r>
                                      <m:r>
                                        <a:rPr lang="es-419" b="0" i="1" smtClean="0">
                                          <a:latin typeface="Cambria Math" panose="02040503050406030204" pitchFamily="18" charset="0"/>
                                        </a:rPr>
                                        <m:t>           </m:t>
                                      </m:r>
                                    </m:e>
                                  </m:mr>
                                </m:m>
                              </m:e>
                            </m:d>
                          </m:e>
                        </m:mr>
                      </m:m>
                    </m:oMath>
                  </m:oMathPara>
                </a14:m>
                <a:endParaRPr lang="en-US" dirty="0"/>
              </a:p>
              <a:p>
                <a:pPr marL="0" indent="0">
                  <a:buNone/>
                </a:pPr>
                <a14:m>
                  <m:oMath xmlns:m="http://schemas.openxmlformats.org/officeDocument/2006/math">
                    <m:sSub>
                      <m:sSubPr>
                        <m:ctrlPr>
                          <a:rPr lang="es-ES" b="0" i="1" smtClean="0">
                            <a:latin typeface="Cambria Math" panose="02040503050406030204" pitchFamily="18" charset="0"/>
                          </a:rPr>
                        </m:ctrlPr>
                      </m:sSubPr>
                      <m:e>
                        <m:r>
                          <a:rPr lang="es-ES" b="0" i="1" smtClean="0">
                            <a:latin typeface="Cambria Math" panose="02040503050406030204" pitchFamily="18" charset="0"/>
                          </a:rPr>
                          <m:t>𝛼</m:t>
                        </m:r>
                      </m:e>
                      <m:sub>
                        <m:r>
                          <a:rPr lang="es-ES" b="0" i="1" smtClean="0">
                            <a:latin typeface="Cambria Math" panose="02040503050406030204" pitchFamily="18" charset="0"/>
                          </a:rPr>
                          <m:t>1</m:t>
                        </m:r>
                      </m:sub>
                    </m:sSub>
                  </m:oMath>
                </a14:m>
                <a:r>
                  <a:rPr lang="en-US" dirty="0"/>
                  <a:t>,</a:t>
                </a:r>
                <a:r>
                  <a:rPr lang="es-ES" dirty="0"/>
                  <a:t> </a:t>
                </a:r>
                <a14:m>
                  <m:oMath xmlns:m="http://schemas.openxmlformats.org/officeDocument/2006/math">
                    <m:sSub>
                      <m:sSubPr>
                        <m:ctrlPr>
                          <a:rPr lang="es-ES" i="1">
                            <a:latin typeface="Cambria Math" panose="02040503050406030204" pitchFamily="18" charset="0"/>
                          </a:rPr>
                        </m:ctrlPr>
                      </m:sSubPr>
                      <m:e>
                        <m:r>
                          <a:rPr lang="es-ES" i="1">
                            <a:latin typeface="Cambria Math" panose="02040503050406030204" pitchFamily="18" charset="0"/>
                          </a:rPr>
                          <m:t>𝛼</m:t>
                        </m:r>
                      </m:e>
                      <m:sub>
                        <m:r>
                          <a:rPr lang="es-ES" b="0" i="1" smtClean="0">
                            <a:latin typeface="Cambria Math" panose="02040503050406030204" pitchFamily="18" charset="0"/>
                          </a:rPr>
                          <m:t>2</m:t>
                        </m:r>
                      </m:sub>
                    </m:sSub>
                    <m:r>
                      <a:rPr lang="es-ES" b="0" i="1" smtClean="0">
                        <a:latin typeface="Cambria Math" panose="02040503050406030204" pitchFamily="18" charset="0"/>
                      </a:rPr>
                      <m:t>,</m:t>
                    </m:r>
                    <m:sSub>
                      <m:sSubPr>
                        <m:ctrlPr>
                          <a:rPr lang="es-ES" i="1">
                            <a:latin typeface="Cambria Math" panose="02040503050406030204" pitchFamily="18" charset="0"/>
                          </a:rPr>
                        </m:ctrlPr>
                      </m:sSubPr>
                      <m:e>
                        <m:r>
                          <a:rPr lang="es-ES" i="1">
                            <a:latin typeface="Cambria Math" panose="02040503050406030204" pitchFamily="18" charset="0"/>
                          </a:rPr>
                          <m:t>𝛼</m:t>
                        </m:r>
                      </m:e>
                      <m:sub>
                        <m:r>
                          <a:rPr lang="es-ES" b="0" i="1" smtClean="0">
                            <a:latin typeface="Cambria Math" panose="02040503050406030204" pitchFamily="18" charset="0"/>
                          </a:rPr>
                          <m:t>3</m:t>
                        </m:r>
                      </m:sub>
                    </m:sSub>
                    <m:r>
                      <a:rPr lang="es-ES" b="0" i="1" smtClean="0">
                        <a:latin typeface="Cambria Math" panose="02040503050406030204" pitchFamily="18" charset="0"/>
                      </a:rPr>
                      <m:t>∈</m:t>
                    </m:r>
                    <m:r>
                      <a:rPr lang="es-ES" b="0" i="1" smtClean="0">
                        <a:latin typeface="Cambria Math" panose="02040503050406030204" pitchFamily="18" charset="0"/>
                      </a:rPr>
                      <m:t>𝑅</m:t>
                    </m:r>
                  </m:oMath>
                </a14:m>
                <a:r>
                  <a:rPr lang="en-US" dirty="0"/>
                  <a:t> son </a:t>
                </a:r>
                <a:r>
                  <a:rPr lang="en-US" dirty="0" err="1"/>
                  <a:t>parámetros</a:t>
                </a:r>
                <a:endParaRPr lang="en-US" dirty="0"/>
              </a:p>
            </p:txBody>
          </p:sp>
        </mc:Choice>
        <mc:Fallback xmlns="">
          <p:sp>
            <p:nvSpPr>
              <p:cNvPr id="3" name="Content Placeholder 2">
                <a:extLst>
                  <a:ext uri="{FF2B5EF4-FFF2-40B4-BE49-F238E27FC236}">
                    <a16:creationId xmlns:a16="http://schemas.microsoft.com/office/drawing/2014/main" id="{4179762C-0FCB-4F46-BF58-AAF9C2B5F1BD}"/>
                  </a:ext>
                </a:extLst>
              </p:cNvPr>
              <p:cNvSpPr>
                <a:spLocks noGrp="1" noRot="1" noChangeAspect="1" noMove="1" noResize="1" noEditPoints="1" noAdjustHandles="1" noChangeArrowheads="1" noChangeShapeType="1" noTextEdit="1"/>
              </p:cNvSpPr>
              <p:nvPr>
                <p:ph idx="1"/>
              </p:nvPr>
            </p:nvSpPr>
            <p:spPr>
              <a:blipFill>
                <a:blip r:embed="rId2"/>
                <a:stretch>
                  <a:fillRect l="-1206" t="-3198" r="-1086" b="-872"/>
                </a:stretch>
              </a:blipFill>
            </p:spPr>
            <p:txBody>
              <a:bodyPr/>
              <a:lstStyle/>
              <a:p>
                <a:r>
                  <a:rPr lang="en-MX">
                    <a:noFill/>
                  </a:rPr>
                  <a:t> </a:t>
                </a:r>
              </a:p>
            </p:txBody>
          </p:sp>
        </mc:Fallback>
      </mc:AlternateContent>
      <p:sp>
        <p:nvSpPr>
          <p:cNvPr id="4" name="Slide Number Placeholder 3">
            <a:extLst>
              <a:ext uri="{FF2B5EF4-FFF2-40B4-BE49-F238E27FC236}">
                <a16:creationId xmlns:a16="http://schemas.microsoft.com/office/drawing/2014/main" id="{D70952C7-0148-B940-BECD-2D8133AE166C}"/>
              </a:ext>
            </a:extLst>
          </p:cNvPr>
          <p:cNvSpPr>
            <a:spLocks noGrp="1"/>
          </p:cNvSpPr>
          <p:nvPr>
            <p:ph type="sldNum" sz="quarter" idx="12"/>
          </p:nvPr>
        </p:nvSpPr>
        <p:spPr/>
        <p:txBody>
          <a:bodyPr/>
          <a:lstStyle/>
          <a:p>
            <a:fld id="{B4BE085C-131E-4871-906D-CE6CA8D2EB1A}" type="slidenum">
              <a:rPr lang="es-MX" smtClean="0"/>
              <a:t>42</a:t>
            </a:fld>
            <a:endParaRPr lang="es-MX"/>
          </a:p>
        </p:txBody>
      </p:sp>
    </p:spTree>
    <p:extLst>
      <p:ext uri="{BB962C8B-B14F-4D97-AF65-F5344CB8AC3E}">
        <p14:creationId xmlns:p14="http://schemas.microsoft.com/office/powerpoint/2010/main" val="41101407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395033F9-4E24-417D-8B85-1336F4B2047F}"/>
              </a:ext>
            </a:extLst>
          </p:cNvPr>
          <p:cNvGraphicFramePr>
            <a:graphicFrameLocks noGrp="1"/>
          </p:cNvGraphicFramePr>
          <p:nvPr>
            <p:extLst>
              <p:ext uri="{D42A27DB-BD31-4B8C-83A1-F6EECF244321}">
                <p14:modId xmlns:p14="http://schemas.microsoft.com/office/powerpoint/2010/main" val="955676417"/>
              </p:ext>
            </p:extLst>
          </p:nvPr>
        </p:nvGraphicFramePr>
        <p:xfrm>
          <a:off x="714804" y="495723"/>
          <a:ext cx="9796047" cy="887055"/>
        </p:xfrm>
        <a:graphic>
          <a:graphicData uri="http://schemas.openxmlformats.org/drawingml/2006/table">
            <a:tbl>
              <a:tblPr/>
              <a:tblGrid>
                <a:gridCol w="9796047">
                  <a:extLst>
                    <a:ext uri="{9D8B030D-6E8A-4147-A177-3AD203B41FA5}">
                      <a16:colId xmlns:a16="http://schemas.microsoft.com/office/drawing/2014/main" val="1619628593"/>
                    </a:ext>
                  </a:extLst>
                </a:gridCol>
              </a:tblGrid>
              <a:tr h="887055">
                <a:tc>
                  <a:txBody>
                    <a:bodyPr/>
                    <a:lstStyle/>
                    <a:p>
                      <a:r>
                        <a:rPr lang="es-MX" sz="2400" kern="1200" dirty="0">
                          <a:solidFill>
                            <a:srgbClr val="000000"/>
                          </a:solidFill>
                          <a:latin typeface="URWPalladioL-Roma"/>
                          <a:ea typeface="+mn-ea"/>
                          <a:cs typeface="+mn-cs"/>
                        </a:rPr>
                        <a:t>Espacio de estados del sistema disipativo inestable de tipo I (UDSI) y espacio de estados de la red neuronal</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A8D0D254-71C1-42AA-87E7-D237D2C40E5B}"/>
              </a:ext>
            </a:extLst>
          </p:cNvPr>
          <p:cNvPicPr>
            <a:picLocks noChangeAspect="1"/>
          </p:cNvPicPr>
          <p:nvPr/>
        </p:nvPicPr>
        <p:blipFill>
          <a:blip r:embed="rId3"/>
          <a:stretch>
            <a:fillRect/>
          </a:stretch>
        </p:blipFill>
        <p:spPr>
          <a:xfrm>
            <a:off x="1311207" y="1892990"/>
            <a:ext cx="9569586" cy="3072020"/>
          </a:xfrm>
          <a:prstGeom prst="rect">
            <a:avLst/>
          </a:prstGeom>
        </p:spPr>
      </p:pic>
      <p:sp>
        <p:nvSpPr>
          <p:cNvPr id="8" name="Marcador de número de diapositiva 7">
            <a:extLst>
              <a:ext uri="{FF2B5EF4-FFF2-40B4-BE49-F238E27FC236}">
                <a16:creationId xmlns:a16="http://schemas.microsoft.com/office/drawing/2014/main" id="{327DD4FF-E9F8-4651-933E-21A908784811}"/>
              </a:ext>
            </a:extLst>
          </p:cNvPr>
          <p:cNvSpPr>
            <a:spLocks noGrp="1"/>
          </p:cNvSpPr>
          <p:nvPr>
            <p:ph type="sldNum" sz="quarter" idx="12"/>
          </p:nvPr>
        </p:nvSpPr>
        <p:spPr/>
        <p:txBody>
          <a:bodyPr/>
          <a:lstStyle/>
          <a:p>
            <a:fld id="{B4BE085C-131E-4871-906D-CE6CA8D2EB1A}" type="slidenum">
              <a:rPr lang="es-MX" sz="2000" b="1" smtClean="0"/>
              <a:t>43</a:t>
            </a:fld>
            <a:endParaRPr lang="es-MX" sz="2000" b="1" dirty="0"/>
          </a:p>
        </p:txBody>
      </p:sp>
      <p:graphicFrame>
        <p:nvGraphicFramePr>
          <p:cNvPr id="9" name="Tabla 8">
            <a:extLst>
              <a:ext uri="{FF2B5EF4-FFF2-40B4-BE49-F238E27FC236}">
                <a16:creationId xmlns:a16="http://schemas.microsoft.com/office/drawing/2014/main" id="{55A914BF-7D72-4628-97EA-72E855D6C966}"/>
              </a:ext>
            </a:extLst>
          </p:cNvPr>
          <p:cNvGraphicFramePr>
            <a:graphicFrameLocks noGrp="1"/>
          </p:cNvGraphicFramePr>
          <p:nvPr>
            <p:extLst>
              <p:ext uri="{D42A27DB-BD31-4B8C-83A1-F6EECF244321}">
                <p14:modId xmlns:p14="http://schemas.microsoft.com/office/powerpoint/2010/main" val="3204251247"/>
              </p:ext>
            </p:extLst>
          </p:nvPr>
        </p:nvGraphicFramePr>
        <p:xfrm>
          <a:off x="1466530" y="5048768"/>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4: a) Espacio de </a:t>
                      </a:r>
                      <a:r>
                        <a:rPr lang="en-US" sz="2400" kern="1200" dirty="0" err="1">
                          <a:solidFill>
                            <a:srgbClr val="000000"/>
                          </a:solidFill>
                          <a:latin typeface="URWPalladioL-Roma"/>
                          <a:ea typeface="+mn-ea"/>
                          <a:cs typeface="+mn-cs"/>
                        </a:rPr>
                        <a:t>estados</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 b) Espacio de </a:t>
                      </a:r>
                      <a:r>
                        <a:rPr lang="en-US" sz="2400" kern="1200" dirty="0" err="1">
                          <a:solidFill>
                            <a:srgbClr val="000000"/>
                          </a:solidFill>
                          <a:latin typeface="URWPalladioL-Roma"/>
                          <a:ea typeface="+mn-ea"/>
                          <a:cs typeface="+mn-cs"/>
                        </a:rPr>
                        <a:t>estados</a:t>
                      </a:r>
                      <a:r>
                        <a:rPr lang="en-US" sz="2400" kern="1200" dirty="0">
                          <a:solidFill>
                            <a:srgbClr val="000000"/>
                          </a:solidFill>
                          <a:latin typeface="URWPalladioL-Roma"/>
                          <a:ea typeface="+mn-ea"/>
                          <a:cs typeface="+mn-cs"/>
                        </a:rPr>
                        <a:t> de la red neuronal</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32965981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A7B2930C-8C54-459E-8D51-B0B17EFBAF6F}"/>
              </a:ext>
            </a:extLst>
          </p:cNvPr>
          <p:cNvGraphicFramePr>
            <a:graphicFrameLocks noGrp="1"/>
          </p:cNvGraphicFramePr>
          <p:nvPr>
            <p:extLst>
              <p:ext uri="{D42A27DB-BD31-4B8C-83A1-F6EECF244321}">
                <p14:modId xmlns:p14="http://schemas.microsoft.com/office/powerpoint/2010/main" val="4263080170"/>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2400" kern="1200" dirty="0">
                          <a:solidFill>
                            <a:srgbClr val="000000"/>
                          </a:solidFill>
                          <a:latin typeface="URWPalladioL-Roma"/>
                          <a:ea typeface="+mn-ea"/>
                          <a:cs typeface="+mn-cs"/>
                        </a:rPr>
                        <a:t>Identificación neuronal del sistema disipativo inestable de tipo I (UDSI, por sus siglas en inglés)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5E85C072-78BC-4C6C-B146-94328637CA83}"/>
              </a:ext>
            </a:extLst>
          </p:cNvPr>
          <p:cNvPicPr>
            <a:picLocks noChangeAspect="1"/>
          </p:cNvPicPr>
          <p:nvPr/>
        </p:nvPicPr>
        <p:blipFill>
          <a:blip r:embed="rId3"/>
          <a:stretch>
            <a:fillRect/>
          </a:stretch>
        </p:blipFill>
        <p:spPr>
          <a:xfrm>
            <a:off x="1233523" y="978987"/>
            <a:ext cx="9724954" cy="5157400"/>
          </a:xfrm>
          <a:prstGeom prst="rect">
            <a:avLst/>
          </a:prstGeom>
        </p:spPr>
      </p:pic>
      <p:sp>
        <p:nvSpPr>
          <p:cNvPr id="10" name="Marcador de número de diapositiva 9">
            <a:extLst>
              <a:ext uri="{FF2B5EF4-FFF2-40B4-BE49-F238E27FC236}">
                <a16:creationId xmlns:a16="http://schemas.microsoft.com/office/drawing/2014/main" id="{E8F7A610-9841-4BA3-9C99-6961FA72AF5A}"/>
              </a:ext>
            </a:extLst>
          </p:cNvPr>
          <p:cNvSpPr>
            <a:spLocks noGrp="1"/>
          </p:cNvSpPr>
          <p:nvPr>
            <p:ph type="sldNum" sz="quarter" idx="12"/>
          </p:nvPr>
        </p:nvSpPr>
        <p:spPr/>
        <p:txBody>
          <a:bodyPr/>
          <a:lstStyle/>
          <a:p>
            <a:fld id="{B4BE085C-131E-4871-906D-CE6CA8D2EB1A}" type="slidenum">
              <a:rPr lang="es-MX" sz="2000" b="1" smtClean="0"/>
              <a:t>44</a:t>
            </a:fld>
            <a:endParaRPr lang="es-MX" sz="2000" b="1" dirty="0"/>
          </a:p>
        </p:txBody>
      </p:sp>
      <p:graphicFrame>
        <p:nvGraphicFramePr>
          <p:cNvPr id="11" name="Tabla 10">
            <a:extLst>
              <a:ext uri="{FF2B5EF4-FFF2-40B4-BE49-F238E27FC236}">
                <a16:creationId xmlns:a16="http://schemas.microsoft.com/office/drawing/2014/main" id="{88754D7E-17EB-4330-BF1B-CC48D1CA3BA3}"/>
              </a:ext>
            </a:extLst>
          </p:cNvPr>
          <p:cNvGraphicFramePr>
            <a:graphicFrameLocks noGrp="1"/>
          </p:cNvGraphicFramePr>
          <p:nvPr>
            <p:extLst>
              <p:ext uri="{D42A27DB-BD31-4B8C-83A1-F6EECF244321}">
                <p14:modId xmlns:p14="http://schemas.microsoft.com/office/powerpoint/2010/main" val="4078915623"/>
              </p:ext>
            </p:extLst>
          </p:nvPr>
        </p:nvGraphicFramePr>
        <p:xfrm>
          <a:off x="1466531" y="5912822"/>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3: Variables de </a:t>
                      </a:r>
                      <a:r>
                        <a:rPr lang="en-US" sz="2400" kern="1200" dirty="0" err="1">
                          <a:solidFill>
                            <a:srgbClr val="000000"/>
                          </a:solidFill>
                          <a:latin typeface="URWPalladioL-Roma"/>
                          <a:ea typeface="+mn-ea"/>
                          <a:cs typeface="+mn-cs"/>
                        </a:rPr>
                        <a:t>estado</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2546387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CE14FD-A31A-EB60-297A-CD5C3E0C261D}"/>
            </a:ext>
          </a:extLst>
        </p:cNvPr>
        <p:cNvGrpSpPr/>
        <p:nvPr/>
      </p:nvGrpSpPr>
      <p:grpSpPr>
        <a:xfrm>
          <a:off x="0" y="0"/>
          <a:ext cx="0" cy="0"/>
          <a:chOff x="0" y="0"/>
          <a:chExt cx="0" cy="0"/>
        </a:xfrm>
      </p:grpSpPr>
      <p:graphicFrame>
        <p:nvGraphicFramePr>
          <p:cNvPr id="4" name="Tabla 3">
            <a:extLst>
              <a:ext uri="{FF2B5EF4-FFF2-40B4-BE49-F238E27FC236}">
                <a16:creationId xmlns:a16="http://schemas.microsoft.com/office/drawing/2014/main" id="{5C32BB5A-5837-B10A-0590-A40E2C7B5F5F}"/>
              </a:ext>
            </a:extLst>
          </p:cNvPr>
          <p:cNvGraphicFramePr>
            <a:graphicFrameLocks noGrp="1"/>
          </p:cNvGraphicFramePr>
          <p:nvPr>
            <p:extLst>
              <p:ext uri="{D42A27DB-BD31-4B8C-83A1-F6EECF244321}">
                <p14:modId xmlns:p14="http://schemas.microsoft.com/office/powerpoint/2010/main" val="3571917641"/>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2400" kern="1200" dirty="0">
                          <a:solidFill>
                            <a:srgbClr val="000000"/>
                          </a:solidFill>
                          <a:latin typeface="URWPalladioL-Roma"/>
                          <a:ea typeface="+mn-ea"/>
                          <a:cs typeface="+mn-cs"/>
                        </a:rPr>
                        <a:t>Identificación neuronal del sistema disipativo inestable de tipo I (UDSI, por sus siglas en inglés)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pic>
        <p:nvPicPr>
          <p:cNvPr id="5" name="Imagen 4">
            <a:extLst>
              <a:ext uri="{FF2B5EF4-FFF2-40B4-BE49-F238E27FC236}">
                <a16:creationId xmlns:a16="http://schemas.microsoft.com/office/drawing/2014/main" id="{8DCABEBC-6C98-30E2-72E3-A9F0364565E9}"/>
              </a:ext>
            </a:extLst>
          </p:cNvPr>
          <p:cNvPicPr>
            <a:picLocks noChangeAspect="1"/>
          </p:cNvPicPr>
          <p:nvPr/>
        </p:nvPicPr>
        <p:blipFill>
          <a:blip r:embed="rId3"/>
          <a:stretch>
            <a:fillRect/>
          </a:stretch>
        </p:blipFill>
        <p:spPr>
          <a:xfrm>
            <a:off x="1000514" y="1095945"/>
            <a:ext cx="4809777" cy="2550752"/>
          </a:xfrm>
          <a:prstGeom prst="rect">
            <a:avLst/>
          </a:prstGeom>
        </p:spPr>
      </p:pic>
      <p:pic>
        <p:nvPicPr>
          <p:cNvPr id="6" name="Imagen 5">
            <a:extLst>
              <a:ext uri="{FF2B5EF4-FFF2-40B4-BE49-F238E27FC236}">
                <a16:creationId xmlns:a16="http://schemas.microsoft.com/office/drawing/2014/main" id="{3C12C89A-67E8-6346-047B-3CA9AD62414A}"/>
              </a:ext>
            </a:extLst>
          </p:cNvPr>
          <p:cNvPicPr>
            <a:picLocks noChangeAspect="1"/>
          </p:cNvPicPr>
          <p:nvPr/>
        </p:nvPicPr>
        <p:blipFill>
          <a:blip r:embed="rId4"/>
          <a:stretch>
            <a:fillRect/>
          </a:stretch>
        </p:blipFill>
        <p:spPr>
          <a:xfrm>
            <a:off x="6096001" y="1170746"/>
            <a:ext cx="4892060" cy="2475951"/>
          </a:xfrm>
          <a:prstGeom prst="rect">
            <a:avLst/>
          </a:prstGeom>
        </p:spPr>
      </p:pic>
      <p:pic>
        <p:nvPicPr>
          <p:cNvPr id="7" name="Imagen 6">
            <a:extLst>
              <a:ext uri="{FF2B5EF4-FFF2-40B4-BE49-F238E27FC236}">
                <a16:creationId xmlns:a16="http://schemas.microsoft.com/office/drawing/2014/main" id="{4806C320-A52C-6B6B-0DE5-C589BEC790CD}"/>
              </a:ext>
            </a:extLst>
          </p:cNvPr>
          <p:cNvPicPr>
            <a:picLocks noChangeAspect="1"/>
          </p:cNvPicPr>
          <p:nvPr/>
        </p:nvPicPr>
        <p:blipFill>
          <a:blip r:embed="rId5"/>
          <a:stretch>
            <a:fillRect/>
          </a:stretch>
        </p:blipFill>
        <p:spPr>
          <a:xfrm>
            <a:off x="3349301" y="3789729"/>
            <a:ext cx="4921980" cy="2423589"/>
          </a:xfrm>
          <a:prstGeom prst="rect">
            <a:avLst/>
          </a:prstGeom>
        </p:spPr>
      </p:pic>
      <p:sp>
        <p:nvSpPr>
          <p:cNvPr id="10" name="Marcador de número de diapositiva 9">
            <a:extLst>
              <a:ext uri="{FF2B5EF4-FFF2-40B4-BE49-F238E27FC236}">
                <a16:creationId xmlns:a16="http://schemas.microsoft.com/office/drawing/2014/main" id="{25733B09-4F4B-7C75-8DFD-F1154F3FF971}"/>
              </a:ext>
            </a:extLst>
          </p:cNvPr>
          <p:cNvSpPr>
            <a:spLocks noGrp="1"/>
          </p:cNvSpPr>
          <p:nvPr>
            <p:ph type="sldNum" sz="quarter" idx="12"/>
          </p:nvPr>
        </p:nvSpPr>
        <p:spPr/>
        <p:txBody>
          <a:bodyPr/>
          <a:lstStyle/>
          <a:p>
            <a:fld id="{B4BE085C-131E-4871-906D-CE6CA8D2EB1A}" type="slidenum">
              <a:rPr lang="es-MX" sz="2000" b="1" smtClean="0"/>
              <a:t>45</a:t>
            </a:fld>
            <a:endParaRPr lang="es-MX" sz="2000" b="1" dirty="0"/>
          </a:p>
        </p:txBody>
      </p:sp>
      <p:graphicFrame>
        <p:nvGraphicFramePr>
          <p:cNvPr id="11" name="Tabla 10">
            <a:extLst>
              <a:ext uri="{FF2B5EF4-FFF2-40B4-BE49-F238E27FC236}">
                <a16:creationId xmlns:a16="http://schemas.microsoft.com/office/drawing/2014/main" id="{79BDA056-44EF-3AEE-1EAD-E7112F66F2C0}"/>
              </a:ext>
            </a:extLst>
          </p:cNvPr>
          <p:cNvGraphicFramePr>
            <a:graphicFrameLocks noGrp="1"/>
          </p:cNvGraphicFramePr>
          <p:nvPr>
            <p:extLst>
              <p:ext uri="{D42A27DB-BD31-4B8C-83A1-F6EECF244321}">
                <p14:modId xmlns:p14="http://schemas.microsoft.com/office/powerpoint/2010/main" val="1763294875"/>
              </p:ext>
            </p:extLst>
          </p:nvPr>
        </p:nvGraphicFramePr>
        <p:xfrm>
          <a:off x="1466531" y="5912822"/>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algn="ctr"/>
                      <a:r>
                        <a:rPr lang="en-US" sz="2400" kern="1200" dirty="0" err="1">
                          <a:solidFill>
                            <a:srgbClr val="000000"/>
                          </a:solidFill>
                          <a:latin typeface="URWPalladioL-Roma"/>
                          <a:ea typeface="+mn-ea"/>
                          <a:cs typeface="+mn-cs"/>
                        </a:rPr>
                        <a:t>Figura</a:t>
                      </a:r>
                      <a:r>
                        <a:rPr lang="en-US" sz="2400" kern="1200" dirty="0">
                          <a:solidFill>
                            <a:srgbClr val="000000"/>
                          </a:solidFill>
                          <a:latin typeface="URWPalladioL-Roma"/>
                          <a:ea typeface="+mn-ea"/>
                          <a:cs typeface="+mn-cs"/>
                        </a:rPr>
                        <a:t> 3: Variables de </a:t>
                      </a:r>
                      <a:r>
                        <a:rPr lang="en-US" sz="2400" kern="1200" dirty="0" err="1">
                          <a:solidFill>
                            <a:srgbClr val="000000"/>
                          </a:solidFill>
                          <a:latin typeface="URWPalladioL-Roma"/>
                          <a:ea typeface="+mn-ea"/>
                          <a:cs typeface="+mn-cs"/>
                        </a:rPr>
                        <a:t>estado</a:t>
                      </a:r>
                      <a:r>
                        <a:rPr lang="en-US" sz="2400" kern="1200" dirty="0">
                          <a:solidFill>
                            <a:srgbClr val="000000"/>
                          </a:solidFill>
                          <a:latin typeface="URWPalladioL-Roma"/>
                          <a:ea typeface="+mn-ea"/>
                          <a:cs typeface="+mn-cs"/>
                        </a:rPr>
                        <a:t> del </a:t>
                      </a:r>
                      <a:r>
                        <a:rPr lang="en-US" sz="2400" kern="1200" dirty="0" err="1">
                          <a:solidFill>
                            <a:srgbClr val="000000"/>
                          </a:solidFill>
                          <a:latin typeface="URWPalladioL-Roma"/>
                          <a:ea typeface="+mn-ea"/>
                          <a:cs typeface="+mn-cs"/>
                        </a:rPr>
                        <a:t>sistema</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disipativo</a:t>
                      </a:r>
                      <a:r>
                        <a:rPr lang="en-US" sz="2400" kern="1200" dirty="0">
                          <a:solidFill>
                            <a:srgbClr val="000000"/>
                          </a:solidFill>
                          <a:latin typeface="URWPalladioL-Roma"/>
                          <a:ea typeface="+mn-ea"/>
                          <a:cs typeface="+mn-cs"/>
                        </a:rPr>
                        <a:t> </a:t>
                      </a:r>
                      <a:r>
                        <a:rPr lang="en-US" sz="2400" kern="1200" dirty="0" err="1">
                          <a:solidFill>
                            <a:srgbClr val="000000"/>
                          </a:solidFill>
                          <a:latin typeface="URWPalladioL-Roma"/>
                          <a:ea typeface="+mn-ea"/>
                          <a:cs typeface="+mn-cs"/>
                        </a:rPr>
                        <a:t>inestable</a:t>
                      </a:r>
                      <a:r>
                        <a:rPr lang="en-US" sz="2400" kern="1200" dirty="0">
                          <a:solidFill>
                            <a:srgbClr val="000000"/>
                          </a:solidFill>
                          <a:latin typeface="URWPalladioL-Roma"/>
                          <a:ea typeface="+mn-ea"/>
                          <a:cs typeface="+mn-cs"/>
                        </a:rPr>
                        <a:t> de </a:t>
                      </a:r>
                      <a:r>
                        <a:rPr lang="en-US" sz="2400" kern="1200" dirty="0" err="1">
                          <a:solidFill>
                            <a:srgbClr val="000000"/>
                          </a:solidFill>
                          <a:latin typeface="URWPalladioL-Roma"/>
                          <a:ea typeface="+mn-ea"/>
                          <a:cs typeface="+mn-cs"/>
                        </a:rPr>
                        <a:t>tipo</a:t>
                      </a:r>
                      <a:r>
                        <a:rPr lang="en-US" sz="2400" kern="1200" dirty="0">
                          <a:solidFill>
                            <a:srgbClr val="000000"/>
                          </a:solidFill>
                          <a:latin typeface="URWPalladioL-Roma"/>
                          <a:ea typeface="+mn-ea"/>
                          <a:cs typeface="+mn-cs"/>
                        </a:rPr>
                        <a:t> I</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62465761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22D1F-6232-BEFE-B1D7-5E9B58F8AF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BCA8F5-313F-38BF-A76F-B70A37D7D355}"/>
              </a:ext>
            </a:extLst>
          </p:cNvPr>
          <p:cNvSpPr>
            <a:spLocks noGrp="1"/>
          </p:cNvSpPr>
          <p:nvPr>
            <p:ph type="title"/>
          </p:nvPr>
        </p:nvSpPr>
        <p:spPr>
          <a:xfrm>
            <a:off x="497958" y="2328536"/>
            <a:ext cx="3404191" cy="533316"/>
          </a:xfrm>
        </p:spPr>
        <p:txBody>
          <a:bodyPr>
            <a:normAutofit fontScale="90000"/>
          </a:bodyPr>
          <a:lstStyle/>
          <a:p>
            <a:r>
              <a:rPr lang="en-US" dirty="0" err="1"/>
              <a:t>Múltiples</a:t>
            </a:r>
            <a:r>
              <a:rPr lang="en-US" dirty="0"/>
              <a:t> </a:t>
            </a:r>
            <a:r>
              <a:rPr lang="en-US" dirty="0" err="1"/>
              <a:t>sistemas</a:t>
            </a:r>
            <a:r>
              <a:rPr lang="en-US" dirty="0"/>
              <a:t> </a:t>
            </a:r>
            <a:r>
              <a:rPr lang="en-US" dirty="0" err="1"/>
              <a:t>dinámicos</a:t>
            </a:r>
            <a:r>
              <a:rPr lang="en-US" dirty="0"/>
              <a:t> </a:t>
            </a:r>
            <a:r>
              <a:rPr lang="en-US" dirty="0" err="1"/>
              <a:t>caóticos</a:t>
            </a:r>
            <a:endParaRPr lang="en-US" dirty="0"/>
          </a:p>
        </p:txBody>
      </p:sp>
      <p:sp>
        <p:nvSpPr>
          <p:cNvPr id="4" name="Slide Number Placeholder 3">
            <a:extLst>
              <a:ext uri="{FF2B5EF4-FFF2-40B4-BE49-F238E27FC236}">
                <a16:creationId xmlns:a16="http://schemas.microsoft.com/office/drawing/2014/main" id="{9FCB5357-A361-67BC-E7E2-EC5D7A4762ED}"/>
              </a:ext>
            </a:extLst>
          </p:cNvPr>
          <p:cNvSpPr>
            <a:spLocks noGrp="1"/>
          </p:cNvSpPr>
          <p:nvPr>
            <p:ph type="sldNum" sz="quarter" idx="12"/>
          </p:nvPr>
        </p:nvSpPr>
        <p:spPr/>
        <p:txBody>
          <a:bodyPr/>
          <a:lstStyle/>
          <a:p>
            <a:fld id="{B4BE085C-131E-4871-906D-CE6CA8D2EB1A}" type="slidenum">
              <a:rPr lang="es-MX" smtClean="0"/>
              <a:t>46</a:t>
            </a:fld>
            <a:endParaRPr lang="es-MX"/>
          </a:p>
        </p:txBody>
      </p:sp>
      <p:pic>
        <p:nvPicPr>
          <p:cNvPr id="8" name="Picture 7">
            <a:extLst>
              <a:ext uri="{FF2B5EF4-FFF2-40B4-BE49-F238E27FC236}">
                <a16:creationId xmlns:a16="http://schemas.microsoft.com/office/drawing/2014/main" id="{8900AF40-6A26-D906-DAA4-B2A47954FC9F}"/>
              </a:ext>
            </a:extLst>
          </p:cNvPr>
          <p:cNvPicPr>
            <a:picLocks noChangeAspect="1"/>
          </p:cNvPicPr>
          <p:nvPr/>
        </p:nvPicPr>
        <p:blipFill>
          <a:blip r:embed="rId2"/>
          <a:stretch>
            <a:fillRect/>
          </a:stretch>
        </p:blipFill>
        <p:spPr>
          <a:xfrm>
            <a:off x="3659404" y="222590"/>
            <a:ext cx="8204759" cy="5572153"/>
          </a:xfrm>
          <a:prstGeom prst="rect">
            <a:avLst/>
          </a:prstGeom>
        </p:spPr>
      </p:pic>
      <p:sp>
        <p:nvSpPr>
          <p:cNvPr id="9" name="TextBox 8">
            <a:extLst>
              <a:ext uri="{FF2B5EF4-FFF2-40B4-BE49-F238E27FC236}">
                <a16:creationId xmlns:a16="http://schemas.microsoft.com/office/drawing/2014/main" id="{C3B3400D-569F-6BD7-CF15-3941E0AE45A8}"/>
              </a:ext>
            </a:extLst>
          </p:cNvPr>
          <p:cNvSpPr txBox="1"/>
          <p:nvPr/>
        </p:nvSpPr>
        <p:spPr>
          <a:xfrm>
            <a:off x="3732028" y="6125517"/>
            <a:ext cx="7621772" cy="461665"/>
          </a:xfrm>
          <a:prstGeom prst="rect">
            <a:avLst/>
          </a:prstGeom>
          <a:noFill/>
        </p:spPr>
        <p:txBody>
          <a:bodyPr wrap="square" rtlCol="0">
            <a:spAutoFit/>
          </a:bodyPr>
          <a:lstStyle/>
          <a:p>
            <a:r>
              <a:rPr lang="en-US" sz="1200" dirty="0"/>
              <a:t>Echenausía-Monroy, et al (2024). A recurrent neural network for identifying multiple chaotic systems. </a:t>
            </a:r>
            <a:r>
              <a:rPr lang="en-US" sz="1200" i="1" dirty="0"/>
              <a:t>Mathematics</a:t>
            </a:r>
            <a:r>
              <a:rPr lang="en-US" sz="1200" dirty="0"/>
              <a:t>, </a:t>
            </a:r>
            <a:r>
              <a:rPr lang="en-US" sz="1200" i="1" dirty="0"/>
              <a:t>12</a:t>
            </a:r>
            <a:r>
              <a:rPr lang="en-US" sz="1200" dirty="0"/>
              <a:t>(12), 1835.</a:t>
            </a:r>
            <a:endParaRPr lang="en-MX" sz="1200" dirty="0"/>
          </a:p>
        </p:txBody>
      </p:sp>
    </p:spTree>
    <p:extLst>
      <p:ext uri="{BB962C8B-B14F-4D97-AF65-F5344CB8AC3E}">
        <p14:creationId xmlns:p14="http://schemas.microsoft.com/office/powerpoint/2010/main" val="4053187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F789B-42F6-8A5C-4AE8-71CDA6CCB7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27747D-AD03-269C-8997-9464960843AA}"/>
              </a:ext>
            </a:extLst>
          </p:cNvPr>
          <p:cNvSpPr>
            <a:spLocks noGrp="1"/>
          </p:cNvSpPr>
          <p:nvPr>
            <p:ph type="title"/>
          </p:nvPr>
        </p:nvSpPr>
        <p:spPr>
          <a:xfrm>
            <a:off x="434162" y="2395944"/>
            <a:ext cx="3013020" cy="533316"/>
          </a:xfrm>
        </p:spPr>
        <p:txBody>
          <a:bodyPr>
            <a:normAutofit fontScale="90000"/>
          </a:bodyPr>
          <a:lstStyle/>
          <a:p>
            <a:r>
              <a:rPr lang="en-US" dirty="0" err="1"/>
              <a:t>Múltiples</a:t>
            </a:r>
            <a:r>
              <a:rPr lang="en-US" dirty="0"/>
              <a:t> </a:t>
            </a:r>
            <a:r>
              <a:rPr lang="en-US" dirty="0" err="1"/>
              <a:t>sistemas</a:t>
            </a:r>
            <a:r>
              <a:rPr lang="en-US" dirty="0"/>
              <a:t> </a:t>
            </a:r>
            <a:r>
              <a:rPr lang="en-US" dirty="0" err="1"/>
              <a:t>dinámicos</a:t>
            </a:r>
            <a:r>
              <a:rPr lang="en-US" dirty="0"/>
              <a:t> </a:t>
            </a:r>
            <a:r>
              <a:rPr lang="en-US" dirty="0" err="1"/>
              <a:t>caóticos</a:t>
            </a:r>
            <a:endParaRPr lang="en-US" dirty="0"/>
          </a:p>
        </p:txBody>
      </p:sp>
      <p:sp>
        <p:nvSpPr>
          <p:cNvPr id="4" name="Slide Number Placeholder 3">
            <a:extLst>
              <a:ext uri="{FF2B5EF4-FFF2-40B4-BE49-F238E27FC236}">
                <a16:creationId xmlns:a16="http://schemas.microsoft.com/office/drawing/2014/main" id="{2E343964-9ED2-7088-3D2A-1C029671C54E}"/>
              </a:ext>
            </a:extLst>
          </p:cNvPr>
          <p:cNvSpPr>
            <a:spLocks noGrp="1"/>
          </p:cNvSpPr>
          <p:nvPr>
            <p:ph type="sldNum" sz="quarter" idx="12"/>
          </p:nvPr>
        </p:nvSpPr>
        <p:spPr/>
        <p:txBody>
          <a:bodyPr/>
          <a:lstStyle/>
          <a:p>
            <a:fld id="{B4BE085C-131E-4871-906D-CE6CA8D2EB1A}" type="slidenum">
              <a:rPr lang="es-MX" smtClean="0"/>
              <a:t>47</a:t>
            </a:fld>
            <a:endParaRPr lang="es-MX"/>
          </a:p>
        </p:txBody>
      </p:sp>
      <p:sp>
        <p:nvSpPr>
          <p:cNvPr id="9" name="TextBox 8">
            <a:extLst>
              <a:ext uri="{FF2B5EF4-FFF2-40B4-BE49-F238E27FC236}">
                <a16:creationId xmlns:a16="http://schemas.microsoft.com/office/drawing/2014/main" id="{0D9842AA-8855-FEBF-BD46-E498C5FDADCB}"/>
              </a:ext>
            </a:extLst>
          </p:cNvPr>
          <p:cNvSpPr txBox="1"/>
          <p:nvPr/>
        </p:nvSpPr>
        <p:spPr>
          <a:xfrm>
            <a:off x="3851220" y="6079351"/>
            <a:ext cx="8225842" cy="276999"/>
          </a:xfrm>
          <a:prstGeom prst="rect">
            <a:avLst/>
          </a:prstGeom>
          <a:noFill/>
        </p:spPr>
        <p:txBody>
          <a:bodyPr wrap="none" rtlCol="0">
            <a:spAutoFit/>
          </a:bodyPr>
          <a:lstStyle/>
          <a:p>
            <a:r>
              <a:rPr lang="en-US" sz="1200" dirty="0"/>
              <a:t>Echenausía-Monroy, et al (2024). A recurrent neural network for identifying multiple chaotic systems. </a:t>
            </a:r>
            <a:r>
              <a:rPr lang="en-US" sz="1200" i="1" dirty="0"/>
              <a:t>Mathematics</a:t>
            </a:r>
            <a:r>
              <a:rPr lang="en-US" sz="1200" dirty="0"/>
              <a:t>, </a:t>
            </a:r>
            <a:r>
              <a:rPr lang="en-US" sz="1200" i="1" dirty="0"/>
              <a:t>12</a:t>
            </a:r>
            <a:r>
              <a:rPr lang="en-US" sz="1200" dirty="0"/>
              <a:t>(12), 1835.</a:t>
            </a:r>
            <a:endParaRPr lang="en-MX" sz="1200" dirty="0"/>
          </a:p>
        </p:txBody>
      </p:sp>
      <p:pic>
        <p:nvPicPr>
          <p:cNvPr id="3" name="Picture 2">
            <a:extLst>
              <a:ext uri="{FF2B5EF4-FFF2-40B4-BE49-F238E27FC236}">
                <a16:creationId xmlns:a16="http://schemas.microsoft.com/office/drawing/2014/main" id="{8393469D-8E5B-18AC-1DAD-53F56D33E3D3}"/>
              </a:ext>
            </a:extLst>
          </p:cNvPr>
          <p:cNvPicPr>
            <a:picLocks noChangeAspect="1"/>
          </p:cNvPicPr>
          <p:nvPr/>
        </p:nvPicPr>
        <p:blipFill>
          <a:blip r:embed="rId2"/>
          <a:stretch>
            <a:fillRect/>
          </a:stretch>
        </p:blipFill>
        <p:spPr>
          <a:xfrm>
            <a:off x="2886574" y="365126"/>
            <a:ext cx="9190488" cy="5349100"/>
          </a:xfrm>
          <a:prstGeom prst="rect">
            <a:avLst/>
          </a:prstGeom>
        </p:spPr>
      </p:pic>
    </p:spTree>
    <p:extLst>
      <p:ext uri="{BB962C8B-B14F-4D97-AF65-F5344CB8AC3E}">
        <p14:creationId xmlns:p14="http://schemas.microsoft.com/office/powerpoint/2010/main" val="19211429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591CB1-BEEC-2F06-49FC-28DEBBC6ACC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A267207-F88C-9530-869E-25D777D0D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4214734-7BB3-B97B-4250-8A0409D8261C}"/>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6800" b="1" dirty="0"/>
              <a:t>5. </a:t>
            </a:r>
            <a:r>
              <a:rPr lang="en-US" sz="6800" b="1" dirty="0" err="1"/>
              <a:t>Identificación</a:t>
            </a:r>
            <a:r>
              <a:rPr lang="en-US" sz="6800" b="1" dirty="0"/>
              <a:t> de la </a:t>
            </a:r>
            <a:r>
              <a:rPr lang="en-US" sz="6800" b="1" dirty="0" err="1"/>
              <a:t>trayectoria</a:t>
            </a:r>
            <a:r>
              <a:rPr lang="en-US" sz="6800" b="1" dirty="0"/>
              <a:t> del robot</a:t>
            </a:r>
            <a:endParaRPr lang="en-US" sz="68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2D54292A-D847-3478-960D-EBB92D90E2B7}"/>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7916E003-BF3F-C9F0-92C3-F5FA6334CC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477BC5DE-48C5-51E8-91C8-A0A4E46E1E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4E3C7E95-1F09-2D20-ABD4-25D17DC2AA62}"/>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48</a:t>
            </a:fld>
            <a:endParaRPr lang="en-US">
              <a:solidFill>
                <a:schemeClr val="tx1">
                  <a:lumMod val="50000"/>
                  <a:lumOff val="50000"/>
                </a:schemeClr>
              </a:solidFill>
            </a:endParaRPr>
          </a:p>
        </p:txBody>
      </p:sp>
    </p:spTree>
    <p:extLst>
      <p:ext uri="{BB962C8B-B14F-4D97-AF65-F5344CB8AC3E}">
        <p14:creationId xmlns:p14="http://schemas.microsoft.com/office/powerpoint/2010/main" val="31076621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068F729-BC1C-C8A1-355C-320F916EF323}"/>
              </a:ext>
            </a:extLst>
          </p:cNvPr>
          <p:cNvSpPr>
            <a:spLocks noGrp="1"/>
          </p:cNvSpPr>
          <p:nvPr>
            <p:ph type="sldNum" sz="quarter" idx="12"/>
          </p:nvPr>
        </p:nvSpPr>
        <p:spPr/>
        <p:txBody>
          <a:bodyPr/>
          <a:lstStyle/>
          <a:p>
            <a:fld id="{B4BE085C-131E-4871-906D-CE6CA8D2EB1A}" type="slidenum">
              <a:rPr lang="es-MX" smtClean="0"/>
              <a:t>49</a:t>
            </a:fld>
            <a:endParaRPr lang="es-MX"/>
          </a:p>
        </p:txBody>
      </p:sp>
      <p:sp>
        <p:nvSpPr>
          <p:cNvPr id="10" name="Content Placeholder 9">
            <a:extLst>
              <a:ext uri="{FF2B5EF4-FFF2-40B4-BE49-F238E27FC236}">
                <a16:creationId xmlns:a16="http://schemas.microsoft.com/office/drawing/2014/main" id="{7AEAFA26-DBBD-795B-A552-6B695BCBC495}"/>
              </a:ext>
            </a:extLst>
          </p:cNvPr>
          <p:cNvSpPr>
            <a:spLocks noGrp="1"/>
          </p:cNvSpPr>
          <p:nvPr>
            <p:ph idx="1"/>
          </p:nvPr>
        </p:nvSpPr>
        <p:spPr/>
        <p:txBody>
          <a:bodyPr/>
          <a:lstStyle/>
          <a:p>
            <a:endParaRPr lang="en-MX"/>
          </a:p>
        </p:txBody>
      </p:sp>
      <p:pic>
        <p:nvPicPr>
          <p:cNvPr id="11" name="Picture 10">
            <a:extLst>
              <a:ext uri="{FF2B5EF4-FFF2-40B4-BE49-F238E27FC236}">
                <a16:creationId xmlns:a16="http://schemas.microsoft.com/office/drawing/2014/main" id="{D913C854-D40D-00E8-F70C-D70CF65C20DA}"/>
              </a:ext>
            </a:extLst>
          </p:cNvPr>
          <p:cNvPicPr>
            <a:picLocks noChangeAspect="1"/>
          </p:cNvPicPr>
          <p:nvPr/>
        </p:nvPicPr>
        <p:blipFill>
          <a:blip r:embed="rId2"/>
          <a:stretch>
            <a:fillRect/>
          </a:stretch>
        </p:blipFill>
        <p:spPr>
          <a:xfrm>
            <a:off x="133759" y="1619249"/>
            <a:ext cx="5962241" cy="4919663"/>
          </a:xfrm>
          <a:prstGeom prst="rect">
            <a:avLst/>
          </a:prstGeom>
        </p:spPr>
      </p:pic>
      <p:pic>
        <p:nvPicPr>
          <p:cNvPr id="12" name="Picture 11">
            <a:extLst>
              <a:ext uri="{FF2B5EF4-FFF2-40B4-BE49-F238E27FC236}">
                <a16:creationId xmlns:a16="http://schemas.microsoft.com/office/drawing/2014/main" id="{3BD2B04B-F366-19C0-48BA-8FD6F37D1B3E}"/>
              </a:ext>
            </a:extLst>
          </p:cNvPr>
          <p:cNvPicPr>
            <a:picLocks noChangeAspect="1"/>
          </p:cNvPicPr>
          <p:nvPr/>
        </p:nvPicPr>
        <p:blipFill>
          <a:blip r:embed="rId3"/>
          <a:stretch>
            <a:fillRect/>
          </a:stretch>
        </p:blipFill>
        <p:spPr>
          <a:xfrm>
            <a:off x="6256532" y="1614588"/>
            <a:ext cx="5801709" cy="4924324"/>
          </a:xfrm>
          <a:prstGeom prst="rect">
            <a:avLst/>
          </a:prstGeom>
        </p:spPr>
      </p:pic>
      <p:sp>
        <p:nvSpPr>
          <p:cNvPr id="13" name="TextBox 12">
            <a:extLst>
              <a:ext uri="{FF2B5EF4-FFF2-40B4-BE49-F238E27FC236}">
                <a16:creationId xmlns:a16="http://schemas.microsoft.com/office/drawing/2014/main" id="{3031FBDB-C920-CB48-8516-733FCB5530F3}"/>
              </a:ext>
            </a:extLst>
          </p:cNvPr>
          <p:cNvSpPr txBox="1"/>
          <p:nvPr/>
        </p:nvSpPr>
        <p:spPr>
          <a:xfrm>
            <a:off x="8144889" y="988867"/>
            <a:ext cx="2563522" cy="800219"/>
          </a:xfrm>
          <a:prstGeom prst="rect">
            <a:avLst/>
          </a:prstGeom>
          <a:noFill/>
        </p:spPr>
        <p:txBody>
          <a:bodyPr wrap="none" rtlCol="0">
            <a:spAutoFit/>
          </a:bodyPr>
          <a:lstStyle/>
          <a:p>
            <a:r>
              <a:rPr lang="en-US" sz="2800" dirty="0"/>
              <a:t>x0m = [300,0,0];</a:t>
            </a:r>
          </a:p>
          <a:p>
            <a:endParaRPr lang="en-MX" dirty="0"/>
          </a:p>
        </p:txBody>
      </p:sp>
      <p:sp>
        <p:nvSpPr>
          <p:cNvPr id="14" name="TextBox 13">
            <a:extLst>
              <a:ext uri="{FF2B5EF4-FFF2-40B4-BE49-F238E27FC236}">
                <a16:creationId xmlns:a16="http://schemas.microsoft.com/office/drawing/2014/main" id="{AB29F084-23A0-F4A9-6D9D-7EE4BA8C30BC}"/>
              </a:ext>
            </a:extLst>
          </p:cNvPr>
          <p:cNvSpPr txBox="1"/>
          <p:nvPr/>
        </p:nvSpPr>
        <p:spPr>
          <a:xfrm>
            <a:off x="2182648" y="1023465"/>
            <a:ext cx="2198038" cy="800219"/>
          </a:xfrm>
          <a:prstGeom prst="rect">
            <a:avLst/>
          </a:prstGeom>
          <a:noFill/>
        </p:spPr>
        <p:txBody>
          <a:bodyPr wrap="none" rtlCol="0">
            <a:spAutoFit/>
          </a:bodyPr>
          <a:lstStyle/>
          <a:p>
            <a:r>
              <a:rPr lang="en-US" sz="2800" dirty="0"/>
              <a:t>x0m = [0,0,0];</a:t>
            </a:r>
          </a:p>
          <a:p>
            <a:endParaRPr lang="en-MX" dirty="0"/>
          </a:p>
        </p:txBody>
      </p:sp>
      <p:sp>
        <p:nvSpPr>
          <p:cNvPr id="15" name="TextBox 14">
            <a:extLst>
              <a:ext uri="{FF2B5EF4-FFF2-40B4-BE49-F238E27FC236}">
                <a16:creationId xmlns:a16="http://schemas.microsoft.com/office/drawing/2014/main" id="{70198B1E-A1FF-BCC6-C6C6-97073495E6AC}"/>
              </a:ext>
            </a:extLst>
          </p:cNvPr>
          <p:cNvSpPr txBox="1"/>
          <p:nvPr/>
        </p:nvSpPr>
        <p:spPr>
          <a:xfrm>
            <a:off x="4386942" y="124075"/>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Tree>
    <p:extLst>
      <p:ext uri="{BB962C8B-B14F-4D97-AF65-F5344CB8AC3E}">
        <p14:creationId xmlns:p14="http://schemas.microsoft.com/office/powerpoint/2010/main" val="368610483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2F0923-3295-969C-4938-86147216BA17}"/>
              </a:ext>
            </a:extLst>
          </p:cNvPr>
          <p:cNvSpPr>
            <a:spLocks noGrp="1"/>
          </p:cNvSpPr>
          <p:nvPr>
            <p:ph idx="1"/>
          </p:nvPr>
        </p:nvSpPr>
        <p:spPr/>
        <p:txBody>
          <a:bodyPr/>
          <a:lstStyle/>
          <a:p>
            <a:endParaRPr lang="en-MX"/>
          </a:p>
        </p:txBody>
      </p:sp>
      <p:sp>
        <p:nvSpPr>
          <p:cNvPr id="4" name="Slide Number Placeholder 3">
            <a:extLst>
              <a:ext uri="{FF2B5EF4-FFF2-40B4-BE49-F238E27FC236}">
                <a16:creationId xmlns:a16="http://schemas.microsoft.com/office/drawing/2014/main" id="{5B09A443-0F69-DD53-2A2B-A389B852C5FB}"/>
              </a:ext>
            </a:extLst>
          </p:cNvPr>
          <p:cNvSpPr>
            <a:spLocks noGrp="1"/>
          </p:cNvSpPr>
          <p:nvPr>
            <p:ph type="sldNum" sz="quarter" idx="12"/>
          </p:nvPr>
        </p:nvSpPr>
        <p:spPr/>
        <p:txBody>
          <a:bodyPr/>
          <a:lstStyle/>
          <a:p>
            <a:fld id="{B4BE085C-131E-4871-906D-CE6CA8D2EB1A}" type="slidenum">
              <a:rPr lang="es-MX" smtClean="0"/>
              <a:t>50</a:t>
            </a:fld>
            <a:endParaRPr lang="es-MX"/>
          </a:p>
        </p:txBody>
      </p:sp>
      <p:pic>
        <p:nvPicPr>
          <p:cNvPr id="5" name="Picture 4">
            <a:extLst>
              <a:ext uri="{FF2B5EF4-FFF2-40B4-BE49-F238E27FC236}">
                <a16:creationId xmlns:a16="http://schemas.microsoft.com/office/drawing/2014/main" id="{039C6CB0-E0EF-6EC6-251A-1484F126A63C}"/>
              </a:ext>
            </a:extLst>
          </p:cNvPr>
          <p:cNvPicPr>
            <a:picLocks noChangeAspect="1"/>
          </p:cNvPicPr>
          <p:nvPr/>
        </p:nvPicPr>
        <p:blipFill>
          <a:blip r:embed="rId2"/>
          <a:stretch>
            <a:fillRect/>
          </a:stretch>
        </p:blipFill>
        <p:spPr>
          <a:xfrm>
            <a:off x="234236" y="1331004"/>
            <a:ext cx="5861764" cy="5207908"/>
          </a:xfrm>
          <a:prstGeom prst="rect">
            <a:avLst/>
          </a:prstGeom>
        </p:spPr>
      </p:pic>
      <p:pic>
        <p:nvPicPr>
          <p:cNvPr id="6" name="Picture 5">
            <a:extLst>
              <a:ext uri="{FF2B5EF4-FFF2-40B4-BE49-F238E27FC236}">
                <a16:creationId xmlns:a16="http://schemas.microsoft.com/office/drawing/2014/main" id="{51C8BE76-7A1F-DE1E-1AB1-4411271FAC45}"/>
              </a:ext>
            </a:extLst>
          </p:cNvPr>
          <p:cNvPicPr>
            <a:picLocks noChangeAspect="1"/>
          </p:cNvPicPr>
          <p:nvPr/>
        </p:nvPicPr>
        <p:blipFill>
          <a:blip r:embed="rId3"/>
          <a:stretch>
            <a:fillRect/>
          </a:stretch>
        </p:blipFill>
        <p:spPr>
          <a:xfrm>
            <a:off x="6211897" y="1331005"/>
            <a:ext cx="5745867" cy="5207907"/>
          </a:xfrm>
          <a:prstGeom prst="rect">
            <a:avLst/>
          </a:prstGeom>
        </p:spPr>
      </p:pic>
      <p:pic>
        <p:nvPicPr>
          <p:cNvPr id="7" name="Picture 6">
            <a:extLst>
              <a:ext uri="{FF2B5EF4-FFF2-40B4-BE49-F238E27FC236}">
                <a16:creationId xmlns:a16="http://schemas.microsoft.com/office/drawing/2014/main" id="{73A9EAC0-59EA-563C-BA7C-9531880B7D96}"/>
              </a:ext>
            </a:extLst>
          </p:cNvPr>
          <p:cNvPicPr>
            <a:picLocks noChangeAspect="1"/>
          </p:cNvPicPr>
          <p:nvPr/>
        </p:nvPicPr>
        <p:blipFill>
          <a:blip r:embed="rId4"/>
          <a:stretch>
            <a:fillRect/>
          </a:stretch>
        </p:blipFill>
        <p:spPr>
          <a:xfrm>
            <a:off x="7998968" y="1825625"/>
            <a:ext cx="3470729" cy="3118125"/>
          </a:xfrm>
          <a:prstGeom prst="rect">
            <a:avLst/>
          </a:prstGeom>
        </p:spPr>
      </p:pic>
      <p:sp>
        <p:nvSpPr>
          <p:cNvPr id="9" name="TextBox 8">
            <a:extLst>
              <a:ext uri="{FF2B5EF4-FFF2-40B4-BE49-F238E27FC236}">
                <a16:creationId xmlns:a16="http://schemas.microsoft.com/office/drawing/2014/main" id="{09E19ED8-DD8F-0935-C910-7017D2456FCB}"/>
              </a:ext>
            </a:extLst>
          </p:cNvPr>
          <p:cNvSpPr txBox="1"/>
          <p:nvPr/>
        </p:nvSpPr>
        <p:spPr>
          <a:xfrm>
            <a:off x="600443" y="401772"/>
            <a:ext cx="2820003" cy="1231106"/>
          </a:xfrm>
          <a:prstGeom prst="rect">
            <a:avLst/>
          </a:prstGeom>
          <a:noFill/>
        </p:spPr>
        <p:txBody>
          <a:bodyPr wrap="none" rtlCol="0">
            <a:spAutoFit/>
          </a:bodyPr>
          <a:lstStyle/>
          <a:p>
            <a:r>
              <a:rPr lang="en-US" sz="2800" dirty="0"/>
              <a:t>x0m = [0,0,0];</a:t>
            </a:r>
          </a:p>
          <a:p>
            <a:r>
              <a:rPr lang="en-US" sz="2800" dirty="0"/>
              <a:t>Y0 = [0.1, 0.1, 0.1]</a:t>
            </a:r>
          </a:p>
          <a:p>
            <a:endParaRPr lang="en-MX" dirty="0"/>
          </a:p>
        </p:txBody>
      </p:sp>
      <p:sp>
        <p:nvSpPr>
          <p:cNvPr id="10" name="TextBox 9">
            <a:extLst>
              <a:ext uri="{FF2B5EF4-FFF2-40B4-BE49-F238E27FC236}">
                <a16:creationId xmlns:a16="http://schemas.microsoft.com/office/drawing/2014/main" id="{00163A4B-DF13-4A7C-370A-4A3A8C4BB2B3}"/>
              </a:ext>
            </a:extLst>
          </p:cNvPr>
          <p:cNvSpPr txBox="1"/>
          <p:nvPr/>
        </p:nvSpPr>
        <p:spPr>
          <a:xfrm>
            <a:off x="4240686" y="45725"/>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Tree>
    <p:extLst>
      <p:ext uri="{BB962C8B-B14F-4D97-AF65-F5344CB8AC3E}">
        <p14:creationId xmlns:p14="http://schemas.microsoft.com/office/powerpoint/2010/main" val="351958617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D6417F-567E-AAB2-D2F6-7F5BEFEC9C9D}"/>
              </a:ext>
            </a:extLst>
          </p:cNvPr>
          <p:cNvSpPr>
            <a:spLocks noGrp="1"/>
          </p:cNvSpPr>
          <p:nvPr>
            <p:ph idx="1"/>
          </p:nvPr>
        </p:nvSpPr>
        <p:spPr/>
        <p:txBody>
          <a:bodyPr/>
          <a:lstStyle/>
          <a:p>
            <a:endParaRPr lang="en-MX" dirty="0"/>
          </a:p>
        </p:txBody>
      </p:sp>
      <p:sp>
        <p:nvSpPr>
          <p:cNvPr id="4" name="Slide Number Placeholder 3">
            <a:extLst>
              <a:ext uri="{FF2B5EF4-FFF2-40B4-BE49-F238E27FC236}">
                <a16:creationId xmlns:a16="http://schemas.microsoft.com/office/drawing/2014/main" id="{C07A4E4C-6BA3-E22B-F702-69B943E270D6}"/>
              </a:ext>
            </a:extLst>
          </p:cNvPr>
          <p:cNvSpPr>
            <a:spLocks noGrp="1"/>
          </p:cNvSpPr>
          <p:nvPr>
            <p:ph type="sldNum" sz="quarter" idx="12"/>
          </p:nvPr>
        </p:nvSpPr>
        <p:spPr/>
        <p:txBody>
          <a:bodyPr/>
          <a:lstStyle/>
          <a:p>
            <a:fld id="{B4BE085C-131E-4871-906D-CE6CA8D2EB1A}" type="slidenum">
              <a:rPr lang="es-MX" smtClean="0"/>
              <a:t>51</a:t>
            </a:fld>
            <a:endParaRPr lang="es-MX"/>
          </a:p>
        </p:txBody>
      </p:sp>
      <p:pic>
        <p:nvPicPr>
          <p:cNvPr id="5" name="Picture 4">
            <a:extLst>
              <a:ext uri="{FF2B5EF4-FFF2-40B4-BE49-F238E27FC236}">
                <a16:creationId xmlns:a16="http://schemas.microsoft.com/office/drawing/2014/main" id="{7F70450A-F367-A29F-BF82-E8815FBAAE7B}"/>
              </a:ext>
            </a:extLst>
          </p:cNvPr>
          <p:cNvPicPr>
            <a:picLocks noChangeAspect="1"/>
          </p:cNvPicPr>
          <p:nvPr/>
        </p:nvPicPr>
        <p:blipFill>
          <a:blip r:embed="rId2"/>
          <a:stretch>
            <a:fillRect/>
          </a:stretch>
        </p:blipFill>
        <p:spPr>
          <a:xfrm>
            <a:off x="6235315" y="1355726"/>
            <a:ext cx="5330057" cy="5365749"/>
          </a:xfrm>
          <a:prstGeom prst="rect">
            <a:avLst/>
          </a:prstGeom>
        </p:spPr>
      </p:pic>
      <p:pic>
        <p:nvPicPr>
          <p:cNvPr id="6" name="Picture 5">
            <a:extLst>
              <a:ext uri="{FF2B5EF4-FFF2-40B4-BE49-F238E27FC236}">
                <a16:creationId xmlns:a16="http://schemas.microsoft.com/office/drawing/2014/main" id="{B92264CF-5B5F-E0D8-000B-84C8371F8F76}"/>
              </a:ext>
            </a:extLst>
          </p:cNvPr>
          <p:cNvPicPr>
            <a:picLocks noChangeAspect="1"/>
          </p:cNvPicPr>
          <p:nvPr/>
        </p:nvPicPr>
        <p:blipFill>
          <a:blip r:embed="rId3"/>
          <a:stretch>
            <a:fillRect/>
          </a:stretch>
        </p:blipFill>
        <p:spPr>
          <a:xfrm>
            <a:off x="626630" y="1332565"/>
            <a:ext cx="5330057" cy="5377330"/>
          </a:xfrm>
          <a:prstGeom prst="rect">
            <a:avLst/>
          </a:prstGeom>
        </p:spPr>
      </p:pic>
      <p:sp>
        <p:nvSpPr>
          <p:cNvPr id="9" name="TextBox 8">
            <a:extLst>
              <a:ext uri="{FF2B5EF4-FFF2-40B4-BE49-F238E27FC236}">
                <a16:creationId xmlns:a16="http://schemas.microsoft.com/office/drawing/2014/main" id="{04A19949-2525-5312-949F-8DAEA4A3AE79}"/>
              </a:ext>
            </a:extLst>
          </p:cNvPr>
          <p:cNvSpPr txBox="1"/>
          <p:nvPr/>
        </p:nvSpPr>
        <p:spPr>
          <a:xfrm>
            <a:off x="4386942" y="-39211"/>
            <a:ext cx="4791213" cy="923330"/>
          </a:xfrm>
          <a:prstGeom prst="rect">
            <a:avLst/>
          </a:prstGeom>
          <a:noFill/>
        </p:spPr>
        <p:txBody>
          <a:bodyPr wrap="square" rtlCol="0">
            <a:spAutoFit/>
          </a:bodyPr>
          <a:lstStyle/>
          <a:p>
            <a:r>
              <a:rPr lang="en-US" dirty="0" err="1"/>
              <a:t>mu_der</a:t>
            </a:r>
            <a:r>
              <a:rPr lang="en-US" dirty="0"/>
              <a:t> = 5;    % </a:t>
            </a:r>
            <a:r>
              <a:rPr lang="en-US" dirty="0" err="1"/>
              <a:t>Velocidad</a:t>
            </a:r>
            <a:r>
              <a:rPr lang="en-US" dirty="0"/>
              <a:t> de la </a:t>
            </a:r>
            <a:r>
              <a:rPr lang="en-US" dirty="0" err="1"/>
              <a:t>llanta</a:t>
            </a:r>
            <a:r>
              <a:rPr lang="en-US" dirty="0"/>
              <a:t> der</a:t>
            </a:r>
          </a:p>
          <a:p>
            <a:r>
              <a:rPr lang="en-US" dirty="0" err="1"/>
              <a:t>mu_izq</a:t>
            </a:r>
            <a:r>
              <a:rPr lang="en-US" dirty="0"/>
              <a:t> = 4.5;</a:t>
            </a:r>
            <a:r>
              <a:rPr lang="en-MX" dirty="0"/>
              <a:t> </a:t>
            </a:r>
            <a:r>
              <a:rPr lang="en-US" dirty="0"/>
              <a:t> % </a:t>
            </a:r>
            <a:r>
              <a:rPr lang="en-US" dirty="0" err="1"/>
              <a:t>Velocidad</a:t>
            </a:r>
            <a:r>
              <a:rPr lang="en-US" dirty="0"/>
              <a:t> de la </a:t>
            </a:r>
            <a:r>
              <a:rPr lang="en-US" dirty="0" err="1"/>
              <a:t>llanta</a:t>
            </a:r>
            <a:r>
              <a:rPr lang="en-US" dirty="0"/>
              <a:t> </a:t>
            </a:r>
            <a:r>
              <a:rPr lang="en-US" dirty="0" err="1"/>
              <a:t>izq</a:t>
            </a:r>
            <a:endParaRPr lang="en-US" dirty="0"/>
          </a:p>
          <a:p>
            <a:endParaRPr lang="en-US" dirty="0"/>
          </a:p>
        </p:txBody>
      </p:sp>
      <p:sp>
        <p:nvSpPr>
          <p:cNvPr id="10" name="TextBox 9">
            <a:extLst>
              <a:ext uri="{FF2B5EF4-FFF2-40B4-BE49-F238E27FC236}">
                <a16:creationId xmlns:a16="http://schemas.microsoft.com/office/drawing/2014/main" id="{5D616123-8D68-7FD7-177B-6501C5AA5F80}"/>
              </a:ext>
            </a:extLst>
          </p:cNvPr>
          <p:cNvSpPr txBox="1"/>
          <p:nvPr/>
        </p:nvSpPr>
        <p:spPr>
          <a:xfrm>
            <a:off x="626630" y="327006"/>
            <a:ext cx="2820003" cy="954107"/>
          </a:xfrm>
          <a:prstGeom prst="rect">
            <a:avLst/>
          </a:prstGeom>
          <a:noFill/>
        </p:spPr>
        <p:txBody>
          <a:bodyPr wrap="none" rtlCol="0">
            <a:spAutoFit/>
          </a:bodyPr>
          <a:lstStyle/>
          <a:p>
            <a:r>
              <a:rPr lang="en-US" sz="2800" dirty="0"/>
              <a:t>x0m = [300,0,0];</a:t>
            </a:r>
          </a:p>
          <a:p>
            <a:r>
              <a:rPr lang="en-US" sz="2800" dirty="0"/>
              <a:t>Y0 = [0.1, 0.1, 0.1]</a:t>
            </a:r>
            <a:endParaRPr lang="en-MX" sz="1600" dirty="0"/>
          </a:p>
        </p:txBody>
      </p:sp>
    </p:spTree>
    <p:extLst>
      <p:ext uri="{BB962C8B-B14F-4D97-AF65-F5344CB8AC3E}">
        <p14:creationId xmlns:p14="http://schemas.microsoft.com/office/powerpoint/2010/main" val="252088004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E6005-0D40-66FF-F21E-1957D004C77F}"/>
              </a:ext>
            </a:extLst>
          </p:cNvPr>
          <p:cNvSpPr>
            <a:spLocks noGrp="1"/>
          </p:cNvSpPr>
          <p:nvPr>
            <p:ph type="title"/>
          </p:nvPr>
        </p:nvSpPr>
        <p:spPr/>
        <p:txBody>
          <a:bodyPr/>
          <a:lstStyle/>
          <a:p>
            <a:endParaRPr lang="en-MX"/>
          </a:p>
        </p:txBody>
      </p:sp>
      <p:sp>
        <p:nvSpPr>
          <p:cNvPr id="3" name="Content Placeholder 2">
            <a:extLst>
              <a:ext uri="{FF2B5EF4-FFF2-40B4-BE49-F238E27FC236}">
                <a16:creationId xmlns:a16="http://schemas.microsoft.com/office/drawing/2014/main" id="{FBA6FE1E-FAC6-4622-9CBF-540594A09CF2}"/>
              </a:ext>
            </a:extLst>
          </p:cNvPr>
          <p:cNvSpPr>
            <a:spLocks noGrp="1"/>
          </p:cNvSpPr>
          <p:nvPr>
            <p:ph idx="1"/>
          </p:nvPr>
        </p:nvSpPr>
        <p:spPr/>
        <p:txBody>
          <a:bodyPr/>
          <a:lstStyle/>
          <a:p>
            <a:endParaRPr lang="en-MX"/>
          </a:p>
        </p:txBody>
      </p:sp>
      <p:sp>
        <p:nvSpPr>
          <p:cNvPr id="4" name="Slide Number Placeholder 3">
            <a:extLst>
              <a:ext uri="{FF2B5EF4-FFF2-40B4-BE49-F238E27FC236}">
                <a16:creationId xmlns:a16="http://schemas.microsoft.com/office/drawing/2014/main" id="{DEE341D0-F2BD-B934-2A6B-0DA5E5761E8B}"/>
              </a:ext>
            </a:extLst>
          </p:cNvPr>
          <p:cNvSpPr>
            <a:spLocks noGrp="1"/>
          </p:cNvSpPr>
          <p:nvPr>
            <p:ph type="sldNum" sz="quarter" idx="12"/>
          </p:nvPr>
        </p:nvSpPr>
        <p:spPr/>
        <p:txBody>
          <a:bodyPr/>
          <a:lstStyle/>
          <a:p>
            <a:fld id="{B4BE085C-131E-4871-906D-CE6CA8D2EB1A}" type="slidenum">
              <a:rPr lang="es-MX" smtClean="0"/>
              <a:t>52</a:t>
            </a:fld>
            <a:endParaRPr lang="es-MX"/>
          </a:p>
        </p:txBody>
      </p:sp>
      <p:pic>
        <p:nvPicPr>
          <p:cNvPr id="5" name="Picture 4">
            <a:extLst>
              <a:ext uri="{FF2B5EF4-FFF2-40B4-BE49-F238E27FC236}">
                <a16:creationId xmlns:a16="http://schemas.microsoft.com/office/drawing/2014/main" id="{4BAA0688-A177-A06A-EA11-85B7F7261CFB}"/>
              </a:ext>
            </a:extLst>
          </p:cNvPr>
          <p:cNvPicPr>
            <a:picLocks noChangeAspect="1"/>
          </p:cNvPicPr>
          <p:nvPr/>
        </p:nvPicPr>
        <p:blipFill>
          <a:blip r:embed="rId2"/>
          <a:stretch>
            <a:fillRect/>
          </a:stretch>
        </p:blipFill>
        <p:spPr>
          <a:xfrm>
            <a:off x="2798536" y="452883"/>
            <a:ext cx="8424450" cy="1848757"/>
          </a:xfrm>
          <a:prstGeom prst="rect">
            <a:avLst/>
          </a:prstGeom>
        </p:spPr>
      </p:pic>
      <p:pic>
        <p:nvPicPr>
          <p:cNvPr id="6" name="Picture 5">
            <a:extLst>
              <a:ext uri="{FF2B5EF4-FFF2-40B4-BE49-F238E27FC236}">
                <a16:creationId xmlns:a16="http://schemas.microsoft.com/office/drawing/2014/main" id="{B92BBF01-E9D9-4347-B1DE-1ADCB0845C9E}"/>
              </a:ext>
            </a:extLst>
          </p:cNvPr>
          <p:cNvPicPr>
            <a:picLocks noChangeAspect="1"/>
          </p:cNvPicPr>
          <p:nvPr/>
        </p:nvPicPr>
        <p:blipFill>
          <a:blip r:embed="rId3"/>
          <a:stretch>
            <a:fillRect/>
          </a:stretch>
        </p:blipFill>
        <p:spPr>
          <a:xfrm>
            <a:off x="1953164" y="2214832"/>
            <a:ext cx="7772400" cy="4683057"/>
          </a:xfrm>
          <a:prstGeom prst="rect">
            <a:avLst/>
          </a:prstGeom>
        </p:spPr>
      </p:pic>
      <p:sp>
        <p:nvSpPr>
          <p:cNvPr id="7" name="Rounded Rectangle 6">
            <a:extLst>
              <a:ext uri="{FF2B5EF4-FFF2-40B4-BE49-F238E27FC236}">
                <a16:creationId xmlns:a16="http://schemas.microsoft.com/office/drawing/2014/main" id="{91AFD5A8-6DAF-E541-1C94-80D939B72001}"/>
              </a:ext>
            </a:extLst>
          </p:cNvPr>
          <p:cNvSpPr/>
          <p:nvPr/>
        </p:nvSpPr>
        <p:spPr>
          <a:xfrm>
            <a:off x="7200900" y="571500"/>
            <a:ext cx="2106386" cy="62048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MX"/>
          </a:p>
        </p:txBody>
      </p:sp>
    </p:spTree>
    <p:extLst>
      <p:ext uri="{BB962C8B-B14F-4D97-AF65-F5344CB8AC3E}">
        <p14:creationId xmlns:p14="http://schemas.microsoft.com/office/powerpoint/2010/main" val="16293952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D76F3E-3A97-486B-B402-44400A8B91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630523-2D4E-DC4E-8D3D-EB3F4CE46AFF}"/>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kern="1200" dirty="0" err="1">
                <a:solidFill>
                  <a:schemeClr val="tx1"/>
                </a:solidFill>
                <a:latin typeface="+mj-lt"/>
                <a:ea typeface="+mj-ea"/>
                <a:cs typeface="+mj-cs"/>
              </a:rPr>
              <a:t>Aplicacio</a:t>
            </a:r>
            <a:r>
              <a:rPr lang="en-US" sz="8000" b="1" dirty="0" err="1"/>
              <a:t>nes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1733ED23-0557-064B-B94C-62C8CEA05EBB}"/>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391F6B52-91F4-4AEB-B6DB-29FEBCF28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2CD6F061-7C53-44F4-9794-953DB70A45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A5B2A94B-5D48-DB4E-8703-A3274792A9C0}"/>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53</a:t>
            </a:fld>
            <a:endParaRPr lang="en-US">
              <a:solidFill>
                <a:schemeClr val="tx1">
                  <a:lumMod val="50000"/>
                  <a:lumOff val="50000"/>
                </a:schemeClr>
              </a:solidFill>
            </a:endParaRPr>
          </a:p>
        </p:txBody>
      </p:sp>
    </p:spTree>
    <p:extLst>
      <p:ext uri="{BB962C8B-B14F-4D97-AF65-F5344CB8AC3E}">
        <p14:creationId xmlns:p14="http://schemas.microsoft.com/office/powerpoint/2010/main" val="28541899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D2C50-D3D7-A961-1D37-BC29D0A37FAC}"/>
              </a:ext>
            </a:extLst>
          </p:cNvPr>
          <p:cNvSpPr>
            <a:spLocks noGrp="1"/>
          </p:cNvSpPr>
          <p:nvPr>
            <p:ph type="title"/>
          </p:nvPr>
        </p:nvSpPr>
        <p:spPr/>
        <p:txBody>
          <a:bodyPr>
            <a:normAutofit fontScale="90000"/>
          </a:bodyPr>
          <a:lstStyle/>
          <a:p>
            <a:r>
              <a:rPr lang="en-US" dirty="0"/>
              <a:t>Real-Time Observer and Neuronal Identification of an Erbium-Doped Fiber Laser</a:t>
            </a:r>
            <a:br>
              <a:rPr lang="en-US" dirty="0"/>
            </a:br>
            <a:endParaRPr lang="en-MX" dirty="0"/>
          </a:p>
        </p:txBody>
      </p:sp>
      <p:pic>
        <p:nvPicPr>
          <p:cNvPr id="5" name="Content Placeholder 4">
            <a:extLst>
              <a:ext uri="{FF2B5EF4-FFF2-40B4-BE49-F238E27FC236}">
                <a16:creationId xmlns:a16="http://schemas.microsoft.com/office/drawing/2014/main" id="{110A237C-12D8-78A3-E466-37238D0E7B14}"/>
              </a:ext>
            </a:extLst>
          </p:cNvPr>
          <p:cNvPicPr>
            <a:picLocks noGrp="1" noChangeAspect="1"/>
          </p:cNvPicPr>
          <p:nvPr>
            <p:ph idx="1"/>
          </p:nvPr>
        </p:nvPicPr>
        <p:blipFill>
          <a:blip r:embed="rId2"/>
          <a:stretch>
            <a:fillRect/>
          </a:stretch>
        </p:blipFill>
        <p:spPr>
          <a:xfrm>
            <a:off x="2340805" y="1825625"/>
            <a:ext cx="7510389" cy="4351338"/>
          </a:xfrm>
          <a:prstGeom prst="rect">
            <a:avLst/>
          </a:prstGeom>
        </p:spPr>
      </p:pic>
      <p:sp>
        <p:nvSpPr>
          <p:cNvPr id="4" name="Slide Number Placeholder 3">
            <a:extLst>
              <a:ext uri="{FF2B5EF4-FFF2-40B4-BE49-F238E27FC236}">
                <a16:creationId xmlns:a16="http://schemas.microsoft.com/office/drawing/2014/main" id="{80F7D103-79EC-8D37-3F7C-08FB1DAE057A}"/>
              </a:ext>
            </a:extLst>
          </p:cNvPr>
          <p:cNvSpPr>
            <a:spLocks noGrp="1"/>
          </p:cNvSpPr>
          <p:nvPr>
            <p:ph type="sldNum" sz="quarter" idx="12"/>
          </p:nvPr>
        </p:nvSpPr>
        <p:spPr/>
        <p:txBody>
          <a:bodyPr/>
          <a:lstStyle/>
          <a:p>
            <a:fld id="{B4BE085C-131E-4871-906D-CE6CA8D2EB1A}" type="slidenum">
              <a:rPr lang="es-MX" smtClean="0"/>
              <a:t>54</a:t>
            </a:fld>
            <a:endParaRPr lang="es-MX"/>
          </a:p>
        </p:txBody>
      </p:sp>
      <p:sp>
        <p:nvSpPr>
          <p:cNvPr id="6" name="TextBox 5">
            <a:extLst>
              <a:ext uri="{FF2B5EF4-FFF2-40B4-BE49-F238E27FC236}">
                <a16:creationId xmlns:a16="http://schemas.microsoft.com/office/drawing/2014/main" id="{DF628A9D-48B5-8ABF-D9D0-9962805A7EE8}"/>
              </a:ext>
            </a:extLst>
          </p:cNvPr>
          <p:cNvSpPr txBox="1"/>
          <p:nvPr/>
        </p:nvSpPr>
        <p:spPr>
          <a:xfrm>
            <a:off x="1255003" y="6531530"/>
            <a:ext cx="8727197" cy="369332"/>
          </a:xfrm>
          <a:prstGeom prst="rect">
            <a:avLst/>
          </a:prstGeom>
          <a:noFill/>
        </p:spPr>
        <p:txBody>
          <a:bodyPr wrap="none" rtlCol="0">
            <a:spAutoFit/>
          </a:bodyPr>
          <a:lstStyle/>
          <a:p>
            <a:r>
              <a:rPr lang="en-US" dirty="0" err="1"/>
              <a:t>Magallón</a:t>
            </a:r>
            <a:r>
              <a:rPr lang="en-US" dirty="0"/>
              <a:t>-García, D. A et al (2025, September).  </a:t>
            </a:r>
            <a:r>
              <a:rPr lang="en-US" i="1" dirty="0"/>
              <a:t>Photonics</a:t>
            </a:r>
            <a:r>
              <a:rPr lang="en-US" dirty="0"/>
              <a:t> (Vol. 12, No. 10, p. 955). MDPI.</a:t>
            </a:r>
            <a:endParaRPr lang="en-MX" dirty="0"/>
          </a:p>
        </p:txBody>
      </p:sp>
    </p:spTree>
    <p:extLst>
      <p:ext uri="{BB962C8B-B14F-4D97-AF65-F5344CB8AC3E}">
        <p14:creationId xmlns:p14="http://schemas.microsoft.com/office/powerpoint/2010/main" val="125174627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6FB562-12B7-DA9C-FC2B-0104EB0E9FC9}"/>
              </a:ext>
            </a:extLst>
          </p:cNvPr>
          <p:cNvSpPr>
            <a:spLocks noGrp="1"/>
          </p:cNvSpPr>
          <p:nvPr>
            <p:ph type="title"/>
          </p:nvPr>
        </p:nvSpPr>
        <p:spPr/>
        <p:txBody>
          <a:bodyPr>
            <a:normAutofit/>
          </a:bodyPr>
          <a:lstStyle/>
          <a:p>
            <a:pPr algn="ctr"/>
            <a:r>
              <a:rPr lang="es-MX" sz="5400" b="1" dirty="0"/>
              <a:t>Programación en Matlab/</a:t>
            </a:r>
            <a:r>
              <a:rPr lang="es-MX" sz="5400" b="1" dirty="0" err="1"/>
              <a:t>Simulink</a:t>
            </a:r>
            <a:endParaRPr lang="es-MX" sz="5400" b="1" dirty="0"/>
          </a:p>
        </p:txBody>
      </p:sp>
      <p:pic>
        <p:nvPicPr>
          <p:cNvPr id="8" name="Marcador de contenido 7">
            <a:extLst>
              <a:ext uri="{FF2B5EF4-FFF2-40B4-BE49-F238E27FC236}">
                <a16:creationId xmlns:a16="http://schemas.microsoft.com/office/drawing/2014/main" id="{0180101D-842B-C29F-8716-AAE90E2D572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018779" y="2653077"/>
            <a:ext cx="3599150" cy="3599150"/>
          </a:xfrm>
        </p:spPr>
      </p:pic>
      <p:sp>
        <p:nvSpPr>
          <p:cNvPr id="4" name="Marcador de número de diapositiva 3">
            <a:extLst>
              <a:ext uri="{FF2B5EF4-FFF2-40B4-BE49-F238E27FC236}">
                <a16:creationId xmlns:a16="http://schemas.microsoft.com/office/drawing/2014/main" id="{68F903BD-EFDB-BB9B-713F-4DFEFBA6E1FC}"/>
              </a:ext>
            </a:extLst>
          </p:cNvPr>
          <p:cNvSpPr>
            <a:spLocks noGrp="1"/>
          </p:cNvSpPr>
          <p:nvPr>
            <p:ph type="sldNum" sz="quarter" idx="12"/>
          </p:nvPr>
        </p:nvSpPr>
        <p:spPr/>
        <p:txBody>
          <a:bodyPr/>
          <a:lstStyle/>
          <a:p>
            <a:fld id="{B4BE085C-131E-4871-906D-CE6CA8D2EB1A}" type="slidenum">
              <a:rPr lang="es-MX" smtClean="0"/>
              <a:t>55</a:t>
            </a:fld>
            <a:endParaRPr lang="es-MX" dirty="0"/>
          </a:p>
        </p:txBody>
      </p:sp>
      <p:sp>
        <p:nvSpPr>
          <p:cNvPr id="6" name="CuadroTexto 5">
            <a:extLst>
              <a:ext uri="{FF2B5EF4-FFF2-40B4-BE49-F238E27FC236}">
                <a16:creationId xmlns:a16="http://schemas.microsoft.com/office/drawing/2014/main" id="{91521A74-A862-73F9-D48E-4627BECE1C32}"/>
              </a:ext>
            </a:extLst>
          </p:cNvPr>
          <p:cNvSpPr txBox="1"/>
          <p:nvPr/>
        </p:nvSpPr>
        <p:spPr>
          <a:xfrm>
            <a:off x="2103604" y="2087289"/>
            <a:ext cx="7429501" cy="461665"/>
          </a:xfrm>
          <a:prstGeom prst="rect">
            <a:avLst/>
          </a:prstGeom>
          <a:noFill/>
        </p:spPr>
        <p:txBody>
          <a:bodyPr wrap="square">
            <a:spAutoFit/>
          </a:bodyPr>
          <a:lstStyle/>
          <a:p>
            <a:r>
              <a:rPr lang="es-MX" sz="2400" dirty="0"/>
              <a:t>https://github.com/lex3153-crypto/RWFONN-WORKSHOP</a:t>
            </a:r>
          </a:p>
        </p:txBody>
      </p:sp>
    </p:spTree>
    <p:extLst>
      <p:ext uri="{BB962C8B-B14F-4D97-AF65-F5344CB8AC3E}">
        <p14:creationId xmlns:p14="http://schemas.microsoft.com/office/powerpoint/2010/main" val="11776092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8BA2300-7D39-0334-A8D7-5DAA12AD54BC}"/>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2058DE7-CFAC-9AB6-6A2E-41E199457E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98A2B3-1DA6-5168-079B-A681AEA5557D}"/>
              </a:ext>
            </a:extLst>
          </p:cNvPr>
          <p:cNvSpPr>
            <a:spLocks noGrp="1"/>
          </p:cNvSpPr>
          <p:nvPr>
            <p:ph type="title"/>
          </p:nvPr>
        </p:nvSpPr>
        <p:spPr>
          <a:xfrm>
            <a:off x="838199" y="1093788"/>
            <a:ext cx="10506455" cy="2967208"/>
          </a:xfrm>
        </p:spPr>
        <p:txBody>
          <a:bodyPr vert="horz" lIns="91440" tIns="45720" rIns="91440" bIns="45720" rtlCol="0" anchor="b">
            <a:normAutofit/>
          </a:bodyPr>
          <a:lstStyle/>
          <a:p>
            <a:r>
              <a:rPr lang="en-US" sz="8000" b="1" kern="1200" dirty="0" err="1">
                <a:solidFill>
                  <a:schemeClr val="tx1"/>
                </a:solidFill>
                <a:latin typeface="+mj-lt"/>
                <a:ea typeface="+mj-ea"/>
                <a:cs typeface="+mj-cs"/>
              </a:rPr>
              <a:t>Conclusiones</a:t>
            </a:r>
            <a:endParaRPr lang="en-US" sz="8000" b="1" kern="1200" dirty="0">
              <a:solidFill>
                <a:schemeClr val="tx1"/>
              </a:solidFill>
              <a:latin typeface="+mj-lt"/>
              <a:ea typeface="+mj-ea"/>
              <a:cs typeface="+mj-cs"/>
            </a:endParaRPr>
          </a:p>
        </p:txBody>
      </p:sp>
      <p:sp>
        <p:nvSpPr>
          <p:cNvPr id="3" name="Text Placeholder 2">
            <a:extLst>
              <a:ext uri="{FF2B5EF4-FFF2-40B4-BE49-F238E27FC236}">
                <a16:creationId xmlns:a16="http://schemas.microsoft.com/office/drawing/2014/main" id="{BA64C455-3B3F-8CC0-F045-FE9922BAA8AA}"/>
              </a:ext>
            </a:extLst>
          </p:cNvPr>
          <p:cNvSpPr>
            <a:spLocks noGrp="1"/>
          </p:cNvSpPr>
          <p:nvPr>
            <p:ph type="body" idx="1"/>
          </p:nvPr>
        </p:nvSpPr>
        <p:spPr>
          <a:xfrm>
            <a:off x="7400924" y="4619624"/>
            <a:ext cx="3946779" cy="1038225"/>
          </a:xfrm>
        </p:spPr>
        <p:txBody>
          <a:bodyPr vert="horz" lIns="91440" tIns="45720" rIns="91440" bIns="45720" rtlCol="0">
            <a:normAutofit/>
          </a:bodyPr>
          <a:lstStyle/>
          <a:p>
            <a:pPr algn="r"/>
            <a:endParaRPr lang="en-US" sz="2400" kern="1200">
              <a:solidFill>
                <a:schemeClr val="tx1"/>
              </a:solidFill>
              <a:latin typeface="+mn-lt"/>
              <a:ea typeface="+mn-ea"/>
              <a:cs typeface="+mn-cs"/>
            </a:endParaRPr>
          </a:p>
        </p:txBody>
      </p:sp>
      <p:sp>
        <p:nvSpPr>
          <p:cNvPr id="11" name="Rectangle 10">
            <a:extLst>
              <a:ext uri="{FF2B5EF4-FFF2-40B4-BE49-F238E27FC236}">
                <a16:creationId xmlns:a16="http://schemas.microsoft.com/office/drawing/2014/main" id="{6FCBE53C-EB67-3711-EA44-E7A7CDA6DA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41248" y="4331166"/>
            <a:ext cx="10506456"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FC325324-805D-72D9-3D05-AA4B381AE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9346882" y="2348839"/>
            <a:ext cx="54864" cy="394677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C4A4DDB1-9065-5ABD-BF5C-2BBEBC849CBA}"/>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B4BE085C-131E-4871-906D-CE6CA8D2EB1A}" type="slidenum">
              <a:rPr lang="en-US">
                <a:solidFill>
                  <a:schemeClr val="tx1">
                    <a:lumMod val="50000"/>
                    <a:lumOff val="50000"/>
                  </a:schemeClr>
                </a:solidFill>
              </a:rPr>
              <a:pPr>
                <a:spcAft>
                  <a:spcPts val="600"/>
                </a:spcAft>
              </a:pPr>
              <a:t>56</a:t>
            </a:fld>
            <a:endParaRPr lang="en-US">
              <a:solidFill>
                <a:schemeClr val="tx1">
                  <a:lumMod val="50000"/>
                  <a:lumOff val="50000"/>
                </a:schemeClr>
              </a:solidFill>
            </a:endParaRPr>
          </a:p>
        </p:txBody>
      </p:sp>
    </p:spTree>
    <p:extLst>
      <p:ext uri="{BB962C8B-B14F-4D97-AF65-F5344CB8AC3E}">
        <p14:creationId xmlns:p14="http://schemas.microsoft.com/office/powerpoint/2010/main" val="1374160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EAF5752-2274-48A1-BC02-A45811BBF049}"/>
              </a:ext>
            </a:extLst>
          </p:cNvPr>
          <p:cNvSpPr>
            <a:spLocks noGrp="1"/>
          </p:cNvSpPr>
          <p:nvPr>
            <p:ph idx="1"/>
          </p:nvPr>
        </p:nvSpPr>
        <p:spPr>
          <a:xfrm>
            <a:off x="838200" y="1285461"/>
            <a:ext cx="10515600" cy="4891502"/>
          </a:xfrm>
        </p:spPr>
        <p:txBody>
          <a:bodyPr>
            <a:normAutofit fontScale="62500" lnSpcReduction="20000"/>
          </a:bodyPr>
          <a:lstStyle/>
          <a:p>
            <a:pPr>
              <a:lnSpc>
                <a:spcPct val="120000"/>
              </a:lnSpc>
            </a:pPr>
            <a:r>
              <a:rPr lang="en-US" sz="3800" dirty="0"/>
              <a:t>Las redes </a:t>
            </a:r>
            <a:r>
              <a:rPr lang="en-US" sz="3800" dirty="0" err="1"/>
              <a:t>neuronales</a:t>
            </a:r>
            <a:r>
              <a:rPr lang="en-US" sz="3800" dirty="0"/>
              <a:t> de </a:t>
            </a:r>
            <a:r>
              <a:rPr lang="en-US" sz="3800" dirty="0" err="1"/>
              <a:t>activación</a:t>
            </a:r>
            <a:r>
              <a:rPr lang="en-US" sz="3800" dirty="0"/>
              <a:t> </a:t>
            </a:r>
            <a:r>
              <a:rPr lang="en-US" sz="3800" dirty="0" err="1"/>
              <a:t>aleatoria</a:t>
            </a:r>
            <a:r>
              <a:rPr lang="en-US" sz="3800" dirty="0"/>
              <a:t> (RWFONN) son </a:t>
            </a:r>
            <a:r>
              <a:rPr lang="en-US" sz="3800" dirty="0" err="1"/>
              <a:t>capaces</a:t>
            </a:r>
            <a:r>
              <a:rPr lang="en-US" sz="3800" dirty="0"/>
              <a:t> de </a:t>
            </a:r>
            <a:r>
              <a:rPr lang="en-US" sz="3800" dirty="0" err="1"/>
              <a:t>identificar</a:t>
            </a:r>
            <a:r>
              <a:rPr lang="en-US" sz="3800" dirty="0"/>
              <a:t> </a:t>
            </a:r>
            <a:r>
              <a:rPr lang="en-US" sz="3800" dirty="0" err="1"/>
              <a:t>comportamientos</a:t>
            </a:r>
            <a:r>
              <a:rPr lang="en-US" sz="3800" dirty="0"/>
              <a:t> </a:t>
            </a:r>
            <a:r>
              <a:rPr lang="en-US" sz="3800" dirty="0" err="1"/>
              <a:t>caóticos</a:t>
            </a:r>
            <a:r>
              <a:rPr lang="en-US" sz="3800" dirty="0"/>
              <a:t> </a:t>
            </a:r>
            <a:r>
              <a:rPr lang="en-US" sz="3800" dirty="0" err="1"/>
              <a:t>en</a:t>
            </a:r>
            <a:r>
              <a:rPr lang="en-US" sz="3800" dirty="0"/>
              <a:t> </a:t>
            </a:r>
            <a:r>
              <a:rPr lang="en-US" sz="3800" dirty="0" err="1"/>
              <a:t>los</a:t>
            </a:r>
            <a:r>
              <a:rPr lang="en-US" sz="3800" dirty="0"/>
              <a:t> </a:t>
            </a:r>
            <a:r>
              <a:rPr lang="en-US" sz="3800" dirty="0" err="1"/>
              <a:t>sistemas</a:t>
            </a:r>
            <a:r>
              <a:rPr lang="en-US" sz="3800" dirty="0"/>
              <a:t>.</a:t>
            </a:r>
          </a:p>
          <a:p>
            <a:pPr>
              <a:lnSpc>
                <a:spcPct val="120000"/>
              </a:lnSpc>
            </a:pPr>
            <a:endParaRPr lang="en-US" sz="3800" dirty="0"/>
          </a:p>
          <a:p>
            <a:pPr>
              <a:lnSpc>
                <a:spcPct val="120000"/>
              </a:lnSpc>
            </a:pPr>
            <a:r>
              <a:rPr lang="en-US" sz="3800" dirty="0"/>
              <a:t>Las RWFONN se </a:t>
            </a:r>
            <a:r>
              <a:rPr lang="en-US" sz="3800" dirty="0" err="1"/>
              <a:t>entrenan</a:t>
            </a:r>
            <a:r>
              <a:rPr lang="en-US" sz="3800" dirty="0"/>
              <a:t> </a:t>
            </a:r>
            <a:r>
              <a:rPr lang="en-US" sz="3800" dirty="0" err="1"/>
              <a:t>en</a:t>
            </a:r>
            <a:r>
              <a:rPr lang="en-US" sz="3800" dirty="0"/>
              <a:t> </a:t>
            </a:r>
            <a:r>
              <a:rPr lang="en-US" sz="3800" dirty="0" err="1"/>
              <a:t>tiempo</a:t>
            </a:r>
            <a:r>
              <a:rPr lang="en-US" sz="3800" dirty="0"/>
              <a:t> real.</a:t>
            </a:r>
          </a:p>
          <a:p>
            <a:pPr>
              <a:lnSpc>
                <a:spcPct val="120000"/>
              </a:lnSpc>
            </a:pPr>
            <a:endParaRPr lang="en-US" sz="3800" dirty="0"/>
          </a:p>
          <a:p>
            <a:pPr>
              <a:lnSpc>
                <a:spcPct val="120000"/>
              </a:lnSpc>
            </a:pPr>
            <a:r>
              <a:rPr lang="en-US" sz="3800" dirty="0"/>
              <a:t>No </a:t>
            </a:r>
            <a:r>
              <a:rPr lang="en-US" sz="3800" dirty="0" err="1"/>
              <a:t>todas</a:t>
            </a:r>
            <a:r>
              <a:rPr lang="en-US" sz="3800" dirty="0"/>
              <a:t> las </a:t>
            </a:r>
            <a:r>
              <a:rPr lang="en-US" sz="3800" dirty="0" err="1"/>
              <a:t>estructuras</a:t>
            </a:r>
            <a:r>
              <a:rPr lang="en-US" sz="3800" dirty="0"/>
              <a:t>/</a:t>
            </a:r>
            <a:r>
              <a:rPr lang="en-US" sz="3800" dirty="0" err="1"/>
              <a:t>funciones</a:t>
            </a:r>
            <a:r>
              <a:rPr lang="en-US" sz="3800" dirty="0"/>
              <a:t> de </a:t>
            </a:r>
            <a:r>
              <a:rPr lang="en-US" sz="3800" dirty="0" err="1"/>
              <a:t>activación</a:t>
            </a:r>
            <a:r>
              <a:rPr lang="en-US" sz="3800" dirty="0"/>
              <a:t> son </a:t>
            </a:r>
            <a:r>
              <a:rPr lang="en-US" sz="3800" dirty="0" err="1"/>
              <a:t>aplicables</a:t>
            </a:r>
            <a:r>
              <a:rPr lang="en-US" sz="3800" dirty="0"/>
              <a:t> a </a:t>
            </a:r>
            <a:r>
              <a:rPr lang="en-US" sz="3800" dirty="0" err="1"/>
              <a:t>todos</a:t>
            </a:r>
            <a:r>
              <a:rPr lang="en-US" sz="3800" dirty="0"/>
              <a:t> </a:t>
            </a:r>
            <a:r>
              <a:rPr lang="en-US" sz="3800" dirty="0" err="1"/>
              <a:t>los</a:t>
            </a:r>
            <a:r>
              <a:rPr lang="en-US" sz="3800" dirty="0"/>
              <a:t> </a:t>
            </a:r>
            <a:r>
              <a:rPr lang="en-US" sz="3800" dirty="0" err="1"/>
              <a:t>sistemas</a:t>
            </a:r>
            <a:r>
              <a:rPr lang="en-US" sz="3800" dirty="0"/>
              <a:t>.</a:t>
            </a:r>
          </a:p>
          <a:p>
            <a:pPr>
              <a:lnSpc>
                <a:spcPct val="120000"/>
              </a:lnSpc>
            </a:pPr>
            <a:endParaRPr lang="en-US" sz="3800" dirty="0"/>
          </a:p>
          <a:p>
            <a:pPr>
              <a:lnSpc>
                <a:spcPct val="120000"/>
              </a:lnSpc>
            </a:pPr>
            <a:r>
              <a:rPr lang="en-US" sz="3800" dirty="0"/>
              <a:t>A </a:t>
            </a:r>
            <a:r>
              <a:rPr lang="en-US" sz="3800" dirty="0" err="1"/>
              <a:t>diferencia</a:t>
            </a:r>
            <a:r>
              <a:rPr lang="en-US" sz="3800" dirty="0"/>
              <a:t> de la </a:t>
            </a:r>
            <a:r>
              <a:rPr lang="en-US" sz="3800" dirty="0" err="1"/>
              <a:t>teoría</a:t>
            </a:r>
            <a:r>
              <a:rPr lang="en-US" sz="3800" dirty="0"/>
              <a:t> del </a:t>
            </a:r>
            <a:r>
              <a:rPr lang="en-US" sz="3800" dirty="0" err="1"/>
              <a:t>observador</a:t>
            </a:r>
            <a:r>
              <a:rPr lang="en-US" sz="3800" dirty="0"/>
              <a:t> de </a:t>
            </a:r>
            <a:r>
              <a:rPr lang="en-US" sz="3800" dirty="0" err="1"/>
              <a:t>estado</a:t>
            </a:r>
            <a:r>
              <a:rPr lang="en-US" sz="3800" dirty="0"/>
              <a:t>, las RWFONN no </a:t>
            </a:r>
            <a:r>
              <a:rPr lang="en-US" sz="3800" dirty="0" err="1"/>
              <a:t>requieren</a:t>
            </a:r>
            <a:r>
              <a:rPr lang="en-US" sz="3800" dirty="0"/>
              <a:t> </a:t>
            </a:r>
            <a:r>
              <a:rPr lang="en-US" sz="3800" dirty="0" err="1"/>
              <a:t>conocimiento</a:t>
            </a:r>
            <a:r>
              <a:rPr lang="en-US" sz="3800" dirty="0"/>
              <a:t> de las </a:t>
            </a:r>
            <a:r>
              <a:rPr lang="en-US" sz="3800" dirty="0" err="1"/>
              <a:t>ecuaciones</a:t>
            </a:r>
            <a:r>
              <a:rPr lang="en-US" sz="3800" dirty="0"/>
              <a:t> o matrices del </a:t>
            </a:r>
            <a:r>
              <a:rPr lang="en-US" sz="3800" dirty="0" err="1"/>
              <a:t>sistema</a:t>
            </a:r>
            <a:r>
              <a:rPr lang="en-US" sz="3800" dirty="0"/>
              <a:t>.</a:t>
            </a:r>
            <a:endParaRPr lang="es-MX" dirty="0"/>
          </a:p>
        </p:txBody>
      </p:sp>
      <p:graphicFrame>
        <p:nvGraphicFramePr>
          <p:cNvPr id="4" name="Tabla 3">
            <a:extLst>
              <a:ext uri="{FF2B5EF4-FFF2-40B4-BE49-F238E27FC236}">
                <a16:creationId xmlns:a16="http://schemas.microsoft.com/office/drawing/2014/main" id="{809537FD-373D-44CD-807F-642E4DF4CB57}"/>
              </a:ext>
            </a:extLst>
          </p:cNvPr>
          <p:cNvGraphicFramePr>
            <a:graphicFrameLocks noGrp="1"/>
          </p:cNvGraphicFramePr>
          <p:nvPr>
            <p:extLst>
              <p:ext uri="{D42A27DB-BD31-4B8C-83A1-F6EECF244321}">
                <p14:modId xmlns:p14="http://schemas.microsoft.com/office/powerpoint/2010/main" val="3536141598"/>
              </p:ext>
            </p:extLst>
          </p:nvPr>
        </p:nvGraphicFramePr>
        <p:xfrm>
          <a:off x="714804" y="283691"/>
          <a:ext cx="9258937" cy="887055"/>
        </p:xfrm>
        <a:graphic>
          <a:graphicData uri="http://schemas.openxmlformats.org/drawingml/2006/table">
            <a:tbl>
              <a:tblPr/>
              <a:tblGrid>
                <a:gridCol w="9258937">
                  <a:extLst>
                    <a:ext uri="{9D8B030D-6E8A-4147-A177-3AD203B41FA5}">
                      <a16:colId xmlns:a16="http://schemas.microsoft.com/office/drawing/2014/main" val="1619628593"/>
                    </a:ext>
                  </a:extLst>
                </a:gridCol>
              </a:tblGrid>
              <a:tr h="887055">
                <a:tc>
                  <a:txBody>
                    <a:bodyPr/>
                    <a:lstStyle/>
                    <a:p>
                      <a:pPr marL="0" algn="l" defTabSz="914400" rtl="0" eaLnBrk="1" latinLnBrk="0" hangingPunct="1"/>
                      <a:r>
                        <a:rPr lang="es-MX" sz="4400" kern="1200" dirty="0">
                          <a:solidFill>
                            <a:schemeClr val="tx1"/>
                          </a:solidFill>
                          <a:latin typeface="+mj-lt"/>
                          <a:ea typeface="+mj-ea"/>
                          <a:cs typeface="+mj-cs"/>
                        </a:rPr>
                        <a:t>Conclusiones</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
        <p:nvSpPr>
          <p:cNvPr id="7" name="Marcador de número de diapositiva 6">
            <a:extLst>
              <a:ext uri="{FF2B5EF4-FFF2-40B4-BE49-F238E27FC236}">
                <a16:creationId xmlns:a16="http://schemas.microsoft.com/office/drawing/2014/main" id="{07B42BD7-D7FB-4B19-A020-5B0EA947E6F1}"/>
              </a:ext>
            </a:extLst>
          </p:cNvPr>
          <p:cNvSpPr>
            <a:spLocks noGrp="1"/>
          </p:cNvSpPr>
          <p:nvPr>
            <p:ph type="sldNum" sz="quarter" idx="12"/>
          </p:nvPr>
        </p:nvSpPr>
        <p:spPr/>
        <p:txBody>
          <a:bodyPr/>
          <a:lstStyle/>
          <a:p>
            <a:fld id="{B4BE085C-131E-4871-906D-CE6CA8D2EB1A}" type="slidenum">
              <a:rPr lang="es-MX" sz="2000" b="1" smtClean="0"/>
              <a:t>57</a:t>
            </a:fld>
            <a:endParaRPr lang="es-MX" sz="2000" b="1" dirty="0"/>
          </a:p>
        </p:txBody>
      </p:sp>
    </p:spTree>
    <p:extLst>
      <p:ext uri="{BB962C8B-B14F-4D97-AF65-F5344CB8AC3E}">
        <p14:creationId xmlns:p14="http://schemas.microsoft.com/office/powerpoint/2010/main" val="366002166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Marcador de número de diapositiva 6">
            <a:extLst>
              <a:ext uri="{FF2B5EF4-FFF2-40B4-BE49-F238E27FC236}">
                <a16:creationId xmlns:a16="http://schemas.microsoft.com/office/drawing/2014/main" id="{5ED8A386-E89E-481F-BA7F-693A35652BFA}"/>
              </a:ext>
            </a:extLst>
          </p:cNvPr>
          <p:cNvSpPr>
            <a:spLocks noGrp="1"/>
          </p:cNvSpPr>
          <p:nvPr>
            <p:ph type="sldNum" sz="quarter" idx="12"/>
          </p:nvPr>
        </p:nvSpPr>
        <p:spPr/>
        <p:txBody>
          <a:bodyPr/>
          <a:lstStyle/>
          <a:p>
            <a:fld id="{B4BE085C-131E-4871-906D-CE6CA8D2EB1A}" type="slidenum">
              <a:rPr lang="es-MX" sz="2000" b="1" smtClean="0"/>
              <a:t>58</a:t>
            </a:fld>
            <a:endParaRPr lang="es-MX" sz="2000" b="1" dirty="0"/>
          </a:p>
        </p:txBody>
      </p:sp>
      <p:graphicFrame>
        <p:nvGraphicFramePr>
          <p:cNvPr id="5" name="Tabla 4">
            <a:extLst>
              <a:ext uri="{FF2B5EF4-FFF2-40B4-BE49-F238E27FC236}">
                <a16:creationId xmlns:a16="http://schemas.microsoft.com/office/drawing/2014/main" id="{55E20B6A-1643-445F-B0D9-A1EC8493D68F}"/>
              </a:ext>
            </a:extLst>
          </p:cNvPr>
          <p:cNvGraphicFramePr>
            <a:graphicFrameLocks noGrp="1"/>
          </p:cNvGraphicFramePr>
          <p:nvPr>
            <p:extLst>
              <p:ext uri="{D42A27DB-BD31-4B8C-83A1-F6EECF244321}">
                <p14:modId xmlns:p14="http://schemas.microsoft.com/office/powerpoint/2010/main" val="2003833189"/>
              </p:ext>
            </p:extLst>
          </p:nvPr>
        </p:nvGraphicFramePr>
        <p:xfrm>
          <a:off x="1337578" y="606056"/>
          <a:ext cx="9258937" cy="5518297"/>
        </p:xfrm>
        <a:graphic>
          <a:graphicData uri="http://schemas.openxmlformats.org/drawingml/2006/table">
            <a:tbl>
              <a:tblPr/>
              <a:tblGrid>
                <a:gridCol w="9258937">
                  <a:extLst>
                    <a:ext uri="{9D8B030D-6E8A-4147-A177-3AD203B41FA5}">
                      <a16:colId xmlns:a16="http://schemas.microsoft.com/office/drawing/2014/main" val="1619628593"/>
                    </a:ext>
                  </a:extLst>
                </a:gridCol>
              </a:tblGrid>
              <a:tr h="5518297">
                <a:tc>
                  <a:txBody>
                    <a:bodyPr/>
                    <a:lstStyle/>
                    <a:p>
                      <a:pPr marL="0" algn="ctr" defTabSz="914400" rtl="0" eaLnBrk="1" latinLnBrk="0" hangingPunct="1"/>
                      <a:r>
                        <a:rPr lang="es-MX" sz="4800" b="1" kern="1200" dirty="0">
                          <a:solidFill>
                            <a:srgbClr val="000000"/>
                          </a:solidFill>
                          <a:latin typeface="URWPalladioL-Roma"/>
                          <a:ea typeface="+mn-ea"/>
                          <a:cs typeface="+mn-cs"/>
                        </a:rPr>
                        <a:t>Para cualquier información</a:t>
                      </a:r>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r>
                        <a:rPr lang="es-MX" sz="4000" b="0" i="0" kern="1200" dirty="0">
                          <a:solidFill>
                            <a:schemeClr val="tx1"/>
                          </a:solidFill>
                          <a:effectLst/>
                          <a:latin typeface="+mn-lt"/>
                          <a:ea typeface="+mn-ea"/>
                          <a:cs typeface="+mn-cs"/>
                        </a:rPr>
                        <a:t>daniel.magallon6532@academicos.udg.mx</a:t>
                      </a:r>
                      <a:br>
                        <a:rPr lang="es-MX" sz="3600" dirty="0"/>
                      </a:br>
                      <a:r>
                        <a:rPr lang="es-MX" sz="4000" b="0" i="0" kern="1200" dirty="0">
                          <a:solidFill>
                            <a:schemeClr val="tx1"/>
                          </a:solidFill>
                          <a:effectLst/>
                          <a:latin typeface="+mn-lt"/>
                          <a:ea typeface="+mn-ea"/>
                          <a:cs typeface="+mn-cs"/>
                        </a:rPr>
                        <a:t>luis.ontanon@uaslp.mx</a:t>
                      </a:r>
                      <a:r>
                        <a:rPr lang="es-MX" sz="4800" dirty="0"/>
                        <a:t> </a:t>
                      </a:r>
                      <a:endParaRPr lang="es-MX" sz="3600" dirty="0"/>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endParaRPr lang="es-MX" sz="4800" b="1" kern="1200" dirty="0">
                        <a:solidFill>
                          <a:srgbClr val="000000"/>
                        </a:solidFill>
                        <a:latin typeface="URWPalladioL-Roma"/>
                        <a:ea typeface="+mn-ea"/>
                        <a:cs typeface="+mn-cs"/>
                      </a:endParaRPr>
                    </a:p>
                    <a:p>
                      <a:pPr marL="0" algn="ctr" defTabSz="914400" rtl="0" eaLnBrk="1" latinLnBrk="0" hangingPunct="1"/>
                      <a:r>
                        <a:rPr lang="es-MX" sz="4800" b="1" kern="1200" dirty="0">
                          <a:solidFill>
                            <a:srgbClr val="000000"/>
                          </a:solidFill>
                          <a:latin typeface="URWPalladioL-Roma"/>
                          <a:ea typeface="+mn-ea"/>
                          <a:cs typeface="+mn-cs"/>
                        </a:rPr>
                        <a:t>Gracias !!!</a:t>
                      </a:r>
                    </a:p>
                  </a:txBody>
                  <a:tcPr anchor="ctr">
                    <a:lnL>
                      <a:noFill/>
                    </a:lnL>
                    <a:lnR>
                      <a:noFill/>
                    </a:lnR>
                    <a:lnT>
                      <a:noFill/>
                    </a:lnT>
                    <a:lnB>
                      <a:noFill/>
                    </a:lnB>
                  </a:tcPr>
                </a:tc>
                <a:extLst>
                  <a:ext uri="{0D108BD9-81ED-4DB2-BD59-A6C34878D82A}">
                    <a16:rowId xmlns:a16="http://schemas.microsoft.com/office/drawing/2014/main" val="2958747072"/>
                  </a:ext>
                </a:extLst>
              </a:tr>
            </a:tbl>
          </a:graphicData>
        </a:graphic>
      </p:graphicFrame>
    </p:spTree>
    <p:extLst>
      <p:ext uri="{BB962C8B-B14F-4D97-AF65-F5344CB8AC3E}">
        <p14:creationId xmlns:p14="http://schemas.microsoft.com/office/powerpoint/2010/main" val="3071508178"/>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9483</TotalTime>
  <Words>2466</Words>
  <Application>Microsoft Office PowerPoint</Application>
  <PresentationFormat>Panorámica</PresentationFormat>
  <Paragraphs>277</Paragraphs>
  <Slides>58</Slides>
  <Notes>12</Notes>
  <HiddenSlides>0</HiddenSlides>
  <MMClips>2</MMClips>
  <ScaleCrop>false</ScaleCrop>
  <HeadingPairs>
    <vt:vector size="6" baseType="variant">
      <vt:variant>
        <vt:lpstr>Fuentes usadas</vt:lpstr>
      </vt:variant>
      <vt:variant>
        <vt:i4>10</vt:i4>
      </vt:variant>
      <vt:variant>
        <vt:lpstr>Tema</vt:lpstr>
      </vt:variant>
      <vt:variant>
        <vt:i4>1</vt:i4>
      </vt:variant>
      <vt:variant>
        <vt:lpstr>Títulos de diapositiva</vt:lpstr>
      </vt:variant>
      <vt:variant>
        <vt:i4>58</vt:i4>
      </vt:variant>
    </vt:vector>
  </HeadingPairs>
  <TitlesOfParts>
    <vt:vector size="69" baseType="lpstr">
      <vt:lpstr>Arial</vt:lpstr>
      <vt:lpstr>Arial-ItalicMT</vt:lpstr>
      <vt:lpstr>ArialMT</vt:lpstr>
      <vt:lpstr>Calibri</vt:lpstr>
      <vt:lpstr>Calibri Light</vt:lpstr>
      <vt:lpstr>Cambria Math</vt:lpstr>
      <vt:lpstr>Inter</vt:lpstr>
      <vt:lpstr>URWPalladioL-Bold</vt:lpstr>
      <vt:lpstr>URWPalladioL-Ital</vt:lpstr>
      <vt:lpstr>URWPalladioL-Roma</vt:lpstr>
      <vt:lpstr>Tema de Office</vt:lpstr>
      <vt:lpstr>REDES NEURONALES RECURRENTES DE PRIMER ORDEN APLICADOS A SISTEMAS DINÁMICOS.</vt:lpstr>
      <vt:lpstr>Muchos de los sistemas que intentamos comprender, se rigen por dinámicas que no podemos modelar por completo.</vt:lpstr>
      <vt:lpstr>¿Y si pudiéramos identificar un sistema caótico... sin ecuaciones, sin modelos, solo a partir de su comportamiento?</vt:lpstr>
      <vt:lpstr>Índice</vt:lpstr>
      <vt:lpstr>1.1 Sistemas dinámicos</vt:lpstr>
      <vt:lpstr>¿Qué son los SD?</vt:lpstr>
      <vt:lpstr>Pero, ¿en donde los encontramos?</vt:lpstr>
      <vt:lpstr>Sistemas caóticos</vt:lpstr>
      <vt:lpstr>Presentación de PowerPoint</vt:lpstr>
      <vt:lpstr>Características de los sistemas</vt:lpstr>
      <vt:lpstr>Sistemas caóticos</vt:lpstr>
      <vt:lpstr>Sistemas caóticos</vt:lpstr>
      <vt:lpstr>Presentación de PowerPoint</vt:lpstr>
      <vt:lpstr>Rössler System</vt:lpstr>
      <vt:lpstr>Presentación de PowerPoint</vt:lpstr>
      <vt:lpstr>Differential Robot</vt:lpstr>
      <vt:lpstr>2. Introducción a redes neuronales (RN)</vt:lpstr>
      <vt:lpstr>Aprendizaje profundo: redes neuronales artificiales</vt:lpstr>
      <vt:lpstr>Historia de RN (I)</vt:lpstr>
      <vt:lpstr>Historia de RN (II)</vt:lpstr>
      <vt:lpstr>Procesos en redes neuronales</vt:lpstr>
      <vt:lpstr>1.1 Estructura de RN</vt:lpstr>
      <vt:lpstr>Estructura de Redes Neronales</vt:lpstr>
      <vt:lpstr>Algunos algoritmos de aprendizaje profundo</vt:lpstr>
      <vt:lpstr>Algunos algoritmos de aprendizaje profundo</vt:lpstr>
      <vt:lpstr>Algunos algoritmos de aprendizaje profundo</vt:lpstr>
      <vt:lpstr>1.2 Funciones de activación</vt:lpstr>
      <vt:lpstr>Funciones de activación</vt:lpstr>
      <vt:lpstr>3. RN recurrentes para la identificación de sistemas dinámicos</vt:lpstr>
      <vt:lpstr>¿Qué hacen las RNN?</vt:lpstr>
      <vt:lpstr>¿Qué son las RNN en el concepto de sistemas dinámicos?</vt:lpstr>
      <vt:lpstr>Posibles aplicaciones</vt:lpstr>
      <vt:lpstr>Identificación de sistemas</vt:lpstr>
      <vt:lpstr>Aprendizaje recurrente en tiempo real o RTRL</vt:lpstr>
      <vt:lpstr>4. Identificación de sistemas caóticos con RNN</vt:lpstr>
      <vt:lpstr>Presentación de PowerPoint</vt:lpstr>
      <vt:lpstr>Red neuronal recurrente de primer orden basada en ondículas (RWFONN)</vt:lpstr>
      <vt:lpstr>Función de activación de Wavelets de Morlet</vt:lpstr>
      <vt:lpstr>Descripción de Morlet wavelet</vt:lpstr>
      <vt:lpstr>Presentación de PowerPoint</vt:lpstr>
      <vt:lpstr>Presentación de PowerPoint</vt:lpstr>
      <vt:lpstr>Sistema disipativo inestable</vt:lpstr>
      <vt:lpstr>Presentación de PowerPoint</vt:lpstr>
      <vt:lpstr>Presentación de PowerPoint</vt:lpstr>
      <vt:lpstr>Presentación de PowerPoint</vt:lpstr>
      <vt:lpstr>Múltiples sistemas dinámicos caóticos</vt:lpstr>
      <vt:lpstr>Múltiples sistemas dinámicos caóticos</vt:lpstr>
      <vt:lpstr>5. Identificación de la trayectoria del robot</vt:lpstr>
      <vt:lpstr>Presentación de PowerPoint</vt:lpstr>
      <vt:lpstr>Presentación de PowerPoint</vt:lpstr>
      <vt:lpstr>Presentación de PowerPoint</vt:lpstr>
      <vt:lpstr>Presentación de PowerPoint</vt:lpstr>
      <vt:lpstr>Aplicaciones</vt:lpstr>
      <vt:lpstr>Real-Time Observer and Neuronal Identification of an Erbium-Doped Fiber Laser </vt:lpstr>
      <vt:lpstr>Programación en Matlab/Simulink</vt:lpstr>
      <vt:lpstr>Conclusiones</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Identification of chaotic dynamics in jerky based systems by recurrent wavelet first order neural networks with a Morlet wavelet activation function.   </dc:title>
  <dc:creator>Magallón</dc:creator>
  <cp:lastModifiedBy>DANIEL ALEJANDRO MAGALLON GARCIA</cp:lastModifiedBy>
  <cp:revision>102</cp:revision>
  <dcterms:created xsi:type="dcterms:W3CDTF">2023-02-08T02:58:45Z</dcterms:created>
  <dcterms:modified xsi:type="dcterms:W3CDTF">2026-06-04T03:04:55Z</dcterms:modified>
</cp:coreProperties>
</file>